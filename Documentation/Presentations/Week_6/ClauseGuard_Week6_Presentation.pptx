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 (MS)" panose="020B0604020202020204" charset="0"/>
      <p:regular r:id="rId12"/>
    </p:embeddedFont>
    <p:embeddedFont>
      <p:font typeface="Calibri (MS) Bold" panose="020B0604020202020204" charset="0"/>
      <p:regular r:id="rId13"/>
    </p:embeddedFont>
    <p:embeddedFont>
      <p:font typeface="Canva Sans" panose="020B0604020202020204" charset="0"/>
      <p:regular r:id="rId14"/>
    </p:embeddedFont>
    <p:embeddedFont>
      <p:font typeface="Canva Sans Bold" panose="020B0604020202020204" charset="0"/>
      <p:regular r:id="rId15"/>
    </p:embeddedFont>
    <p:embeddedFont>
      <p:font typeface="DM Sans Bold" panose="020B0604020202020204" charset="0"/>
      <p:regular r:id="rId16"/>
    </p:embeddedFont>
    <p:embeddedFont>
      <p:font typeface="TT Hoves" panose="020B0604020202020204" charset="0"/>
      <p:regular r:id="rId17"/>
    </p:embeddedFont>
    <p:embeddedFont>
      <p:font typeface="TT Hoves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487732" y="0"/>
            <a:ext cx="9800268" cy="10287000"/>
          </a:xfrm>
          <a:custGeom>
            <a:avLst/>
            <a:gdLst/>
            <a:ahLst/>
            <a:cxnLst/>
            <a:rect l="l" t="t" r="r" b="b"/>
            <a:pathLst>
              <a:path w="9800268" h="10287000">
                <a:moveTo>
                  <a:pt x="0" y="0"/>
                </a:moveTo>
                <a:lnTo>
                  <a:pt x="9800268" y="0"/>
                </a:lnTo>
                <a:lnTo>
                  <a:pt x="980026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97678" y="207680"/>
            <a:ext cx="7846322" cy="24328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519"/>
              </a:lnSpc>
            </a:pPr>
            <a:r>
              <a:rPr lang="en-US" sz="19490" b="1" spc="-970" dirty="0">
                <a:solidFill>
                  <a:srgbClr val="F2EDE4"/>
                </a:solidFill>
                <a:latin typeface="TT Hoves Bold"/>
                <a:ea typeface="TT Hoves Bold"/>
                <a:cs typeface="TT Hoves Bold"/>
                <a:sym typeface="TT Hoves Bold"/>
              </a:rPr>
              <a:t>Clause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05477" y="2162590"/>
            <a:ext cx="6904931" cy="2499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19"/>
              </a:lnSpc>
            </a:pPr>
            <a:r>
              <a:rPr lang="en-US" sz="19490" b="1" spc="-970" dirty="0">
                <a:solidFill>
                  <a:srgbClr val="5CC8B9"/>
                </a:solidFill>
                <a:latin typeface="TT Hoves Bold"/>
                <a:ea typeface="TT Hoves Bold"/>
                <a:cs typeface="TT Hoves Bold"/>
                <a:sym typeface="TT Hoves Bold"/>
              </a:rPr>
              <a:t>Guard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102900"/>
            <a:ext cx="7520437" cy="1371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0"/>
              </a:lnSpc>
            </a:pPr>
            <a:r>
              <a:rPr lang="en-US" sz="4524" b="1" spc="-90">
                <a:solidFill>
                  <a:srgbClr val="F2EDE4"/>
                </a:solidFill>
                <a:latin typeface="DM Sans Bold"/>
                <a:ea typeface="DM Sans Bold"/>
                <a:cs typeface="DM Sans Bold"/>
                <a:sym typeface="DM Sans Bold"/>
              </a:rPr>
              <a:t>Week 6 Progress Presentation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10008086" y="1705390"/>
            <a:ext cx="5457962" cy="7302567"/>
          </a:xfrm>
          <a:custGeom>
            <a:avLst/>
            <a:gdLst/>
            <a:ahLst/>
            <a:cxnLst/>
            <a:rect l="l" t="t" r="r" b="b"/>
            <a:pathLst>
              <a:path w="5457962" h="7302567">
                <a:moveTo>
                  <a:pt x="0" y="0"/>
                </a:moveTo>
                <a:lnTo>
                  <a:pt x="5457962" y="0"/>
                </a:lnTo>
                <a:lnTo>
                  <a:pt x="5457962" y="7302567"/>
                </a:lnTo>
                <a:lnTo>
                  <a:pt x="0" y="73025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 rot="-453515">
            <a:off x="10620693" y="2487771"/>
            <a:ext cx="1778455" cy="624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0"/>
              </a:lnSpc>
            </a:pPr>
            <a:r>
              <a:rPr lang="en-US" sz="4524" b="1" spc="-90">
                <a:solidFill>
                  <a:srgbClr val="1F3A54"/>
                </a:solidFill>
                <a:latin typeface="DM Sans Bold"/>
                <a:ea typeface="DM Sans Bold"/>
                <a:cs typeface="DM Sans Bold"/>
                <a:sym typeface="DM Sans Bold"/>
              </a:rPr>
              <a:t>LEASE</a:t>
            </a:r>
          </a:p>
        </p:txBody>
      </p:sp>
      <p:sp>
        <p:nvSpPr>
          <p:cNvPr id="9" name="Freeform 9"/>
          <p:cNvSpPr/>
          <p:nvPr/>
        </p:nvSpPr>
        <p:spPr>
          <a:xfrm>
            <a:off x="14470708" y="4066699"/>
            <a:ext cx="3718852" cy="2579949"/>
          </a:xfrm>
          <a:custGeom>
            <a:avLst/>
            <a:gdLst/>
            <a:ahLst/>
            <a:cxnLst/>
            <a:rect l="l" t="t" r="r" b="b"/>
            <a:pathLst>
              <a:path w="3718852" h="2579949">
                <a:moveTo>
                  <a:pt x="0" y="0"/>
                </a:moveTo>
                <a:lnTo>
                  <a:pt x="3718852" y="0"/>
                </a:lnTo>
                <a:lnTo>
                  <a:pt x="371885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455110" y="1924030"/>
            <a:ext cx="1750048" cy="1934962"/>
          </a:xfrm>
          <a:custGeom>
            <a:avLst/>
            <a:gdLst/>
            <a:ahLst/>
            <a:cxnLst/>
            <a:rect l="l" t="t" r="r" b="b"/>
            <a:pathLst>
              <a:path w="1750048" h="1934962">
                <a:moveTo>
                  <a:pt x="0" y="0"/>
                </a:moveTo>
                <a:lnTo>
                  <a:pt x="1750048" y="0"/>
                </a:lnTo>
                <a:lnTo>
                  <a:pt x="1750048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673866" y="2350377"/>
            <a:ext cx="1312536" cy="1300906"/>
          </a:xfrm>
          <a:custGeom>
            <a:avLst/>
            <a:gdLst/>
            <a:ahLst/>
            <a:cxnLst/>
            <a:rect l="l" t="t" r="r" b="b"/>
            <a:pathLst>
              <a:path w="1312536" h="1300906">
                <a:moveTo>
                  <a:pt x="0" y="0"/>
                </a:moveTo>
                <a:lnTo>
                  <a:pt x="1312536" y="0"/>
                </a:lnTo>
                <a:lnTo>
                  <a:pt x="131253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0" y="6886968"/>
            <a:ext cx="10008086" cy="2905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55"/>
              </a:lnSpc>
              <a:spcBef>
                <a:spcPct val="0"/>
              </a:spcBef>
            </a:pPr>
            <a:r>
              <a:rPr lang="en-US" sz="296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A00047237 – Siddharth Varma Raja</a:t>
            </a:r>
          </a:p>
          <a:p>
            <a:pPr algn="ctr">
              <a:lnSpc>
                <a:spcPts val="3855"/>
              </a:lnSpc>
              <a:spcBef>
                <a:spcPct val="0"/>
              </a:spcBef>
            </a:pPr>
            <a:r>
              <a:rPr lang="en-US" sz="296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A00047190 – Prasad Nitin Pansare</a:t>
            </a:r>
          </a:p>
          <a:p>
            <a:pPr algn="ctr">
              <a:lnSpc>
                <a:spcPts val="3855"/>
              </a:lnSpc>
              <a:spcBef>
                <a:spcPct val="0"/>
              </a:spcBef>
            </a:pPr>
            <a:r>
              <a:rPr lang="en-US" sz="296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A00047193 – Shubham Tatyasaheb Patil</a:t>
            </a:r>
          </a:p>
          <a:p>
            <a:pPr algn="ctr">
              <a:lnSpc>
                <a:spcPts val="3855"/>
              </a:lnSpc>
              <a:spcBef>
                <a:spcPct val="0"/>
              </a:spcBef>
            </a:pPr>
            <a:r>
              <a:rPr lang="en-US" sz="296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A00046404 – Kameshwara Karthik Ayyalasomayajula</a:t>
            </a:r>
          </a:p>
          <a:p>
            <a:pPr algn="ctr">
              <a:lnSpc>
                <a:spcPts val="3855"/>
              </a:lnSpc>
              <a:spcBef>
                <a:spcPct val="0"/>
              </a:spcBef>
            </a:pPr>
            <a:r>
              <a:rPr lang="en-US" sz="2968">
                <a:solidFill>
                  <a:srgbClr val="FFFFFF"/>
                </a:solidFill>
                <a:latin typeface="TT Hoves"/>
                <a:ea typeface="TT Hoves"/>
                <a:cs typeface="TT Hoves"/>
                <a:sym typeface="TT Hoves"/>
              </a:rPr>
              <a:t>A00046791 – Jude Fernandes</a:t>
            </a:r>
          </a:p>
          <a:p>
            <a:pPr algn="ctr">
              <a:lnSpc>
                <a:spcPts val="3858"/>
              </a:lnSpc>
              <a:spcBef>
                <a:spcPct val="0"/>
              </a:spcBef>
            </a:pPr>
            <a:endParaRPr lang="en-US" sz="2968">
              <a:solidFill>
                <a:srgbClr val="FFFFFF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5978" y="1536398"/>
            <a:ext cx="3586314" cy="3086100"/>
            <a:chOff x="0" y="0"/>
            <a:chExt cx="944544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44544" cy="812800"/>
            </a:xfrm>
            <a:custGeom>
              <a:avLst/>
              <a:gdLst/>
              <a:ahLst/>
              <a:cxnLst/>
              <a:rect l="l" t="t" r="r" b="b"/>
              <a:pathLst>
                <a:path w="944544" h="812800">
                  <a:moveTo>
                    <a:pt x="110096" y="0"/>
                  </a:moveTo>
                  <a:lnTo>
                    <a:pt x="834448" y="0"/>
                  </a:lnTo>
                  <a:cubicBezTo>
                    <a:pt x="863647" y="0"/>
                    <a:pt x="891650" y="11599"/>
                    <a:pt x="912297" y="32246"/>
                  </a:cubicBezTo>
                  <a:cubicBezTo>
                    <a:pt x="932944" y="52893"/>
                    <a:pt x="944544" y="80897"/>
                    <a:pt x="944544" y="110096"/>
                  </a:cubicBezTo>
                  <a:lnTo>
                    <a:pt x="944544" y="702704"/>
                  </a:lnTo>
                  <a:cubicBezTo>
                    <a:pt x="944544" y="763508"/>
                    <a:pt x="895252" y="812800"/>
                    <a:pt x="834448" y="812800"/>
                  </a:cubicBezTo>
                  <a:lnTo>
                    <a:pt x="110096" y="812800"/>
                  </a:lnTo>
                  <a:cubicBezTo>
                    <a:pt x="49292" y="812800"/>
                    <a:pt x="0" y="763508"/>
                    <a:pt x="0" y="702704"/>
                  </a:cubicBezTo>
                  <a:lnTo>
                    <a:pt x="0" y="110096"/>
                  </a:lnTo>
                  <a:cubicBezTo>
                    <a:pt x="0" y="49292"/>
                    <a:pt x="49292" y="0"/>
                    <a:pt x="11009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944544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Container Inflation and Build Failures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4385143" y="1391060"/>
            <a:ext cx="1653860" cy="1562898"/>
          </a:xfrm>
          <a:custGeom>
            <a:avLst/>
            <a:gdLst/>
            <a:ahLst/>
            <a:cxnLst/>
            <a:rect l="l" t="t" r="r" b="b"/>
            <a:pathLst>
              <a:path w="1653860" h="1562898">
                <a:moveTo>
                  <a:pt x="0" y="0"/>
                </a:moveTo>
                <a:lnTo>
                  <a:pt x="1653860" y="0"/>
                </a:lnTo>
                <a:lnTo>
                  <a:pt x="1653860" y="1562898"/>
                </a:lnTo>
                <a:lnTo>
                  <a:pt x="0" y="15628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 rot="-458789">
            <a:off x="14113613" y="3941111"/>
            <a:ext cx="1607764" cy="576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8"/>
              </a:lnSpc>
            </a:pPr>
            <a:r>
              <a:rPr lang="en-US" sz="3944" b="1" spc="78">
                <a:solidFill>
                  <a:srgbClr val="0F304B"/>
                </a:solidFill>
                <a:latin typeface="TT Hoves Bold"/>
                <a:ea typeface="TT Hoves Bold"/>
                <a:cs typeface="TT Hoves Bold"/>
                <a:sym typeface="TT Hoves Bold"/>
              </a:rPr>
              <a:t>LEASE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102909" y="1536949"/>
            <a:ext cx="3586314" cy="3086100"/>
            <a:chOff x="0" y="0"/>
            <a:chExt cx="944544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44544" cy="812800"/>
            </a:xfrm>
            <a:custGeom>
              <a:avLst/>
              <a:gdLst/>
              <a:ahLst/>
              <a:cxnLst/>
              <a:rect l="l" t="t" r="r" b="b"/>
              <a:pathLst>
                <a:path w="944544" h="812800">
                  <a:moveTo>
                    <a:pt x="110096" y="0"/>
                  </a:moveTo>
                  <a:lnTo>
                    <a:pt x="834448" y="0"/>
                  </a:lnTo>
                  <a:cubicBezTo>
                    <a:pt x="863647" y="0"/>
                    <a:pt x="891650" y="11599"/>
                    <a:pt x="912297" y="32246"/>
                  </a:cubicBezTo>
                  <a:cubicBezTo>
                    <a:pt x="932944" y="52893"/>
                    <a:pt x="944544" y="80897"/>
                    <a:pt x="944544" y="110096"/>
                  </a:cubicBezTo>
                  <a:lnTo>
                    <a:pt x="944544" y="702704"/>
                  </a:lnTo>
                  <a:cubicBezTo>
                    <a:pt x="944544" y="763508"/>
                    <a:pt x="895252" y="812800"/>
                    <a:pt x="834448" y="812800"/>
                  </a:cubicBezTo>
                  <a:lnTo>
                    <a:pt x="110096" y="812800"/>
                  </a:lnTo>
                  <a:cubicBezTo>
                    <a:pt x="49292" y="812800"/>
                    <a:pt x="0" y="763508"/>
                    <a:pt x="0" y="702704"/>
                  </a:cubicBezTo>
                  <a:lnTo>
                    <a:pt x="0" y="110096"/>
                  </a:lnTo>
                  <a:cubicBezTo>
                    <a:pt x="0" y="49292"/>
                    <a:pt x="49292" y="0"/>
                    <a:pt x="11009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944544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Memory Exhaustion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484201" y="1536949"/>
            <a:ext cx="3586314" cy="3086100"/>
            <a:chOff x="0" y="0"/>
            <a:chExt cx="944544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44544" cy="812800"/>
            </a:xfrm>
            <a:custGeom>
              <a:avLst/>
              <a:gdLst/>
              <a:ahLst/>
              <a:cxnLst/>
              <a:rect l="l" t="t" r="r" b="b"/>
              <a:pathLst>
                <a:path w="944544" h="812800">
                  <a:moveTo>
                    <a:pt x="110096" y="0"/>
                  </a:moveTo>
                  <a:lnTo>
                    <a:pt x="834448" y="0"/>
                  </a:lnTo>
                  <a:cubicBezTo>
                    <a:pt x="863647" y="0"/>
                    <a:pt x="891650" y="11599"/>
                    <a:pt x="912297" y="32246"/>
                  </a:cubicBezTo>
                  <a:cubicBezTo>
                    <a:pt x="932944" y="52893"/>
                    <a:pt x="944544" y="80897"/>
                    <a:pt x="944544" y="110096"/>
                  </a:cubicBezTo>
                  <a:lnTo>
                    <a:pt x="944544" y="702704"/>
                  </a:lnTo>
                  <a:cubicBezTo>
                    <a:pt x="944544" y="763508"/>
                    <a:pt x="895252" y="812800"/>
                    <a:pt x="834448" y="812800"/>
                  </a:cubicBezTo>
                  <a:lnTo>
                    <a:pt x="110096" y="812800"/>
                  </a:lnTo>
                  <a:cubicBezTo>
                    <a:pt x="49292" y="812800"/>
                    <a:pt x="0" y="763508"/>
                    <a:pt x="0" y="702704"/>
                  </a:cubicBezTo>
                  <a:lnTo>
                    <a:pt x="0" y="110096"/>
                  </a:lnTo>
                  <a:cubicBezTo>
                    <a:pt x="0" y="49292"/>
                    <a:pt x="49292" y="0"/>
                    <a:pt x="110096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944544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Monolithic Scaling Issues</a:t>
              </a:r>
            </a:p>
          </p:txBody>
        </p:sp>
      </p:grpSp>
      <p:sp>
        <p:nvSpPr>
          <p:cNvPr id="14" name="AutoShape 14"/>
          <p:cNvSpPr/>
          <p:nvPr/>
        </p:nvSpPr>
        <p:spPr>
          <a:xfrm>
            <a:off x="1861994" y="4623049"/>
            <a:ext cx="57141" cy="156424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5" name="Group 15"/>
          <p:cNvGrpSpPr/>
          <p:nvPr/>
        </p:nvGrpSpPr>
        <p:grpSpPr>
          <a:xfrm>
            <a:off x="125978" y="6187293"/>
            <a:ext cx="5086094" cy="3215305"/>
            <a:chOff x="0" y="0"/>
            <a:chExt cx="1198849" cy="75788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98849" cy="757883"/>
            </a:xfrm>
            <a:custGeom>
              <a:avLst/>
              <a:gdLst/>
              <a:ahLst/>
              <a:cxnLst/>
              <a:rect l="l" t="t" r="r" b="b"/>
              <a:pathLst>
                <a:path w="1198849" h="757883">
                  <a:moveTo>
                    <a:pt x="1122649" y="0"/>
                  </a:moveTo>
                  <a:cubicBezTo>
                    <a:pt x="1160749" y="0"/>
                    <a:pt x="1198849" y="25400"/>
                    <a:pt x="1198849" y="63500"/>
                  </a:cubicBezTo>
                  <a:lnTo>
                    <a:pt x="1198849" y="554683"/>
                  </a:lnTo>
                  <a:cubicBezTo>
                    <a:pt x="1198849" y="592783"/>
                    <a:pt x="1160749" y="630883"/>
                    <a:pt x="1122649" y="630883"/>
                  </a:cubicBezTo>
                  <a:lnTo>
                    <a:pt x="266700" y="630883"/>
                  </a:lnTo>
                  <a:lnTo>
                    <a:pt x="127000" y="757883"/>
                  </a:lnTo>
                  <a:lnTo>
                    <a:pt x="127000" y="630883"/>
                  </a:lnTo>
                  <a:lnTo>
                    <a:pt x="76200" y="630883"/>
                  </a:lnTo>
                  <a:cubicBezTo>
                    <a:pt x="38100" y="630883"/>
                    <a:pt x="0" y="592783"/>
                    <a:pt x="0" y="554683"/>
                  </a:cubicBezTo>
                  <a:lnTo>
                    <a:pt x="0" y="63500"/>
                  </a:lnTo>
                  <a:cubicBezTo>
                    <a:pt x="0" y="25400"/>
                    <a:pt x="38100" y="0"/>
                    <a:pt x="76200" y="0"/>
                  </a:cubicBezTo>
                  <a:lnTo>
                    <a:pt x="112264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63500" y="15875"/>
              <a:ext cx="1071849" cy="5515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Heavy OCR libraries inflate Docker image sizes, causing frequent Render deployment failures.</a:t>
              </a:r>
            </a:p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endPara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sp>
        <p:nvSpPr>
          <p:cNvPr id="18" name="AutoShape 18"/>
          <p:cNvSpPr/>
          <p:nvPr/>
        </p:nvSpPr>
        <p:spPr>
          <a:xfrm>
            <a:off x="3712293" y="3079448"/>
            <a:ext cx="3262523" cy="0"/>
          </a:xfrm>
          <a:prstGeom prst="line">
            <a:avLst/>
          </a:prstGeom>
          <a:ln w="38100" cap="flat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8915102" y="4623239"/>
            <a:ext cx="24461" cy="1381666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0" name="Group 20"/>
          <p:cNvGrpSpPr/>
          <p:nvPr/>
        </p:nvGrpSpPr>
        <p:grpSpPr>
          <a:xfrm>
            <a:off x="6230798" y="6187293"/>
            <a:ext cx="5826405" cy="2777490"/>
            <a:chOff x="0" y="0"/>
            <a:chExt cx="1198849" cy="5715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98849" cy="571500"/>
            </a:xfrm>
            <a:custGeom>
              <a:avLst/>
              <a:gdLst/>
              <a:ahLst/>
              <a:cxnLst/>
              <a:rect l="l" t="t" r="r" b="b"/>
              <a:pathLst>
                <a:path w="1198849" h="571500">
                  <a:moveTo>
                    <a:pt x="1122649" y="0"/>
                  </a:moveTo>
                  <a:cubicBezTo>
                    <a:pt x="1160749" y="0"/>
                    <a:pt x="1198849" y="25400"/>
                    <a:pt x="1198849" y="63500"/>
                  </a:cubicBezTo>
                  <a:lnTo>
                    <a:pt x="1198849" y="368300"/>
                  </a:lnTo>
                  <a:cubicBezTo>
                    <a:pt x="1198849" y="406400"/>
                    <a:pt x="1160749" y="444500"/>
                    <a:pt x="1122649" y="444500"/>
                  </a:cubicBezTo>
                  <a:lnTo>
                    <a:pt x="266700" y="444500"/>
                  </a:lnTo>
                  <a:lnTo>
                    <a:pt x="127000" y="571500"/>
                  </a:lnTo>
                  <a:lnTo>
                    <a:pt x="127000" y="444500"/>
                  </a:lnTo>
                  <a:lnTo>
                    <a:pt x="76200" y="444500"/>
                  </a:lnTo>
                  <a:cubicBezTo>
                    <a:pt x="38100" y="444500"/>
                    <a:pt x="0" y="406400"/>
                    <a:pt x="0" y="368300"/>
                  </a:cubicBezTo>
                  <a:lnTo>
                    <a:pt x="0" y="63500"/>
                  </a:lnTo>
                  <a:cubicBezTo>
                    <a:pt x="0" y="25400"/>
                    <a:pt x="38100" y="0"/>
                    <a:pt x="76200" y="0"/>
                  </a:cubicBezTo>
                  <a:lnTo>
                    <a:pt x="1122649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63500" y="15875"/>
              <a:ext cx="1071849" cy="365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Loading massive local NLP models for PII redaction caused RAM spikes and fatal OOM crashes.</a:t>
              </a:r>
            </a:p>
          </p:txBody>
        </p:sp>
      </p:grpSp>
      <p:sp>
        <p:nvSpPr>
          <p:cNvPr id="23" name="AutoShape 23"/>
          <p:cNvSpPr/>
          <p:nvPr/>
        </p:nvSpPr>
        <p:spPr>
          <a:xfrm flipV="1">
            <a:off x="10689223" y="3012152"/>
            <a:ext cx="3766999" cy="67848"/>
          </a:xfrm>
          <a:prstGeom prst="line">
            <a:avLst/>
          </a:prstGeom>
          <a:ln w="38100" cap="flat">
            <a:solidFill>
              <a:srgbClr val="FFFFFF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24" name="AutoShape 24"/>
          <p:cNvSpPr/>
          <p:nvPr/>
        </p:nvSpPr>
        <p:spPr>
          <a:xfrm>
            <a:off x="16296394" y="4623239"/>
            <a:ext cx="57141" cy="146866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5" name="Group 25"/>
          <p:cNvGrpSpPr/>
          <p:nvPr/>
        </p:nvGrpSpPr>
        <p:grpSpPr>
          <a:xfrm>
            <a:off x="13955716" y="6091899"/>
            <a:ext cx="4114800" cy="3358156"/>
            <a:chOff x="0" y="0"/>
            <a:chExt cx="846667" cy="69097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46667" cy="690979"/>
            </a:xfrm>
            <a:custGeom>
              <a:avLst/>
              <a:gdLst/>
              <a:ahLst/>
              <a:cxnLst/>
              <a:rect l="l" t="t" r="r" b="b"/>
              <a:pathLst>
                <a:path w="846667" h="690979">
                  <a:moveTo>
                    <a:pt x="770467" y="0"/>
                  </a:moveTo>
                  <a:cubicBezTo>
                    <a:pt x="808567" y="0"/>
                    <a:pt x="846667" y="25400"/>
                    <a:pt x="846667" y="63500"/>
                  </a:cubicBezTo>
                  <a:lnTo>
                    <a:pt x="846667" y="487779"/>
                  </a:lnTo>
                  <a:cubicBezTo>
                    <a:pt x="846667" y="525879"/>
                    <a:pt x="808567" y="563979"/>
                    <a:pt x="770467" y="563979"/>
                  </a:cubicBezTo>
                  <a:lnTo>
                    <a:pt x="266700" y="563979"/>
                  </a:lnTo>
                  <a:lnTo>
                    <a:pt x="127000" y="690979"/>
                  </a:lnTo>
                  <a:lnTo>
                    <a:pt x="127000" y="563979"/>
                  </a:lnTo>
                  <a:lnTo>
                    <a:pt x="76200" y="563979"/>
                  </a:lnTo>
                  <a:cubicBezTo>
                    <a:pt x="38100" y="563979"/>
                    <a:pt x="0" y="525879"/>
                    <a:pt x="0" y="487779"/>
                  </a:cubicBezTo>
                  <a:lnTo>
                    <a:pt x="0" y="63500"/>
                  </a:lnTo>
                  <a:cubicBezTo>
                    <a:pt x="0" y="25400"/>
                    <a:pt x="38100" y="0"/>
                    <a:pt x="76200" y="0"/>
                  </a:cubicBezTo>
                  <a:lnTo>
                    <a:pt x="770467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63500" y="15875"/>
              <a:ext cx="719667" cy="4846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Tightly coupled API and AI logic meant scaling up required expensive server tiers instead of targeted microservices.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12057202" y="1391060"/>
            <a:ext cx="1279755" cy="1695040"/>
          </a:xfrm>
          <a:custGeom>
            <a:avLst/>
            <a:gdLst/>
            <a:ahLst/>
            <a:cxnLst/>
            <a:rect l="l" t="t" r="r" b="b"/>
            <a:pathLst>
              <a:path w="1279755" h="1695040">
                <a:moveTo>
                  <a:pt x="0" y="0"/>
                </a:moveTo>
                <a:lnTo>
                  <a:pt x="1279756" y="0"/>
                </a:lnTo>
                <a:lnTo>
                  <a:pt x="1279756" y="1695040"/>
                </a:lnTo>
                <a:lnTo>
                  <a:pt x="0" y="1695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2506828" y="377572"/>
            <a:ext cx="13274344" cy="9070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02"/>
              </a:lnSpc>
            </a:pPr>
            <a:r>
              <a:rPr lang="en-US" sz="7558" b="1" spc="-151">
                <a:solidFill>
                  <a:srgbClr val="F2EEE6"/>
                </a:solidFill>
                <a:latin typeface="DM Sans Bold"/>
                <a:ea typeface="DM Sans Bold"/>
                <a:cs typeface="DM Sans Bold"/>
                <a:sym typeface="DM Sans Bold"/>
              </a:rPr>
              <a:t>Issues With Previous Version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71722" y="1512599"/>
            <a:ext cx="3086100" cy="30861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GCP Cloud Offloading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1722" y="6558239"/>
            <a:ext cx="3086100" cy="308610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Lease Checker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173200" y="1512599"/>
            <a:ext cx="3086100" cy="3086100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Secure Credentials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173200" y="6558239"/>
            <a:ext cx="3086100" cy="3086100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66675"/>
              <a:ext cx="812800" cy="8794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39"/>
                </a:lnSpc>
                <a:spcBef>
                  <a:spcPct val="0"/>
                </a:spcBef>
              </a:pPr>
              <a:r>
                <a:rPr lang="en-US" sz="35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CORS Middleware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643161" y="1512599"/>
            <a:ext cx="3783140" cy="3075727"/>
            <a:chOff x="0" y="0"/>
            <a:chExt cx="996383" cy="81006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96383" cy="809773"/>
            </a:xfrm>
            <a:custGeom>
              <a:avLst/>
              <a:gdLst/>
              <a:ahLst/>
              <a:cxnLst/>
              <a:rect l="l" t="t" r="r" b="b"/>
              <a:pathLst>
                <a:path w="996383" h="809773">
                  <a:moveTo>
                    <a:pt x="565724" y="0"/>
                  </a:moveTo>
                  <a:cubicBezTo>
                    <a:pt x="576653" y="0"/>
                    <a:pt x="587648" y="0"/>
                    <a:pt x="598555" y="0"/>
                  </a:cubicBezTo>
                  <a:cubicBezTo>
                    <a:pt x="685516" y="13530"/>
                    <a:pt x="739862" y="58567"/>
                    <a:pt x="764616" y="132262"/>
                  </a:cubicBezTo>
                  <a:cubicBezTo>
                    <a:pt x="909595" y="122434"/>
                    <a:pt x="1011572" y="261781"/>
                    <a:pt x="950764" y="398544"/>
                  </a:cubicBezTo>
                  <a:cubicBezTo>
                    <a:pt x="972125" y="427282"/>
                    <a:pt x="989947" y="459428"/>
                    <a:pt x="996383" y="502574"/>
                  </a:cubicBezTo>
                  <a:cubicBezTo>
                    <a:pt x="996383" y="514933"/>
                    <a:pt x="996383" y="527264"/>
                    <a:pt x="996383" y="539621"/>
                  </a:cubicBezTo>
                  <a:cubicBezTo>
                    <a:pt x="977202" y="649432"/>
                    <a:pt x="894669" y="723634"/>
                    <a:pt x="759172" y="703658"/>
                  </a:cubicBezTo>
                  <a:cubicBezTo>
                    <a:pt x="724309" y="760041"/>
                    <a:pt x="662275" y="814306"/>
                    <a:pt x="565744" y="809472"/>
                  </a:cubicBezTo>
                  <a:cubicBezTo>
                    <a:pt x="515849" y="805771"/>
                    <a:pt x="481138" y="784331"/>
                    <a:pt x="450746" y="758284"/>
                  </a:cubicBezTo>
                  <a:cubicBezTo>
                    <a:pt x="418736" y="779935"/>
                    <a:pt x="384068" y="796928"/>
                    <a:pt x="333978" y="797115"/>
                  </a:cubicBezTo>
                  <a:cubicBezTo>
                    <a:pt x="218094" y="797435"/>
                    <a:pt x="140572" y="714019"/>
                    <a:pt x="138693" y="599601"/>
                  </a:cubicBezTo>
                  <a:cubicBezTo>
                    <a:pt x="64195" y="572834"/>
                    <a:pt x="13738" y="522870"/>
                    <a:pt x="0" y="437375"/>
                  </a:cubicBezTo>
                  <a:cubicBezTo>
                    <a:pt x="0" y="425018"/>
                    <a:pt x="0" y="412633"/>
                    <a:pt x="0" y="400328"/>
                  </a:cubicBezTo>
                  <a:cubicBezTo>
                    <a:pt x="15163" y="315608"/>
                    <a:pt x="62877" y="262393"/>
                    <a:pt x="142322" y="239834"/>
                  </a:cubicBezTo>
                  <a:cubicBezTo>
                    <a:pt x="137548" y="96919"/>
                    <a:pt x="296460" y="7617"/>
                    <a:pt x="427009" y="70579"/>
                  </a:cubicBezTo>
                  <a:cubicBezTo>
                    <a:pt x="458092" y="39444"/>
                    <a:pt x="502068" y="5487"/>
                    <a:pt x="565724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46705" y="87386"/>
              <a:ext cx="902972" cy="60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Replaced local extraction with Document AI and Cloud DLP, eliminating OOM crashes on Render.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>
            <a:off x="3357822" y="3055649"/>
            <a:ext cx="1285338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9" name="Group 19"/>
          <p:cNvGrpSpPr/>
          <p:nvPr/>
        </p:nvGrpSpPr>
        <p:grpSpPr>
          <a:xfrm>
            <a:off x="4643161" y="6568612"/>
            <a:ext cx="3760302" cy="3075727"/>
            <a:chOff x="0" y="0"/>
            <a:chExt cx="990368" cy="81006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90368" cy="809773"/>
            </a:xfrm>
            <a:custGeom>
              <a:avLst/>
              <a:gdLst/>
              <a:ahLst/>
              <a:cxnLst/>
              <a:rect l="l" t="t" r="r" b="b"/>
              <a:pathLst>
                <a:path w="990368" h="809773">
                  <a:moveTo>
                    <a:pt x="562309" y="0"/>
                  </a:moveTo>
                  <a:cubicBezTo>
                    <a:pt x="573172" y="0"/>
                    <a:pt x="584100" y="0"/>
                    <a:pt x="594942" y="0"/>
                  </a:cubicBezTo>
                  <a:cubicBezTo>
                    <a:pt x="681378" y="13530"/>
                    <a:pt x="735396" y="58567"/>
                    <a:pt x="760000" y="132262"/>
                  </a:cubicBezTo>
                  <a:cubicBezTo>
                    <a:pt x="904103" y="122434"/>
                    <a:pt x="1005557" y="261781"/>
                    <a:pt x="945024" y="398544"/>
                  </a:cubicBezTo>
                  <a:cubicBezTo>
                    <a:pt x="966257" y="427282"/>
                    <a:pt x="983970" y="459428"/>
                    <a:pt x="990368" y="502574"/>
                  </a:cubicBezTo>
                  <a:cubicBezTo>
                    <a:pt x="990368" y="514933"/>
                    <a:pt x="990368" y="527264"/>
                    <a:pt x="990368" y="539621"/>
                  </a:cubicBezTo>
                  <a:cubicBezTo>
                    <a:pt x="971303" y="649432"/>
                    <a:pt x="889268" y="723634"/>
                    <a:pt x="754589" y="703658"/>
                  </a:cubicBezTo>
                  <a:cubicBezTo>
                    <a:pt x="719937" y="760041"/>
                    <a:pt x="658277" y="814306"/>
                    <a:pt x="562329" y="809472"/>
                  </a:cubicBezTo>
                  <a:cubicBezTo>
                    <a:pt x="512735" y="805771"/>
                    <a:pt x="478233" y="784331"/>
                    <a:pt x="448025" y="758284"/>
                  </a:cubicBezTo>
                  <a:cubicBezTo>
                    <a:pt x="416208" y="779935"/>
                    <a:pt x="381750" y="796928"/>
                    <a:pt x="331962" y="797115"/>
                  </a:cubicBezTo>
                  <a:cubicBezTo>
                    <a:pt x="216778" y="797435"/>
                    <a:pt x="139724" y="714019"/>
                    <a:pt x="137856" y="599601"/>
                  </a:cubicBezTo>
                  <a:cubicBezTo>
                    <a:pt x="63807" y="572834"/>
                    <a:pt x="13655" y="522870"/>
                    <a:pt x="0" y="437375"/>
                  </a:cubicBezTo>
                  <a:cubicBezTo>
                    <a:pt x="0" y="425018"/>
                    <a:pt x="0" y="412633"/>
                    <a:pt x="0" y="400328"/>
                  </a:cubicBezTo>
                  <a:cubicBezTo>
                    <a:pt x="15072" y="315608"/>
                    <a:pt x="62498" y="262393"/>
                    <a:pt x="141463" y="239834"/>
                  </a:cubicBezTo>
                  <a:cubicBezTo>
                    <a:pt x="136718" y="96919"/>
                    <a:pt x="294670" y="7617"/>
                    <a:pt x="424431" y="70579"/>
                  </a:cubicBezTo>
                  <a:cubicBezTo>
                    <a:pt x="455326" y="39444"/>
                    <a:pt x="499037" y="5487"/>
                    <a:pt x="562309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46423" y="87386"/>
              <a:ext cx="897521" cy="60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DiffEngine rejects invalid license agreement docs early, saving processing costs.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>
            <a:off x="3357822" y="8101289"/>
            <a:ext cx="1285338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3" name="Group 23"/>
          <p:cNvGrpSpPr/>
          <p:nvPr/>
        </p:nvGrpSpPr>
        <p:grpSpPr>
          <a:xfrm>
            <a:off x="9144000" y="1522972"/>
            <a:ext cx="3086100" cy="3075727"/>
            <a:chOff x="0" y="0"/>
            <a:chExt cx="812800" cy="81006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09773"/>
            </a:xfrm>
            <a:custGeom>
              <a:avLst/>
              <a:gdLst/>
              <a:ahLst/>
              <a:cxnLst/>
              <a:rect l="l" t="t" r="r" b="b"/>
              <a:pathLst>
                <a:path w="812800" h="809773">
                  <a:moveTo>
                    <a:pt x="461490" y="0"/>
                  </a:moveTo>
                  <a:cubicBezTo>
                    <a:pt x="470405" y="0"/>
                    <a:pt x="479374" y="0"/>
                    <a:pt x="488272" y="0"/>
                  </a:cubicBezTo>
                  <a:cubicBezTo>
                    <a:pt x="559210" y="13530"/>
                    <a:pt x="603543" y="58567"/>
                    <a:pt x="623736" y="132262"/>
                  </a:cubicBezTo>
                  <a:cubicBezTo>
                    <a:pt x="742003" y="122434"/>
                    <a:pt x="827989" y="261781"/>
                    <a:pt x="775586" y="398544"/>
                  </a:cubicBezTo>
                  <a:cubicBezTo>
                    <a:pt x="793012" y="427282"/>
                    <a:pt x="807550" y="459428"/>
                    <a:pt x="812800" y="502574"/>
                  </a:cubicBezTo>
                  <a:cubicBezTo>
                    <a:pt x="812800" y="514933"/>
                    <a:pt x="812800" y="527264"/>
                    <a:pt x="812800" y="539621"/>
                  </a:cubicBezTo>
                  <a:cubicBezTo>
                    <a:pt x="797154" y="649432"/>
                    <a:pt x="729827" y="723634"/>
                    <a:pt x="619295" y="703658"/>
                  </a:cubicBezTo>
                  <a:cubicBezTo>
                    <a:pt x="590856" y="760041"/>
                    <a:pt x="540252" y="814306"/>
                    <a:pt x="461507" y="809472"/>
                  </a:cubicBezTo>
                  <a:cubicBezTo>
                    <a:pt x="420804" y="805771"/>
                    <a:pt x="392488" y="784331"/>
                    <a:pt x="367697" y="758284"/>
                  </a:cubicBezTo>
                  <a:cubicBezTo>
                    <a:pt x="341584" y="779935"/>
                    <a:pt x="313304" y="796928"/>
                    <a:pt x="272443" y="797115"/>
                  </a:cubicBezTo>
                  <a:cubicBezTo>
                    <a:pt x="177910" y="797435"/>
                    <a:pt x="114672" y="714019"/>
                    <a:pt x="113139" y="599601"/>
                  </a:cubicBezTo>
                  <a:cubicBezTo>
                    <a:pt x="52367" y="572834"/>
                    <a:pt x="11206" y="522870"/>
                    <a:pt x="0" y="437375"/>
                  </a:cubicBezTo>
                  <a:cubicBezTo>
                    <a:pt x="0" y="425018"/>
                    <a:pt x="0" y="412633"/>
                    <a:pt x="0" y="400328"/>
                  </a:cubicBezTo>
                  <a:cubicBezTo>
                    <a:pt x="12369" y="315608"/>
                    <a:pt x="51292" y="262393"/>
                    <a:pt x="116099" y="239834"/>
                  </a:cubicBezTo>
                  <a:cubicBezTo>
                    <a:pt x="112205" y="96919"/>
                    <a:pt x="241837" y="7617"/>
                    <a:pt x="348333" y="70579"/>
                  </a:cubicBezTo>
                  <a:cubicBezTo>
                    <a:pt x="373689" y="39444"/>
                    <a:pt x="409562" y="5487"/>
                    <a:pt x="461490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38100" y="87386"/>
              <a:ext cx="736600" cy="60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Migrated GCP service accounts to Render's secure secret management.</a:t>
              </a:r>
            </a:p>
          </p:txBody>
        </p:sp>
      </p:grpSp>
      <p:sp>
        <p:nvSpPr>
          <p:cNvPr id="26" name="AutoShape 26"/>
          <p:cNvSpPr/>
          <p:nvPr/>
        </p:nvSpPr>
        <p:spPr>
          <a:xfrm flipH="1">
            <a:off x="12103416" y="3055649"/>
            <a:ext cx="2069784" cy="5186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27" name="Group 27"/>
          <p:cNvGrpSpPr/>
          <p:nvPr/>
        </p:nvGrpSpPr>
        <p:grpSpPr>
          <a:xfrm>
            <a:off x="9144000" y="6568612"/>
            <a:ext cx="3521069" cy="3075727"/>
            <a:chOff x="0" y="0"/>
            <a:chExt cx="927360" cy="81006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927360" cy="809773"/>
            </a:xfrm>
            <a:custGeom>
              <a:avLst/>
              <a:gdLst/>
              <a:ahLst/>
              <a:cxnLst/>
              <a:rect l="l" t="t" r="r" b="b"/>
              <a:pathLst>
                <a:path w="927360" h="809773">
                  <a:moveTo>
                    <a:pt x="526535" y="0"/>
                  </a:moveTo>
                  <a:cubicBezTo>
                    <a:pt x="536707" y="0"/>
                    <a:pt x="546939" y="0"/>
                    <a:pt x="557091" y="0"/>
                  </a:cubicBezTo>
                  <a:cubicBezTo>
                    <a:pt x="638028" y="13530"/>
                    <a:pt x="688610" y="58567"/>
                    <a:pt x="711649" y="132262"/>
                  </a:cubicBezTo>
                  <a:cubicBezTo>
                    <a:pt x="846584" y="122434"/>
                    <a:pt x="942549" y="261781"/>
                    <a:pt x="884901" y="398544"/>
                  </a:cubicBezTo>
                  <a:cubicBezTo>
                    <a:pt x="904783" y="427282"/>
                    <a:pt x="921370" y="459428"/>
                    <a:pt x="927360" y="502574"/>
                  </a:cubicBezTo>
                  <a:cubicBezTo>
                    <a:pt x="927360" y="514933"/>
                    <a:pt x="927360" y="527264"/>
                    <a:pt x="927360" y="539621"/>
                  </a:cubicBezTo>
                  <a:cubicBezTo>
                    <a:pt x="909508" y="649432"/>
                    <a:pt x="832692" y="723634"/>
                    <a:pt x="706581" y="703658"/>
                  </a:cubicBezTo>
                  <a:cubicBezTo>
                    <a:pt x="674134" y="760041"/>
                    <a:pt x="616397" y="814306"/>
                    <a:pt x="526553" y="809472"/>
                  </a:cubicBezTo>
                  <a:cubicBezTo>
                    <a:pt x="480114" y="805771"/>
                    <a:pt x="447808" y="784331"/>
                    <a:pt x="419522" y="758284"/>
                  </a:cubicBezTo>
                  <a:cubicBezTo>
                    <a:pt x="389729" y="779935"/>
                    <a:pt x="357462" y="796928"/>
                    <a:pt x="310842" y="797115"/>
                  </a:cubicBezTo>
                  <a:cubicBezTo>
                    <a:pt x="202986" y="797435"/>
                    <a:pt x="130834" y="714019"/>
                    <a:pt x="129085" y="599601"/>
                  </a:cubicBezTo>
                  <a:cubicBezTo>
                    <a:pt x="59748" y="572834"/>
                    <a:pt x="12786" y="522870"/>
                    <a:pt x="0" y="437375"/>
                  </a:cubicBezTo>
                  <a:cubicBezTo>
                    <a:pt x="0" y="425018"/>
                    <a:pt x="0" y="412633"/>
                    <a:pt x="0" y="400328"/>
                  </a:cubicBezTo>
                  <a:cubicBezTo>
                    <a:pt x="14113" y="315608"/>
                    <a:pt x="58522" y="262393"/>
                    <a:pt x="132463" y="239834"/>
                  </a:cubicBezTo>
                  <a:cubicBezTo>
                    <a:pt x="128020" y="96919"/>
                    <a:pt x="275923" y="7617"/>
                    <a:pt x="397429" y="70579"/>
                  </a:cubicBezTo>
                  <a:cubicBezTo>
                    <a:pt x="426358" y="39444"/>
                    <a:pt x="467288" y="5487"/>
                    <a:pt x="526535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43470" y="87386"/>
              <a:ext cx="840420" cy="60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r>
                <a:rPr lang="en-US" sz="22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Configured the FastAPI middleware to securely accept traffic from the new custom domain.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3616226" y="95250"/>
            <a:ext cx="11055548" cy="660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23"/>
              </a:lnSpc>
              <a:spcBef>
                <a:spcPct val="0"/>
              </a:spcBef>
            </a:pPr>
            <a:r>
              <a:rPr lang="en-US" sz="5023" b="1" spc="250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UPDATES MADE FOR THE ISSUES</a:t>
            </a:r>
          </a:p>
        </p:txBody>
      </p:sp>
      <p:sp>
        <p:nvSpPr>
          <p:cNvPr id="31" name="AutoShape 31"/>
          <p:cNvSpPr/>
          <p:nvPr/>
        </p:nvSpPr>
        <p:spPr>
          <a:xfrm flipH="1">
            <a:off x="12603782" y="8101289"/>
            <a:ext cx="1569418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940321" y="1313088"/>
            <a:ext cx="10407358" cy="3394839"/>
          </a:xfrm>
          <a:custGeom>
            <a:avLst/>
            <a:gdLst/>
            <a:ahLst/>
            <a:cxnLst/>
            <a:rect l="l" t="t" r="r" b="b"/>
            <a:pathLst>
              <a:path w="10407358" h="3394839">
                <a:moveTo>
                  <a:pt x="0" y="0"/>
                </a:moveTo>
                <a:lnTo>
                  <a:pt x="10407358" y="0"/>
                </a:lnTo>
                <a:lnTo>
                  <a:pt x="10407358" y="3394839"/>
                </a:lnTo>
                <a:lnTo>
                  <a:pt x="0" y="33948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4641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456724" y="7658946"/>
            <a:ext cx="13634750" cy="2539472"/>
          </a:xfrm>
          <a:custGeom>
            <a:avLst/>
            <a:gdLst/>
            <a:ahLst/>
            <a:cxnLst/>
            <a:rect l="l" t="t" r="r" b="b"/>
            <a:pathLst>
              <a:path w="13634750" h="2539472">
                <a:moveTo>
                  <a:pt x="0" y="0"/>
                </a:moveTo>
                <a:lnTo>
                  <a:pt x="13634750" y="0"/>
                </a:lnTo>
                <a:lnTo>
                  <a:pt x="13634750" y="2539473"/>
                </a:lnTo>
                <a:lnTo>
                  <a:pt x="0" y="25394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731984" y="4879103"/>
            <a:ext cx="13084230" cy="2608668"/>
          </a:xfrm>
          <a:custGeom>
            <a:avLst/>
            <a:gdLst/>
            <a:ahLst/>
            <a:cxnLst/>
            <a:rect l="l" t="t" r="r" b="b"/>
            <a:pathLst>
              <a:path w="13084230" h="2608668">
                <a:moveTo>
                  <a:pt x="0" y="0"/>
                </a:moveTo>
                <a:lnTo>
                  <a:pt x="13084230" y="0"/>
                </a:lnTo>
                <a:lnTo>
                  <a:pt x="13084230" y="2608668"/>
                </a:lnTo>
                <a:lnTo>
                  <a:pt x="0" y="26086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216704" y="649641"/>
            <a:ext cx="15471800" cy="379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923" b="1" spc="145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SUCCESS IN REDUCING TIME (COMPARISON FROM 23-10-2026 VS 30-10-2026)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02746" y="1137610"/>
            <a:ext cx="16882507" cy="8566751"/>
          </a:xfrm>
          <a:custGeom>
            <a:avLst/>
            <a:gdLst/>
            <a:ahLst/>
            <a:cxnLst/>
            <a:rect l="l" t="t" r="r" b="b"/>
            <a:pathLst>
              <a:path w="16882507" h="8566751">
                <a:moveTo>
                  <a:pt x="0" y="0"/>
                </a:moveTo>
                <a:lnTo>
                  <a:pt x="16882508" y="0"/>
                </a:lnTo>
                <a:lnTo>
                  <a:pt x="16882508" y="8566751"/>
                </a:lnTo>
                <a:lnTo>
                  <a:pt x="0" y="85667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33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329068" y="296494"/>
            <a:ext cx="7629863" cy="8411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60"/>
              </a:lnSpc>
            </a:pPr>
            <a:r>
              <a:rPr lang="en-US" sz="6360" b="1" spc="-316">
                <a:solidFill>
                  <a:srgbClr val="F6F2EC"/>
                </a:solidFill>
                <a:latin typeface="TT Hoves Bold"/>
                <a:ea typeface="TT Hoves Bold"/>
                <a:cs typeface="TT Hoves Bold"/>
                <a:sym typeface="TT Hoves Bold"/>
              </a:rPr>
              <a:t>Current Architecture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5F7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715843"/>
            <a:chOff x="0" y="0"/>
            <a:chExt cx="24402453" cy="22877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2287778"/>
            </a:xfrm>
            <a:custGeom>
              <a:avLst/>
              <a:gdLst/>
              <a:ahLst/>
              <a:cxnLst/>
              <a:rect l="l" t="t" r="r" b="b"/>
              <a:pathLst>
                <a:path w="24402414" h="2287778">
                  <a:moveTo>
                    <a:pt x="0" y="0"/>
                  </a:moveTo>
                  <a:lnTo>
                    <a:pt x="24402414" y="0"/>
                  </a:lnTo>
                  <a:lnTo>
                    <a:pt x="24402414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0B2A4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1715843"/>
            <a:ext cx="18301840" cy="82363"/>
            <a:chOff x="0" y="0"/>
            <a:chExt cx="24402453" cy="1098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402414" cy="109855"/>
            </a:xfrm>
            <a:custGeom>
              <a:avLst/>
              <a:gdLst/>
              <a:ahLst/>
              <a:cxnLst/>
              <a:rect l="l" t="t" r="r" b="b"/>
              <a:pathLst>
                <a:path w="24402414" h="109855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1F8A9E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869328" y="234172"/>
            <a:ext cx="13635285" cy="78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Rule Engine Updates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9328" y="1027243"/>
            <a:ext cx="15007952" cy="551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BFD3E3"/>
                </a:solidFill>
                <a:latin typeface="Calibri (MS)"/>
                <a:ea typeface="Calibri (MS)"/>
                <a:cs typeface="Calibri (MS)"/>
                <a:sym typeface="Calibri (MS)"/>
              </a:rPr>
              <a:t>Rule engine: fewer false alarms, clearer reasons, one new rule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9328" y="9666675"/>
            <a:ext cx="8144599" cy="39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F6B78"/>
                </a:solidFill>
                <a:latin typeface="Calibri (MS)"/>
                <a:ea typeface="Calibri (MS)"/>
                <a:cs typeface="Calibri (MS)"/>
                <a:sym typeface="Calibri (MS)"/>
              </a:rPr>
              <a:t>ClauseGuard | Group 3 | TU Dublin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517788" y="9666675"/>
            <a:ext cx="1006697" cy="39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F6B78"/>
                </a:solidFill>
                <a:latin typeface="Calibri (MS)"/>
                <a:ea typeface="Calibri (MS)"/>
                <a:cs typeface="Calibri (MS)"/>
                <a:sym typeface="Calibri (MS)"/>
              </a:rPr>
              <a:t>1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5854362" y="686333"/>
            <a:ext cx="274539" cy="274539"/>
            <a:chOff x="0" y="0"/>
            <a:chExt cx="366052" cy="3660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66014" cy="366014"/>
            </a:xfrm>
            <a:custGeom>
              <a:avLst/>
              <a:gdLst/>
              <a:ahLst/>
              <a:cxnLst/>
              <a:rect l="l" t="t" r="r" b="b"/>
              <a:pathLst>
                <a:path w="366014" h="366014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cubicBezTo>
                    <a:pt x="284099" y="0"/>
                    <a:pt x="366014" y="81915"/>
                    <a:pt x="366014" y="183007"/>
                  </a:cubicBezTo>
                  <a:cubicBezTo>
                    <a:pt x="366014" y="284099"/>
                    <a:pt x="284099" y="366014"/>
                    <a:pt x="183007" y="366014"/>
                  </a:cubicBezTo>
                  <a:cubicBezTo>
                    <a:pt x="81915" y="366014"/>
                    <a:pt x="0" y="284099"/>
                    <a:pt x="0" y="183007"/>
                  </a:cubicBezTo>
                  <a:close/>
                </a:path>
              </a:pathLst>
            </a:custGeom>
            <a:solidFill>
              <a:srgbClr val="D64545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238715" y="686333"/>
            <a:ext cx="274539" cy="274539"/>
            <a:chOff x="0" y="0"/>
            <a:chExt cx="366052" cy="3660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6014" cy="366014"/>
            </a:xfrm>
            <a:custGeom>
              <a:avLst/>
              <a:gdLst/>
              <a:ahLst/>
              <a:cxnLst/>
              <a:rect l="l" t="t" r="r" b="b"/>
              <a:pathLst>
                <a:path w="366014" h="366014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cubicBezTo>
                    <a:pt x="284099" y="0"/>
                    <a:pt x="366014" y="81915"/>
                    <a:pt x="366014" y="183007"/>
                  </a:cubicBezTo>
                  <a:cubicBezTo>
                    <a:pt x="366014" y="284099"/>
                    <a:pt x="284099" y="366014"/>
                    <a:pt x="183007" y="366014"/>
                  </a:cubicBezTo>
                  <a:cubicBezTo>
                    <a:pt x="81915" y="366014"/>
                    <a:pt x="0" y="284099"/>
                    <a:pt x="0" y="183007"/>
                  </a:cubicBezTo>
                  <a:close/>
                </a:path>
              </a:pathLst>
            </a:custGeom>
            <a:solidFill>
              <a:srgbClr val="E8A317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6627554" y="713794"/>
            <a:ext cx="274539" cy="274539"/>
            <a:chOff x="0" y="0"/>
            <a:chExt cx="366052" cy="36605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6014" cy="366014"/>
            </a:xfrm>
            <a:custGeom>
              <a:avLst/>
              <a:gdLst/>
              <a:ahLst/>
              <a:cxnLst/>
              <a:rect l="l" t="t" r="r" b="b"/>
              <a:pathLst>
                <a:path w="366014" h="366014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cubicBezTo>
                    <a:pt x="284099" y="0"/>
                    <a:pt x="366014" y="81915"/>
                    <a:pt x="366014" y="183007"/>
                  </a:cubicBezTo>
                  <a:cubicBezTo>
                    <a:pt x="366014" y="284099"/>
                    <a:pt x="284099" y="366014"/>
                    <a:pt x="183007" y="366014"/>
                  </a:cubicBezTo>
                  <a:cubicBezTo>
                    <a:pt x="81915" y="366014"/>
                    <a:pt x="0" y="284099"/>
                    <a:pt x="0" y="183007"/>
                  </a:cubicBezTo>
                  <a:close/>
                </a:path>
              </a:pathLst>
            </a:custGeom>
            <a:solidFill>
              <a:srgbClr val="3AA55D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676808" y="2186740"/>
            <a:ext cx="5441118" cy="6264726"/>
            <a:chOff x="0" y="0"/>
            <a:chExt cx="7254824" cy="835296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254875" cy="8353044"/>
            </a:xfrm>
            <a:custGeom>
              <a:avLst/>
              <a:gdLst/>
              <a:ahLst/>
              <a:cxnLst/>
              <a:rect l="l" t="t" r="r" b="b"/>
              <a:pathLst>
                <a:path w="7254875" h="8353044">
                  <a:moveTo>
                    <a:pt x="0" y="217678"/>
                  </a:moveTo>
                  <a:cubicBezTo>
                    <a:pt x="0" y="97409"/>
                    <a:pt x="97409" y="0"/>
                    <a:pt x="217678" y="0"/>
                  </a:cubicBezTo>
                  <a:lnTo>
                    <a:pt x="7037197" y="0"/>
                  </a:lnTo>
                  <a:cubicBezTo>
                    <a:pt x="7157339" y="0"/>
                    <a:pt x="7254875" y="97409"/>
                    <a:pt x="7254875" y="217678"/>
                  </a:cubicBezTo>
                  <a:lnTo>
                    <a:pt x="7254875" y="8135366"/>
                  </a:lnTo>
                  <a:cubicBezTo>
                    <a:pt x="7254875" y="8255508"/>
                    <a:pt x="7157465" y="8353044"/>
                    <a:pt x="7037197" y="8353044"/>
                  </a:cubicBezTo>
                  <a:lnTo>
                    <a:pt x="217678" y="8353044"/>
                  </a:lnTo>
                  <a:cubicBezTo>
                    <a:pt x="97409" y="8352917"/>
                    <a:pt x="0" y="8255508"/>
                    <a:pt x="0" y="813536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DE3EA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686333" y="2196274"/>
            <a:ext cx="5422059" cy="109814"/>
            <a:chOff x="0" y="0"/>
            <a:chExt cx="7229412" cy="14641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229348" cy="146431"/>
            </a:xfrm>
            <a:custGeom>
              <a:avLst/>
              <a:gdLst/>
              <a:ahLst/>
              <a:cxnLst/>
              <a:rect l="l" t="t" r="r" b="b"/>
              <a:pathLst>
                <a:path w="7229348" h="146431">
                  <a:moveTo>
                    <a:pt x="0" y="0"/>
                  </a:moveTo>
                  <a:lnTo>
                    <a:pt x="7229348" y="0"/>
                  </a:lnTo>
                  <a:lnTo>
                    <a:pt x="722934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D64545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006592" y="2362933"/>
            <a:ext cx="4781550" cy="69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0B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  False alarm fixed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51338" y="3284877"/>
            <a:ext cx="4892050" cy="1529001"/>
            <a:chOff x="0" y="0"/>
            <a:chExt cx="6522733" cy="203866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522720" cy="2038604"/>
            </a:xfrm>
            <a:custGeom>
              <a:avLst/>
              <a:gdLst/>
              <a:ahLst/>
              <a:cxnLst/>
              <a:rect l="l" t="t" r="r" b="b"/>
              <a:pathLst>
                <a:path w="6522720" h="2038604">
                  <a:moveTo>
                    <a:pt x="0" y="163068"/>
                  </a:moveTo>
                  <a:cubicBezTo>
                    <a:pt x="0" y="73025"/>
                    <a:pt x="73025" y="0"/>
                    <a:pt x="163068" y="0"/>
                  </a:cubicBezTo>
                  <a:lnTo>
                    <a:pt x="6359652" y="0"/>
                  </a:lnTo>
                  <a:cubicBezTo>
                    <a:pt x="6449695" y="0"/>
                    <a:pt x="6522720" y="73025"/>
                    <a:pt x="6522720" y="163068"/>
                  </a:cubicBezTo>
                  <a:lnTo>
                    <a:pt x="6522720" y="1875536"/>
                  </a:lnTo>
                  <a:cubicBezTo>
                    <a:pt x="6522720" y="1965579"/>
                    <a:pt x="6449695" y="2038604"/>
                    <a:pt x="6359652" y="2038604"/>
                  </a:cubicBezTo>
                  <a:lnTo>
                    <a:pt x="163068" y="2038604"/>
                  </a:lnTo>
                  <a:cubicBezTo>
                    <a:pt x="73025" y="2038731"/>
                    <a:pt x="0" y="1965706"/>
                    <a:pt x="0" y="1875536"/>
                  </a:cubicBezTo>
                  <a:close/>
                </a:path>
              </a:pathLst>
            </a:custGeom>
            <a:solidFill>
              <a:srgbClr val="F5F7FA"/>
            </a:solidFill>
            <a:ln w="19065" cap="sq">
              <a:solidFill>
                <a:srgbClr val="DDE3EA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1098137" y="3363049"/>
            <a:ext cx="4598451" cy="1372676"/>
            <a:chOff x="0" y="0"/>
            <a:chExt cx="6131268" cy="183023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131270" cy="1830230"/>
            </a:xfrm>
            <a:custGeom>
              <a:avLst/>
              <a:gdLst/>
              <a:ahLst/>
              <a:cxnLst/>
              <a:rect l="l" t="t" r="r" b="b"/>
              <a:pathLst>
                <a:path w="6131270" h="1830230">
                  <a:moveTo>
                    <a:pt x="0" y="0"/>
                  </a:moveTo>
                  <a:lnTo>
                    <a:pt x="6131270" y="0"/>
                  </a:lnTo>
                  <a:lnTo>
                    <a:pt x="6131270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274" b="-15274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6131268" cy="18778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222B3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"...the Landlord may re-enter the property if rent is in arrears..."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006592" y="4940475"/>
            <a:ext cx="2104834" cy="38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5F6B7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BEFORE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751936" y="4940475"/>
            <a:ext cx="2104834" cy="38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b="1">
                <a:solidFill>
                  <a:srgbClr val="5F6B7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AFTER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60872" y="5422059"/>
            <a:ext cx="2196274" cy="1235402"/>
            <a:chOff x="0" y="0"/>
            <a:chExt cx="2928366" cy="164720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928366" cy="1647190"/>
            </a:xfrm>
            <a:custGeom>
              <a:avLst/>
              <a:gdLst/>
              <a:ahLst/>
              <a:cxnLst/>
              <a:rect l="l" t="t" r="r" b="b"/>
              <a:pathLst>
                <a:path w="2928366" h="1647190">
                  <a:moveTo>
                    <a:pt x="0" y="494157"/>
                  </a:moveTo>
                  <a:cubicBezTo>
                    <a:pt x="0" y="221234"/>
                    <a:pt x="221234" y="0"/>
                    <a:pt x="494157" y="0"/>
                  </a:cubicBezTo>
                  <a:lnTo>
                    <a:pt x="2434209" y="0"/>
                  </a:lnTo>
                  <a:cubicBezTo>
                    <a:pt x="2707132" y="0"/>
                    <a:pt x="2928366" y="221234"/>
                    <a:pt x="2928366" y="494157"/>
                  </a:cubicBezTo>
                  <a:lnTo>
                    <a:pt x="2928366" y="1153033"/>
                  </a:lnTo>
                  <a:cubicBezTo>
                    <a:pt x="2928366" y="1425956"/>
                    <a:pt x="2707132" y="1647190"/>
                    <a:pt x="2434209" y="1647190"/>
                  </a:cubicBezTo>
                  <a:lnTo>
                    <a:pt x="494157" y="1647190"/>
                  </a:lnTo>
                  <a:cubicBezTo>
                    <a:pt x="221234" y="1647190"/>
                    <a:pt x="0" y="1425956"/>
                    <a:pt x="0" y="1153033"/>
                  </a:cubicBezTo>
                  <a:close/>
                </a:path>
              </a:pathLst>
            </a:custGeom>
            <a:solidFill>
              <a:srgbClr val="D64545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928366" cy="168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r>
                <a:rPr lang="en-US" sz="180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</a:t>
              </a:r>
            </a:p>
            <a:p>
              <a:pPr algn="ctr">
                <a:lnSpc>
                  <a:spcPts val="2161"/>
                </a:lnSpc>
              </a:pPr>
              <a:r>
                <a:rPr lang="en-US" sz="180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Entry without notice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266961" y="5765225"/>
            <a:ext cx="411804" cy="549069"/>
            <a:chOff x="0" y="0"/>
            <a:chExt cx="549072" cy="73209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549021" cy="732155"/>
            </a:xfrm>
            <a:custGeom>
              <a:avLst/>
              <a:gdLst/>
              <a:ahLst/>
              <a:cxnLst/>
              <a:rect l="l" t="t" r="r" b="b"/>
              <a:pathLst>
                <a:path w="549021" h="732155">
                  <a:moveTo>
                    <a:pt x="0" y="183007"/>
                  </a:moveTo>
                  <a:lnTo>
                    <a:pt x="274574" y="183007"/>
                  </a:lnTo>
                  <a:lnTo>
                    <a:pt x="274574" y="0"/>
                  </a:lnTo>
                  <a:lnTo>
                    <a:pt x="549021" y="366014"/>
                  </a:lnTo>
                  <a:lnTo>
                    <a:pt x="274574" y="732155"/>
                  </a:lnTo>
                  <a:lnTo>
                    <a:pt x="274574" y="549021"/>
                  </a:lnTo>
                  <a:lnTo>
                    <a:pt x="0" y="549021"/>
                  </a:lnTo>
                  <a:close/>
                </a:path>
              </a:pathLst>
            </a:custGeom>
            <a:solidFill>
              <a:srgbClr val="5F6B78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3774853" y="5422059"/>
            <a:ext cx="2333539" cy="1235402"/>
            <a:chOff x="0" y="0"/>
            <a:chExt cx="3111386" cy="164720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111373" cy="1647190"/>
            </a:xfrm>
            <a:custGeom>
              <a:avLst/>
              <a:gdLst/>
              <a:ahLst/>
              <a:cxnLst/>
              <a:rect l="l" t="t" r="r" b="b"/>
              <a:pathLst>
                <a:path w="3111373" h="1647190">
                  <a:moveTo>
                    <a:pt x="0" y="494157"/>
                  </a:moveTo>
                  <a:cubicBezTo>
                    <a:pt x="0" y="221234"/>
                    <a:pt x="221234" y="0"/>
                    <a:pt x="494157" y="0"/>
                  </a:cubicBezTo>
                  <a:lnTo>
                    <a:pt x="2617216" y="0"/>
                  </a:lnTo>
                  <a:cubicBezTo>
                    <a:pt x="2890139" y="0"/>
                    <a:pt x="3111373" y="221234"/>
                    <a:pt x="3111373" y="494157"/>
                  </a:cubicBezTo>
                  <a:lnTo>
                    <a:pt x="3111373" y="1153033"/>
                  </a:lnTo>
                  <a:cubicBezTo>
                    <a:pt x="3111373" y="1425956"/>
                    <a:pt x="2890139" y="1647190"/>
                    <a:pt x="2617216" y="1647190"/>
                  </a:cubicBezTo>
                  <a:lnTo>
                    <a:pt x="494157" y="1647190"/>
                  </a:lnTo>
                  <a:cubicBezTo>
                    <a:pt x="221234" y="1647190"/>
                    <a:pt x="0" y="1425956"/>
                    <a:pt x="0" y="1153033"/>
                  </a:cubicBezTo>
                  <a:close/>
                </a:path>
              </a:pathLst>
            </a:custGeom>
            <a:solidFill>
              <a:srgbClr val="3AA55D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3111386" cy="16948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 flagged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006592" y="6911807"/>
            <a:ext cx="4781550" cy="1228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F6B78"/>
                </a:solidFill>
                <a:latin typeface="Calibri (MS)"/>
                <a:ea typeface="Calibri (MS)"/>
                <a:cs typeface="Calibri (MS)"/>
                <a:sym typeface="Calibri (MS)"/>
              </a:rPr>
              <a:t>Forfeiture and re-entry for unpaid rent is no longer mistaken for entering without notice.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6442024" y="2186740"/>
            <a:ext cx="5441118" cy="6264726"/>
            <a:chOff x="0" y="0"/>
            <a:chExt cx="7254824" cy="835296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254875" cy="8353044"/>
            </a:xfrm>
            <a:custGeom>
              <a:avLst/>
              <a:gdLst/>
              <a:ahLst/>
              <a:cxnLst/>
              <a:rect l="l" t="t" r="r" b="b"/>
              <a:pathLst>
                <a:path w="7254875" h="8353044">
                  <a:moveTo>
                    <a:pt x="0" y="217678"/>
                  </a:moveTo>
                  <a:cubicBezTo>
                    <a:pt x="0" y="97409"/>
                    <a:pt x="97409" y="0"/>
                    <a:pt x="217678" y="0"/>
                  </a:cubicBezTo>
                  <a:lnTo>
                    <a:pt x="7037197" y="0"/>
                  </a:lnTo>
                  <a:cubicBezTo>
                    <a:pt x="7157339" y="0"/>
                    <a:pt x="7254875" y="97409"/>
                    <a:pt x="7254875" y="217678"/>
                  </a:cubicBezTo>
                  <a:lnTo>
                    <a:pt x="7254875" y="8135366"/>
                  </a:lnTo>
                  <a:cubicBezTo>
                    <a:pt x="7254875" y="8255508"/>
                    <a:pt x="7157465" y="8353044"/>
                    <a:pt x="7037197" y="8353044"/>
                  </a:cubicBezTo>
                  <a:lnTo>
                    <a:pt x="217678" y="8353044"/>
                  </a:lnTo>
                  <a:cubicBezTo>
                    <a:pt x="97409" y="8352917"/>
                    <a:pt x="0" y="8255508"/>
                    <a:pt x="0" y="813536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DE3EA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6451559" y="2196274"/>
            <a:ext cx="5422059" cy="109814"/>
            <a:chOff x="0" y="0"/>
            <a:chExt cx="7229412" cy="14641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7229348" cy="146431"/>
            </a:xfrm>
            <a:custGeom>
              <a:avLst/>
              <a:gdLst/>
              <a:ahLst/>
              <a:cxnLst/>
              <a:rect l="l" t="t" r="r" b="b"/>
              <a:pathLst>
                <a:path w="7229348" h="146431">
                  <a:moveTo>
                    <a:pt x="0" y="0"/>
                  </a:moveTo>
                  <a:lnTo>
                    <a:pt x="7229348" y="0"/>
                  </a:lnTo>
                  <a:lnTo>
                    <a:pt x="722934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1F8A9E"/>
            </a:solidFill>
          </p:spPr>
        </p:sp>
      </p:grpSp>
      <p:sp>
        <p:nvSpPr>
          <p:cNvPr id="43" name="TextBox 43"/>
          <p:cNvSpPr txBox="1"/>
          <p:nvPr/>
        </p:nvSpPr>
        <p:spPr>
          <a:xfrm>
            <a:off x="6771818" y="2362933"/>
            <a:ext cx="4781550" cy="69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0B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  Shows its evidence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6716563" y="3284877"/>
            <a:ext cx="4892050" cy="3382108"/>
            <a:chOff x="0" y="0"/>
            <a:chExt cx="6522733" cy="450947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522720" cy="4509389"/>
            </a:xfrm>
            <a:custGeom>
              <a:avLst/>
              <a:gdLst/>
              <a:ahLst/>
              <a:cxnLst/>
              <a:rect l="l" t="t" r="r" b="b"/>
              <a:pathLst>
                <a:path w="6522720" h="4509389">
                  <a:moveTo>
                    <a:pt x="0" y="225425"/>
                  </a:moveTo>
                  <a:cubicBezTo>
                    <a:pt x="0" y="100965"/>
                    <a:pt x="100965" y="0"/>
                    <a:pt x="225425" y="0"/>
                  </a:cubicBezTo>
                  <a:lnTo>
                    <a:pt x="6297295" y="0"/>
                  </a:lnTo>
                  <a:cubicBezTo>
                    <a:pt x="6421882" y="0"/>
                    <a:pt x="6522720" y="100965"/>
                    <a:pt x="6522720" y="225425"/>
                  </a:cubicBezTo>
                  <a:lnTo>
                    <a:pt x="6522720" y="4283964"/>
                  </a:lnTo>
                  <a:cubicBezTo>
                    <a:pt x="6522720" y="4408551"/>
                    <a:pt x="6421755" y="4509389"/>
                    <a:pt x="6297295" y="4509389"/>
                  </a:cubicBezTo>
                  <a:lnTo>
                    <a:pt x="225425" y="4509389"/>
                  </a:lnTo>
                  <a:cubicBezTo>
                    <a:pt x="100965" y="4509516"/>
                    <a:pt x="0" y="4408551"/>
                    <a:pt x="0" y="4283964"/>
                  </a:cubicBezTo>
                  <a:close/>
                </a:path>
              </a:pathLst>
            </a:custGeom>
            <a:solidFill>
              <a:srgbClr val="F5F7FA"/>
            </a:solidFill>
            <a:ln w="19065" cap="sq">
              <a:solidFill>
                <a:srgbClr val="DDE3EA"/>
              </a:solidFill>
              <a:prstDash val="solid"/>
              <a:miter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6726098" y="3500314"/>
            <a:ext cx="123539" cy="754971"/>
            <a:chOff x="0" y="0"/>
            <a:chExt cx="164719" cy="100662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64719" cy="1006602"/>
            </a:xfrm>
            <a:custGeom>
              <a:avLst/>
              <a:gdLst/>
              <a:ahLst/>
              <a:cxnLst/>
              <a:rect l="l" t="t" r="r" b="b"/>
              <a:pathLst>
                <a:path w="164719" h="1006602">
                  <a:moveTo>
                    <a:pt x="0" y="0"/>
                  </a:moveTo>
                  <a:lnTo>
                    <a:pt x="164719" y="0"/>
                  </a:lnTo>
                  <a:lnTo>
                    <a:pt x="164719" y="1006602"/>
                  </a:lnTo>
                  <a:lnTo>
                    <a:pt x="0" y="1006602"/>
                  </a:lnTo>
                  <a:close/>
                </a:path>
              </a:pathLst>
            </a:custGeom>
            <a:solidFill>
              <a:srgbClr val="D64545"/>
            </a:solidFill>
          </p:spPr>
        </p:sp>
      </p:grpSp>
      <p:sp>
        <p:nvSpPr>
          <p:cNvPr id="48" name="TextBox 48"/>
          <p:cNvSpPr txBox="1"/>
          <p:nvPr/>
        </p:nvSpPr>
        <p:spPr>
          <a:xfrm>
            <a:off x="7046347" y="3401959"/>
            <a:ext cx="4232481" cy="482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1">
                <a:solidFill>
                  <a:srgbClr val="222B36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Entry without notice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7000627" y="3953294"/>
            <a:ext cx="1921745" cy="411804"/>
            <a:chOff x="0" y="0"/>
            <a:chExt cx="2562327" cy="54907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562352" cy="549021"/>
            </a:xfrm>
            <a:custGeom>
              <a:avLst/>
              <a:gdLst/>
              <a:ahLst/>
              <a:cxnLst/>
              <a:rect l="l" t="t" r="r" b="b"/>
              <a:pathLst>
                <a:path w="2562352" h="549021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2397633" y="0"/>
                  </a:lnTo>
                  <a:cubicBezTo>
                    <a:pt x="2488565" y="0"/>
                    <a:pt x="2562352" y="73787"/>
                    <a:pt x="2562352" y="164719"/>
                  </a:cubicBezTo>
                  <a:lnTo>
                    <a:pt x="2562352" y="384302"/>
                  </a:lnTo>
                  <a:cubicBezTo>
                    <a:pt x="2562352" y="475234"/>
                    <a:pt x="2488565" y="549021"/>
                    <a:pt x="2397633" y="549021"/>
                  </a:cubicBezTo>
                  <a:lnTo>
                    <a:pt x="164719" y="549021"/>
                  </a:lnTo>
                  <a:cubicBezTo>
                    <a:pt x="73787" y="549021"/>
                    <a:pt x="0" y="475361"/>
                    <a:pt x="0" y="384302"/>
                  </a:cubicBezTo>
                  <a:close/>
                </a:path>
              </a:pathLst>
            </a:custGeom>
            <a:solidFill>
              <a:srgbClr val="D64545"/>
            </a:solidFill>
          </p:spPr>
        </p:sp>
        <p:sp>
          <p:nvSpPr>
            <p:cNvPr id="51" name="TextBox 51"/>
            <p:cNvSpPr txBox="1"/>
            <p:nvPr/>
          </p:nvSpPr>
          <p:spPr>
            <a:xfrm>
              <a:off x="0" y="-28575"/>
              <a:ext cx="2562327" cy="5776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6909083" y="4509630"/>
            <a:ext cx="4507011" cy="816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Landlord may enter at any time with no notice period stated.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6922465" y="5481161"/>
            <a:ext cx="4480246" cy="911304"/>
            <a:chOff x="0" y="0"/>
            <a:chExt cx="5973661" cy="121507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973699" cy="1215009"/>
            </a:xfrm>
            <a:custGeom>
              <a:avLst/>
              <a:gdLst/>
              <a:ahLst/>
              <a:cxnLst/>
              <a:rect l="l" t="t" r="r" b="b"/>
              <a:pathLst>
                <a:path w="5973699" h="1215009">
                  <a:moveTo>
                    <a:pt x="0" y="182245"/>
                  </a:moveTo>
                  <a:cubicBezTo>
                    <a:pt x="0" y="81661"/>
                    <a:pt x="81661" y="0"/>
                    <a:pt x="182245" y="0"/>
                  </a:cubicBezTo>
                  <a:lnTo>
                    <a:pt x="5791454" y="0"/>
                  </a:lnTo>
                  <a:cubicBezTo>
                    <a:pt x="5892165" y="0"/>
                    <a:pt x="5973699" y="81661"/>
                    <a:pt x="5973699" y="182245"/>
                  </a:cubicBezTo>
                  <a:lnTo>
                    <a:pt x="5973699" y="1032764"/>
                  </a:lnTo>
                  <a:cubicBezTo>
                    <a:pt x="5973699" y="1133475"/>
                    <a:pt x="5892038" y="1215009"/>
                    <a:pt x="5791454" y="1215009"/>
                  </a:cubicBezTo>
                  <a:lnTo>
                    <a:pt x="182245" y="1215009"/>
                  </a:lnTo>
                  <a:cubicBezTo>
                    <a:pt x="81661" y="1215009"/>
                    <a:pt x="0" y="1133475"/>
                    <a:pt x="0" y="1032764"/>
                  </a:cubicBezTo>
                  <a:close/>
                </a:path>
              </a:pathLst>
            </a:custGeom>
            <a:solidFill>
              <a:srgbClr val="E6F3F6"/>
            </a:solidFill>
            <a:ln w="19065" cap="sq">
              <a:solidFill>
                <a:srgbClr val="1F8A9E"/>
              </a:solidFill>
              <a:prstDash val="solid"/>
              <a:miter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7000627" y="5518137"/>
            <a:ext cx="4323921" cy="823608"/>
            <a:chOff x="0" y="0"/>
            <a:chExt cx="5765228" cy="1098144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5765224" cy="1098138"/>
            </a:xfrm>
            <a:custGeom>
              <a:avLst/>
              <a:gdLst/>
              <a:ahLst/>
              <a:cxnLst/>
              <a:rect l="l" t="t" r="r" b="b"/>
              <a:pathLst>
                <a:path w="5765224" h="1098138">
                  <a:moveTo>
                    <a:pt x="0" y="0"/>
                  </a:moveTo>
                  <a:lnTo>
                    <a:pt x="5765224" y="0"/>
                  </a:lnTo>
                  <a:lnTo>
                    <a:pt x="5765224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2296" b="-52296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47625"/>
              <a:ext cx="5765228" cy="11457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1"/>
                </a:lnSpc>
              </a:pPr>
              <a:r>
                <a:rPr lang="en-US" sz="2101" b="1">
                  <a:solidFill>
                    <a:srgbClr val="1F8A9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Matched: "enter at any time"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6771818" y="6911807"/>
            <a:ext cx="4781550" cy="1228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F6B78"/>
                </a:solidFill>
                <a:latin typeface="Calibri (MS)"/>
                <a:ea typeface="Calibri (MS)"/>
                <a:cs typeface="Calibri (MS)"/>
                <a:sym typeface="Calibri (MS)"/>
              </a:rPr>
              <a:t>Every flag quotes the phrase that triggered it, so the tenant can see why.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12207250" y="2186740"/>
            <a:ext cx="5441118" cy="6264726"/>
            <a:chOff x="0" y="0"/>
            <a:chExt cx="7254824" cy="835296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7254875" cy="8353044"/>
            </a:xfrm>
            <a:custGeom>
              <a:avLst/>
              <a:gdLst/>
              <a:ahLst/>
              <a:cxnLst/>
              <a:rect l="l" t="t" r="r" b="b"/>
              <a:pathLst>
                <a:path w="7254875" h="8353044">
                  <a:moveTo>
                    <a:pt x="0" y="217678"/>
                  </a:moveTo>
                  <a:cubicBezTo>
                    <a:pt x="0" y="97409"/>
                    <a:pt x="97409" y="0"/>
                    <a:pt x="217678" y="0"/>
                  </a:cubicBezTo>
                  <a:lnTo>
                    <a:pt x="7037197" y="0"/>
                  </a:lnTo>
                  <a:cubicBezTo>
                    <a:pt x="7157339" y="0"/>
                    <a:pt x="7254875" y="97409"/>
                    <a:pt x="7254875" y="217678"/>
                  </a:cubicBezTo>
                  <a:lnTo>
                    <a:pt x="7254875" y="8135366"/>
                  </a:lnTo>
                  <a:cubicBezTo>
                    <a:pt x="7254875" y="8255508"/>
                    <a:pt x="7157465" y="8353044"/>
                    <a:pt x="7037197" y="8353044"/>
                  </a:cubicBezTo>
                  <a:lnTo>
                    <a:pt x="217678" y="8353044"/>
                  </a:lnTo>
                  <a:cubicBezTo>
                    <a:pt x="97409" y="8352917"/>
                    <a:pt x="0" y="8255508"/>
                    <a:pt x="0" y="813536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DE3EA"/>
              </a:solidFill>
              <a:prstDash val="solid"/>
              <a:miter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12216784" y="2196274"/>
            <a:ext cx="5422059" cy="109814"/>
            <a:chOff x="0" y="0"/>
            <a:chExt cx="7229412" cy="14641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7229348" cy="146431"/>
            </a:xfrm>
            <a:custGeom>
              <a:avLst/>
              <a:gdLst/>
              <a:ahLst/>
              <a:cxnLst/>
              <a:rect l="l" t="t" r="r" b="b"/>
              <a:pathLst>
                <a:path w="7229348" h="146431">
                  <a:moveTo>
                    <a:pt x="0" y="0"/>
                  </a:moveTo>
                  <a:lnTo>
                    <a:pt x="7229348" y="0"/>
                  </a:lnTo>
                  <a:lnTo>
                    <a:pt x="7229348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E8A317"/>
            </a:solidFill>
          </p:spPr>
        </p:sp>
      </p:grpSp>
      <p:sp>
        <p:nvSpPr>
          <p:cNvPr id="63" name="TextBox 63"/>
          <p:cNvSpPr txBox="1"/>
          <p:nvPr/>
        </p:nvSpPr>
        <p:spPr>
          <a:xfrm>
            <a:off x="12537043" y="2362933"/>
            <a:ext cx="4781550" cy="69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0B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  New rent review rule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2559951" y="4598451"/>
            <a:ext cx="2333539" cy="617706"/>
            <a:chOff x="0" y="0"/>
            <a:chExt cx="3111386" cy="82360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111373" cy="823595"/>
            </a:xfrm>
            <a:custGeom>
              <a:avLst/>
              <a:gdLst/>
              <a:ahLst/>
              <a:cxnLst/>
              <a:rect l="l" t="t" r="r" b="b"/>
              <a:pathLst>
                <a:path w="3111373" h="823595">
                  <a:moveTo>
                    <a:pt x="0" y="0"/>
                  </a:moveTo>
                  <a:lnTo>
                    <a:pt x="3111373" y="0"/>
                  </a:lnTo>
                  <a:lnTo>
                    <a:pt x="3111373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FBE3A6"/>
            </a:solidFill>
          </p:spPr>
        </p:sp>
      </p:grpSp>
      <p:grpSp>
        <p:nvGrpSpPr>
          <p:cNvPr id="66" name="Group 66"/>
          <p:cNvGrpSpPr/>
          <p:nvPr/>
        </p:nvGrpSpPr>
        <p:grpSpPr>
          <a:xfrm>
            <a:off x="14893500" y="4598451"/>
            <a:ext cx="2333539" cy="617706"/>
            <a:chOff x="0" y="0"/>
            <a:chExt cx="3111386" cy="82360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111373" cy="823595"/>
            </a:xfrm>
            <a:custGeom>
              <a:avLst/>
              <a:gdLst/>
              <a:ahLst/>
              <a:cxnLst/>
              <a:rect l="l" t="t" r="r" b="b"/>
              <a:pathLst>
                <a:path w="3111373" h="823595">
                  <a:moveTo>
                    <a:pt x="0" y="0"/>
                  </a:moveTo>
                  <a:lnTo>
                    <a:pt x="3111373" y="0"/>
                  </a:lnTo>
                  <a:lnTo>
                    <a:pt x="3111373" y="823595"/>
                  </a:lnTo>
                  <a:lnTo>
                    <a:pt x="0" y="823595"/>
                  </a:lnTo>
                  <a:close/>
                </a:path>
              </a:pathLst>
            </a:custGeom>
            <a:solidFill>
              <a:srgbClr val="CBEBD5"/>
            </a:solidFill>
          </p:spPr>
        </p:sp>
      </p:grpSp>
      <p:grpSp>
        <p:nvGrpSpPr>
          <p:cNvPr id="68" name="Group 68"/>
          <p:cNvGrpSpPr/>
          <p:nvPr/>
        </p:nvGrpSpPr>
        <p:grpSpPr>
          <a:xfrm>
            <a:off x="12546225" y="5216157"/>
            <a:ext cx="27451" cy="164725"/>
            <a:chOff x="0" y="0"/>
            <a:chExt cx="36601" cy="21963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6576" cy="219583"/>
            </a:xfrm>
            <a:custGeom>
              <a:avLst/>
              <a:gdLst/>
              <a:ahLst/>
              <a:cxnLst/>
              <a:rect l="l" t="t" r="r" b="b"/>
              <a:pathLst>
                <a:path w="36576" h="219583">
                  <a:moveTo>
                    <a:pt x="0" y="0"/>
                  </a:moveTo>
                  <a:lnTo>
                    <a:pt x="36576" y="0"/>
                  </a:lnTo>
                  <a:lnTo>
                    <a:pt x="36576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5F6B78"/>
            </a:solidFill>
          </p:spPr>
        </p:sp>
      </p:grpSp>
      <p:sp>
        <p:nvSpPr>
          <p:cNvPr id="70" name="TextBox 70"/>
          <p:cNvSpPr txBox="1"/>
          <p:nvPr/>
        </p:nvSpPr>
        <p:spPr>
          <a:xfrm>
            <a:off x="12193867" y="5393455"/>
            <a:ext cx="732168" cy="38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5F6B78"/>
                </a:solidFill>
                <a:latin typeface="Calibri (MS)"/>
                <a:ea typeface="Calibri (MS)"/>
                <a:cs typeface="Calibri (MS)"/>
                <a:sym typeface="Calibri (MS)"/>
              </a:rPr>
              <a:t>0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13713000" y="5216157"/>
            <a:ext cx="27451" cy="164725"/>
            <a:chOff x="0" y="0"/>
            <a:chExt cx="36601" cy="21963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36576" cy="219583"/>
            </a:xfrm>
            <a:custGeom>
              <a:avLst/>
              <a:gdLst/>
              <a:ahLst/>
              <a:cxnLst/>
              <a:rect l="l" t="t" r="r" b="b"/>
              <a:pathLst>
                <a:path w="36576" h="219583">
                  <a:moveTo>
                    <a:pt x="0" y="0"/>
                  </a:moveTo>
                  <a:lnTo>
                    <a:pt x="36576" y="0"/>
                  </a:lnTo>
                  <a:lnTo>
                    <a:pt x="36576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5F6B78"/>
            </a:solidFill>
          </p:spPr>
        </p:sp>
      </p:grpSp>
      <p:sp>
        <p:nvSpPr>
          <p:cNvPr id="73" name="TextBox 73"/>
          <p:cNvSpPr txBox="1"/>
          <p:nvPr/>
        </p:nvSpPr>
        <p:spPr>
          <a:xfrm>
            <a:off x="13360641" y="5393455"/>
            <a:ext cx="732168" cy="38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5F6B78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  <p:grpSp>
        <p:nvGrpSpPr>
          <p:cNvPr id="74" name="Group 74"/>
          <p:cNvGrpSpPr/>
          <p:nvPr/>
        </p:nvGrpSpPr>
        <p:grpSpPr>
          <a:xfrm>
            <a:off x="14879764" y="5216157"/>
            <a:ext cx="27451" cy="164725"/>
            <a:chOff x="0" y="0"/>
            <a:chExt cx="36601" cy="219634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36576" cy="219583"/>
            </a:xfrm>
            <a:custGeom>
              <a:avLst/>
              <a:gdLst/>
              <a:ahLst/>
              <a:cxnLst/>
              <a:rect l="l" t="t" r="r" b="b"/>
              <a:pathLst>
                <a:path w="36576" h="219583">
                  <a:moveTo>
                    <a:pt x="0" y="0"/>
                  </a:moveTo>
                  <a:lnTo>
                    <a:pt x="36576" y="0"/>
                  </a:lnTo>
                  <a:lnTo>
                    <a:pt x="36576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5F6B78"/>
            </a:solidFill>
          </p:spPr>
        </p:sp>
      </p:grpSp>
      <p:sp>
        <p:nvSpPr>
          <p:cNvPr id="76" name="TextBox 76"/>
          <p:cNvSpPr txBox="1"/>
          <p:nvPr/>
        </p:nvSpPr>
        <p:spPr>
          <a:xfrm>
            <a:off x="14527416" y="5393455"/>
            <a:ext cx="732168" cy="38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5F6B78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16046539" y="5216157"/>
            <a:ext cx="27451" cy="164725"/>
            <a:chOff x="0" y="0"/>
            <a:chExt cx="36601" cy="219634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36576" cy="219583"/>
            </a:xfrm>
            <a:custGeom>
              <a:avLst/>
              <a:gdLst/>
              <a:ahLst/>
              <a:cxnLst/>
              <a:rect l="l" t="t" r="r" b="b"/>
              <a:pathLst>
                <a:path w="36576" h="219583">
                  <a:moveTo>
                    <a:pt x="0" y="0"/>
                  </a:moveTo>
                  <a:lnTo>
                    <a:pt x="36576" y="0"/>
                  </a:lnTo>
                  <a:lnTo>
                    <a:pt x="36576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5F6B78"/>
            </a:solidFill>
          </p:spPr>
        </p:sp>
      </p:grpSp>
      <p:sp>
        <p:nvSpPr>
          <p:cNvPr id="79" name="TextBox 79"/>
          <p:cNvSpPr txBox="1"/>
          <p:nvPr/>
        </p:nvSpPr>
        <p:spPr>
          <a:xfrm>
            <a:off x="15694181" y="5393455"/>
            <a:ext cx="732168" cy="38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5F6B78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17213313" y="5216157"/>
            <a:ext cx="27451" cy="164725"/>
            <a:chOff x="0" y="0"/>
            <a:chExt cx="36601" cy="219634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36576" cy="219583"/>
            </a:xfrm>
            <a:custGeom>
              <a:avLst/>
              <a:gdLst/>
              <a:ahLst/>
              <a:cxnLst/>
              <a:rect l="l" t="t" r="r" b="b"/>
              <a:pathLst>
                <a:path w="36576" h="219583">
                  <a:moveTo>
                    <a:pt x="0" y="0"/>
                  </a:moveTo>
                  <a:lnTo>
                    <a:pt x="36576" y="0"/>
                  </a:lnTo>
                  <a:lnTo>
                    <a:pt x="36576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5F6B78"/>
            </a:solidFill>
          </p:spPr>
        </p:sp>
      </p:grpSp>
      <p:sp>
        <p:nvSpPr>
          <p:cNvPr id="82" name="TextBox 82"/>
          <p:cNvSpPr txBox="1"/>
          <p:nvPr/>
        </p:nvSpPr>
        <p:spPr>
          <a:xfrm>
            <a:off x="16860955" y="5393455"/>
            <a:ext cx="732168" cy="38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5F6B78"/>
                </a:solidFill>
                <a:latin typeface="Calibri (MS)"/>
                <a:ea typeface="Calibri (MS)"/>
                <a:cs typeface="Calibri (MS)"/>
                <a:sym typeface="Calibri (MS)"/>
              </a:rPr>
              <a:t>24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2605671" y="5805259"/>
            <a:ext cx="4575648" cy="38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5F6B78"/>
                </a:solidFill>
                <a:latin typeface="Calibri (MS)"/>
                <a:ea typeface="Calibri (MS)"/>
                <a:cs typeface="Calibri (MS)"/>
                <a:sym typeface="Calibri (MS)"/>
              </a:rPr>
              <a:t>months between rent reviews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12605671" y="4116876"/>
            <a:ext cx="2242099" cy="38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1">
                <a:solidFill>
                  <a:srgbClr val="9A6A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Amber: against guidance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4939220" y="4116876"/>
            <a:ext cx="2242099" cy="38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1">
                <a:solidFill>
                  <a:srgbClr val="247A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Fine</a:t>
            </a:r>
          </a:p>
        </p:txBody>
      </p:sp>
      <p:grpSp>
        <p:nvGrpSpPr>
          <p:cNvPr id="86" name="Group 86"/>
          <p:cNvGrpSpPr/>
          <p:nvPr/>
        </p:nvGrpSpPr>
        <p:grpSpPr>
          <a:xfrm>
            <a:off x="13538740" y="4726191"/>
            <a:ext cx="375961" cy="375961"/>
            <a:chOff x="0" y="0"/>
            <a:chExt cx="501282" cy="501282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501269" cy="501269"/>
            </a:xfrm>
            <a:custGeom>
              <a:avLst/>
              <a:gdLst/>
              <a:ahLst/>
              <a:cxnLst/>
              <a:rect l="l" t="t" r="r" b="b"/>
              <a:pathLst>
                <a:path w="501269" h="501269">
                  <a:moveTo>
                    <a:pt x="0" y="250698"/>
                  </a:moveTo>
                  <a:cubicBezTo>
                    <a:pt x="0" y="112268"/>
                    <a:pt x="112268" y="0"/>
                    <a:pt x="250698" y="0"/>
                  </a:cubicBezTo>
                  <a:cubicBezTo>
                    <a:pt x="389128" y="0"/>
                    <a:pt x="501269" y="112268"/>
                    <a:pt x="501269" y="250698"/>
                  </a:cubicBezTo>
                  <a:cubicBezTo>
                    <a:pt x="501269" y="389128"/>
                    <a:pt x="389128" y="501269"/>
                    <a:pt x="250698" y="501269"/>
                  </a:cubicBezTo>
                  <a:cubicBezTo>
                    <a:pt x="112268" y="501269"/>
                    <a:pt x="0" y="389128"/>
                    <a:pt x="0" y="250698"/>
                  </a:cubicBezTo>
                  <a:close/>
                </a:path>
              </a:pathLst>
            </a:custGeom>
            <a:solidFill>
              <a:srgbClr val="D64545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88" name="TextBox 88"/>
          <p:cNvSpPr txBox="1"/>
          <p:nvPr/>
        </p:nvSpPr>
        <p:spPr>
          <a:xfrm>
            <a:off x="12605671" y="3274219"/>
            <a:ext cx="4712913" cy="679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A lease that allows a review every 6 months is flagged amber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2605671" y="6911807"/>
            <a:ext cx="4781550" cy="1228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F6B78"/>
                </a:solidFill>
                <a:latin typeface="Calibri (MS)"/>
                <a:ea typeface="Calibri (MS)"/>
                <a:cs typeface="Calibri (MS)"/>
                <a:sym typeface="Calibri (MS)"/>
              </a:rPr>
              <a:t>Minimum 12 months. Guidance, so never red. Draft until the source is confirmed.</a:t>
            </a:r>
          </a:p>
        </p:txBody>
      </p:sp>
      <p:grpSp>
        <p:nvGrpSpPr>
          <p:cNvPr id="90" name="Group 90"/>
          <p:cNvGrpSpPr/>
          <p:nvPr/>
        </p:nvGrpSpPr>
        <p:grpSpPr>
          <a:xfrm>
            <a:off x="686333" y="8716470"/>
            <a:ext cx="3294412" cy="686333"/>
            <a:chOff x="0" y="0"/>
            <a:chExt cx="4392549" cy="915111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4392549" cy="915162"/>
            </a:xfrm>
            <a:custGeom>
              <a:avLst/>
              <a:gdLst/>
              <a:ahLst/>
              <a:cxnLst/>
              <a:rect l="l" t="t" r="r" b="b"/>
              <a:pathLst>
                <a:path w="4392549" h="915162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lnTo>
                    <a:pt x="4117975" y="0"/>
                  </a:lnTo>
                  <a:cubicBezTo>
                    <a:pt x="4269613" y="0"/>
                    <a:pt x="4392549" y="122936"/>
                    <a:pt x="4392549" y="274574"/>
                  </a:cubicBezTo>
                  <a:lnTo>
                    <a:pt x="4392549" y="640588"/>
                  </a:lnTo>
                  <a:cubicBezTo>
                    <a:pt x="4392549" y="792226"/>
                    <a:pt x="4269613" y="915162"/>
                    <a:pt x="4117975" y="915162"/>
                  </a:cubicBezTo>
                  <a:lnTo>
                    <a:pt x="274574" y="915162"/>
                  </a:lnTo>
                  <a:cubicBezTo>
                    <a:pt x="122936" y="915162"/>
                    <a:pt x="0" y="792226"/>
                    <a:pt x="0" y="640588"/>
                  </a:cubicBezTo>
                  <a:close/>
                </a:path>
              </a:pathLst>
            </a:custGeom>
            <a:solidFill>
              <a:srgbClr val="1F8A9E"/>
            </a:solidFill>
          </p:spPr>
        </p:sp>
        <p:sp>
          <p:nvSpPr>
            <p:cNvPr id="92" name="TextBox 92"/>
            <p:cNvSpPr txBox="1"/>
            <p:nvPr/>
          </p:nvSpPr>
          <p:spPr>
            <a:xfrm>
              <a:off x="0" y="-47625"/>
              <a:ext cx="4392549" cy="962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improvements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4186647" y="8716470"/>
            <a:ext cx="3294412" cy="686333"/>
            <a:chOff x="0" y="0"/>
            <a:chExt cx="4392549" cy="915111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4392549" cy="915162"/>
            </a:xfrm>
            <a:custGeom>
              <a:avLst/>
              <a:gdLst/>
              <a:ahLst/>
              <a:cxnLst/>
              <a:rect l="l" t="t" r="r" b="b"/>
              <a:pathLst>
                <a:path w="4392549" h="915162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lnTo>
                    <a:pt x="4117975" y="0"/>
                  </a:lnTo>
                  <a:cubicBezTo>
                    <a:pt x="4269613" y="0"/>
                    <a:pt x="4392549" y="122936"/>
                    <a:pt x="4392549" y="274574"/>
                  </a:cubicBezTo>
                  <a:lnTo>
                    <a:pt x="4392549" y="640588"/>
                  </a:lnTo>
                  <a:cubicBezTo>
                    <a:pt x="4392549" y="792226"/>
                    <a:pt x="4269613" y="915162"/>
                    <a:pt x="4117975" y="915162"/>
                  </a:cubicBezTo>
                  <a:lnTo>
                    <a:pt x="274574" y="915162"/>
                  </a:lnTo>
                  <a:cubicBezTo>
                    <a:pt x="122936" y="915162"/>
                    <a:pt x="0" y="792226"/>
                    <a:pt x="0" y="640588"/>
                  </a:cubicBezTo>
                  <a:close/>
                </a:path>
              </a:pathLst>
            </a:custGeom>
            <a:solidFill>
              <a:srgbClr val="0B2A4A"/>
            </a:solidFill>
          </p:spPr>
        </p:sp>
        <p:sp>
          <p:nvSpPr>
            <p:cNvPr id="95" name="TextBox 95"/>
            <p:cNvSpPr txBox="1"/>
            <p:nvPr/>
          </p:nvSpPr>
          <p:spPr>
            <a:xfrm>
              <a:off x="0" y="-47625"/>
              <a:ext cx="4392549" cy="962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rules in engine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7686961" y="8716470"/>
            <a:ext cx="3294412" cy="686333"/>
            <a:chOff x="0" y="0"/>
            <a:chExt cx="4392549" cy="915111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4392549" cy="915162"/>
            </a:xfrm>
            <a:custGeom>
              <a:avLst/>
              <a:gdLst/>
              <a:ahLst/>
              <a:cxnLst/>
              <a:rect l="l" t="t" r="r" b="b"/>
              <a:pathLst>
                <a:path w="4392549" h="915162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lnTo>
                    <a:pt x="4117975" y="0"/>
                  </a:lnTo>
                  <a:cubicBezTo>
                    <a:pt x="4269613" y="0"/>
                    <a:pt x="4392549" y="122936"/>
                    <a:pt x="4392549" y="274574"/>
                  </a:cubicBezTo>
                  <a:lnTo>
                    <a:pt x="4392549" y="640588"/>
                  </a:lnTo>
                  <a:cubicBezTo>
                    <a:pt x="4392549" y="792226"/>
                    <a:pt x="4269613" y="915162"/>
                    <a:pt x="4117975" y="915162"/>
                  </a:cubicBezTo>
                  <a:lnTo>
                    <a:pt x="274574" y="915162"/>
                  </a:lnTo>
                  <a:cubicBezTo>
                    <a:pt x="122936" y="915162"/>
                    <a:pt x="0" y="792226"/>
                    <a:pt x="0" y="640588"/>
                  </a:cubicBezTo>
                  <a:close/>
                </a:path>
              </a:pathLst>
            </a:custGeom>
            <a:solidFill>
              <a:srgbClr val="3AA55D"/>
            </a:solidFill>
          </p:spPr>
        </p:sp>
        <p:sp>
          <p:nvSpPr>
            <p:cNvPr id="98" name="TextBox 98"/>
            <p:cNvSpPr txBox="1"/>
            <p:nvPr/>
          </p:nvSpPr>
          <p:spPr>
            <a:xfrm>
              <a:off x="0" y="-47625"/>
              <a:ext cx="4392549" cy="962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36 tests passing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5F7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715843"/>
            <a:chOff x="0" y="0"/>
            <a:chExt cx="24402453" cy="22877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2287778"/>
            </a:xfrm>
            <a:custGeom>
              <a:avLst/>
              <a:gdLst/>
              <a:ahLst/>
              <a:cxnLst/>
              <a:rect l="l" t="t" r="r" b="b"/>
              <a:pathLst>
                <a:path w="24402414" h="2287778">
                  <a:moveTo>
                    <a:pt x="0" y="0"/>
                  </a:moveTo>
                  <a:lnTo>
                    <a:pt x="24402414" y="0"/>
                  </a:lnTo>
                  <a:lnTo>
                    <a:pt x="24402414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0B2A4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1715843"/>
            <a:ext cx="18301840" cy="82363"/>
            <a:chOff x="0" y="0"/>
            <a:chExt cx="24402453" cy="1098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402414" cy="109855"/>
            </a:xfrm>
            <a:custGeom>
              <a:avLst/>
              <a:gdLst/>
              <a:ahLst/>
              <a:cxnLst/>
              <a:rect l="l" t="t" r="r" b="b"/>
              <a:pathLst>
                <a:path w="24402414" h="109855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1F8A9E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869328" y="234172"/>
            <a:ext cx="13635285" cy="863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Ask about your lease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9328" y="1027243"/>
            <a:ext cx="15007952" cy="551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BFD3E3"/>
                </a:solidFill>
                <a:latin typeface="Calibri (MS)"/>
                <a:ea typeface="Calibri (MS)"/>
                <a:cs typeface="Calibri (MS)"/>
                <a:sym typeface="Calibri (MS)"/>
              </a:rPr>
              <a:t>New: a tenant can ask what is wrong in their lease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9328" y="9666675"/>
            <a:ext cx="8144599" cy="39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F6B78"/>
                </a:solidFill>
                <a:latin typeface="Calibri (MS)"/>
                <a:ea typeface="Calibri (MS)"/>
                <a:cs typeface="Calibri (MS)"/>
                <a:sym typeface="Calibri (MS)"/>
              </a:rPr>
              <a:t>ClauseGuard | Group 3 | TU Dublin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517788" y="9666675"/>
            <a:ext cx="1006697" cy="39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F6B78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5854362" y="686333"/>
            <a:ext cx="274539" cy="274539"/>
            <a:chOff x="0" y="0"/>
            <a:chExt cx="366052" cy="3660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66014" cy="366014"/>
            </a:xfrm>
            <a:custGeom>
              <a:avLst/>
              <a:gdLst/>
              <a:ahLst/>
              <a:cxnLst/>
              <a:rect l="l" t="t" r="r" b="b"/>
              <a:pathLst>
                <a:path w="366014" h="366014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cubicBezTo>
                    <a:pt x="284099" y="0"/>
                    <a:pt x="366014" y="81915"/>
                    <a:pt x="366014" y="183007"/>
                  </a:cubicBezTo>
                  <a:cubicBezTo>
                    <a:pt x="366014" y="284099"/>
                    <a:pt x="284099" y="366014"/>
                    <a:pt x="183007" y="366014"/>
                  </a:cubicBezTo>
                  <a:cubicBezTo>
                    <a:pt x="81915" y="366014"/>
                    <a:pt x="0" y="284099"/>
                    <a:pt x="0" y="183007"/>
                  </a:cubicBezTo>
                  <a:close/>
                </a:path>
              </a:pathLst>
            </a:custGeom>
            <a:solidFill>
              <a:srgbClr val="D64545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238715" y="686333"/>
            <a:ext cx="274539" cy="274539"/>
            <a:chOff x="0" y="0"/>
            <a:chExt cx="366052" cy="3660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6014" cy="366014"/>
            </a:xfrm>
            <a:custGeom>
              <a:avLst/>
              <a:gdLst/>
              <a:ahLst/>
              <a:cxnLst/>
              <a:rect l="l" t="t" r="r" b="b"/>
              <a:pathLst>
                <a:path w="366014" h="366014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cubicBezTo>
                    <a:pt x="284099" y="0"/>
                    <a:pt x="366014" y="81915"/>
                    <a:pt x="366014" y="183007"/>
                  </a:cubicBezTo>
                  <a:cubicBezTo>
                    <a:pt x="366014" y="284099"/>
                    <a:pt x="284099" y="366014"/>
                    <a:pt x="183007" y="366014"/>
                  </a:cubicBezTo>
                  <a:cubicBezTo>
                    <a:pt x="81915" y="366014"/>
                    <a:pt x="0" y="284099"/>
                    <a:pt x="0" y="183007"/>
                  </a:cubicBezTo>
                  <a:close/>
                </a:path>
              </a:pathLst>
            </a:custGeom>
            <a:solidFill>
              <a:srgbClr val="E8A317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6627554" y="686333"/>
            <a:ext cx="274539" cy="274539"/>
            <a:chOff x="0" y="0"/>
            <a:chExt cx="366052" cy="36605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6014" cy="366014"/>
            </a:xfrm>
            <a:custGeom>
              <a:avLst/>
              <a:gdLst/>
              <a:ahLst/>
              <a:cxnLst/>
              <a:rect l="l" t="t" r="r" b="b"/>
              <a:pathLst>
                <a:path w="366014" h="366014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cubicBezTo>
                    <a:pt x="284099" y="0"/>
                    <a:pt x="366014" y="81915"/>
                    <a:pt x="366014" y="183007"/>
                  </a:cubicBezTo>
                  <a:cubicBezTo>
                    <a:pt x="366014" y="284099"/>
                    <a:pt x="284099" y="366014"/>
                    <a:pt x="183007" y="366014"/>
                  </a:cubicBezTo>
                  <a:cubicBezTo>
                    <a:pt x="81915" y="366014"/>
                    <a:pt x="0" y="284099"/>
                    <a:pt x="0" y="183007"/>
                  </a:cubicBezTo>
                  <a:close/>
                </a:path>
              </a:pathLst>
            </a:custGeom>
            <a:solidFill>
              <a:srgbClr val="3AA55D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686333" y="2127647"/>
            <a:ext cx="2978696" cy="1166774"/>
            <a:chOff x="0" y="0"/>
            <a:chExt cx="3971595" cy="155569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971671" cy="1555750"/>
            </a:xfrm>
            <a:custGeom>
              <a:avLst/>
              <a:gdLst/>
              <a:ahLst/>
              <a:cxnLst/>
              <a:rect l="l" t="t" r="r" b="b"/>
              <a:pathLst>
                <a:path w="3971671" h="1555750">
                  <a:moveTo>
                    <a:pt x="0" y="0"/>
                  </a:moveTo>
                  <a:lnTo>
                    <a:pt x="3193796" y="0"/>
                  </a:lnTo>
                  <a:lnTo>
                    <a:pt x="3971671" y="777875"/>
                  </a:lnTo>
                  <a:lnTo>
                    <a:pt x="3193796" y="1555750"/>
                  </a:lnTo>
                  <a:lnTo>
                    <a:pt x="0" y="1555750"/>
                  </a:lnTo>
                  <a:close/>
                </a:path>
              </a:pathLst>
            </a:custGeom>
            <a:solidFill>
              <a:srgbClr val="1F8A9E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3971595" cy="1603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Upload lease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500314" y="2127647"/>
            <a:ext cx="2978696" cy="1166774"/>
            <a:chOff x="0" y="0"/>
            <a:chExt cx="3971595" cy="155569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971671" cy="1555750"/>
            </a:xfrm>
            <a:custGeom>
              <a:avLst/>
              <a:gdLst/>
              <a:ahLst/>
              <a:cxnLst/>
              <a:rect l="l" t="t" r="r" b="b"/>
              <a:pathLst>
                <a:path w="3971671" h="1555750">
                  <a:moveTo>
                    <a:pt x="0" y="0"/>
                  </a:moveTo>
                  <a:lnTo>
                    <a:pt x="3193796" y="0"/>
                  </a:lnTo>
                  <a:lnTo>
                    <a:pt x="3971671" y="777875"/>
                  </a:lnTo>
                  <a:lnTo>
                    <a:pt x="3193796" y="1555750"/>
                  </a:lnTo>
                  <a:lnTo>
                    <a:pt x="0" y="1555750"/>
                  </a:lnTo>
                  <a:lnTo>
                    <a:pt x="777875" y="777875"/>
                  </a:lnTo>
                  <a:close/>
                </a:path>
              </a:pathLst>
            </a:custGeom>
            <a:solidFill>
              <a:srgbClr val="0B2A4A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3971595" cy="1603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Rules check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314294" y="2127647"/>
            <a:ext cx="2978696" cy="1166774"/>
            <a:chOff x="0" y="0"/>
            <a:chExt cx="3971595" cy="155569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971671" cy="1555750"/>
            </a:xfrm>
            <a:custGeom>
              <a:avLst/>
              <a:gdLst/>
              <a:ahLst/>
              <a:cxnLst/>
              <a:rect l="l" t="t" r="r" b="b"/>
              <a:pathLst>
                <a:path w="3971671" h="1555750">
                  <a:moveTo>
                    <a:pt x="0" y="0"/>
                  </a:moveTo>
                  <a:lnTo>
                    <a:pt x="3193796" y="0"/>
                  </a:lnTo>
                  <a:lnTo>
                    <a:pt x="3971671" y="777875"/>
                  </a:lnTo>
                  <a:lnTo>
                    <a:pt x="3193796" y="1555750"/>
                  </a:lnTo>
                  <a:lnTo>
                    <a:pt x="0" y="1555750"/>
                  </a:lnTo>
                  <a:lnTo>
                    <a:pt x="777875" y="777875"/>
                  </a:lnTo>
                  <a:close/>
                </a:path>
              </a:pathLst>
            </a:custGeom>
            <a:solidFill>
              <a:srgbClr val="1F8A9E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3971595" cy="1603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 saved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128274" y="2127647"/>
            <a:ext cx="2978696" cy="1166774"/>
            <a:chOff x="0" y="0"/>
            <a:chExt cx="3971595" cy="155569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971671" cy="1555750"/>
            </a:xfrm>
            <a:custGeom>
              <a:avLst/>
              <a:gdLst/>
              <a:ahLst/>
              <a:cxnLst/>
              <a:rect l="l" t="t" r="r" b="b"/>
              <a:pathLst>
                <a:path w="3971671" h="1555750">
                  <a:moveTo>
                    <a:pt x="0" y="0"/>
                  </a:moveTo>
                  <a:lnTo>
                    <a:pt x="3193796" y="0"/>
                  </a:lnTo>
                  <a:lnTo>
                    <a:pt x="3971671" y="777875"/>
                  </a:lnTo>
                  <a:lnTo>
                    <a:pt x="3193796" y="1555750"/>
                  </a:lnTo>
                  <a:lnTo>
                    <a:pt x="0" y="1555750"/>
                  </a:lnTo>
                  <a:lnTo>
                    <a:pt x="777875" y="777875"/>
                  </a:lnTo>
                  <a:close/>
                </a:path>
              </a:pathLst>
            </a:custGeom>
            <a:solidFill>
              <a:srgbClr val="0B2A4A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3971595" cy="1603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Tenant asks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942254" y="2127647"/>
            <a:ext cx="2978696" cy="1166774"/>
            <a:chOff x="0" y="0"/>
            <a:chExt cx="3971595" cy="155569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971671" cy="1555750"/>
            </a:xfrm>
            <a:custGeom>
              <a:avLst/>
              <a:gdLst/>
              <a:ahLst/>
              <a:cxnLst/>
              <a:rect l="l" t="t" r="r" b="b"/>
              <a:pathLst>
                <a:path w="3971671" h="1555750">
                  <a:moveTo>
                    <a:pt x="0" y="0"/>
                  </a:moveTo>
                  <a:lnTo>
                    <a:pt x="3193796" y="0"/>
                  </a:lnTo>
                  <a:lnTo>
                    <a:pt x="3971671" y="777875"/>
                  </a:lnTo>
                  <a:lnTo>
                    <a:pt x="3193796" y="1555750"/>
                  </a:lnTo>
                  <a:lnTo>
                    <a:pt x="0" y="1555750"/>
                  </a:lnTo>
                  <a:lnTo>
                    <a:pt x="777875" y="777875"/>
                  </a:lnTo>
                  <a:close/>
                </a:path>
              </a:pathLst>
            </a:custGeom>
            <a:solidFill>
              <a:srgbClr val="1F8A9E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3971595" cy="1603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Gemini explains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4756225" y="2127647"/>
            <a:ext cx="2978696" cy="1166774"/>
            <a:chOff x="0" y="0"/>
            <a:chExt cx="3971595" cy="1555699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971671" cy="1555750"/>
            </a:xfrm>
            <a:custGeom>
              <a:avLst/>
              <a:gdLst/>
              <a:ahLst/>
              <a:cxnLst/>
              <a:rect l="l" t="t" r="r" b="b"/>
              <a:pathLst>
                <a:path w="3971671" h="1555750">
                  <a:moveTo>
                    <a:pt x="0" y="0"/>
                  </a:moveTo>
                  <a:lnTo>
                    <a:pt x="3193796" y="0"/>
                  </a:lnTo>
                  <a:lnTo>
                    <a:pt x="3971671" y="777875"/>
                  </a:lnTo>
                  <a:lnTo>
                    <a:pt x="3193796" y="1555750"/>
                  </a:lnTo>
                  <a:lnTo>
                    <a:pt x="0" y="1555750"/>
                  </a:lnTo>
                  <a:lnTo>
                    <a:pt x="777875" y="777875"/>
                  </a:lnTo>
                  <a:close/>
                </a:path>
              </a:pathLst>
            </a:custGeom>
            <a:solidFill>
              <a:srgbClr val="0B2A4A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3971595" cy="16033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Plain answer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76808" y="3628053"/>
            <a:ext cx="9078706" cy="5784285"/>
            <a:chOff x="0" y="0"/>
            <a:chExt cx="12104942" cy="771238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105005" cy="7712456"/>
            </a:xfrm>
            <a:custGeom>
              <a:avLst/>
              <a:gdLst/>
              <a:ahLst/>
              <a:cxnLst/>
              <a:rect l="l" t="t" r="r" b="b"/>
              <a:pathLst>
                <a:path w="12105005" h="7712456">
                  <a:moveTo>
                    <a:pt x="0" y="231394"/>
                  </a:moveTo>
                  <a:cubicBezTo>
                    <a:pt x="0" y="103632"/>
                    <a:pt x="103632" y="0"/>
                    <a:pt x="231394" y="0"/>
                  </a:cubicBezTo>
                  <a:lnTo>
                    <a:pt x="11873611" y="0"/>
                  </a:lnTo>
                  <a:cubicBezTo>
                    <a:pt x="12001373" y="0"/>
                    <a:pt x="12105005" y="103632"/>
                    <a:pt x="12105005" y="231394"/>
                  </a:cubicBezTo>
                  <a:lnTo>
                    <a:pt x="12105005" y="7481062"/>
                  </a:lnTo>
                  <a:cubicBezTo>
                    <a:pt x="12105005" y="7608824"/>
                    <a:pt x="12001373" y="7712456"/>
                    <a:pt x="11873611" y="7712456"/>
                  </a:cubicBezTo>
                  <a:lnTo>
                    <a:pt x="231394" y="7712456"/>
                  </a:lnTo>
                  <a:cubicBezTo>
                    <a:pt x="103632" y="7712329"/>
                    <a:pt x="0" y="7608824"/>
                    <a:pt x="0" y="748106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DE3EA"/>
              </a:solidFill>
              <a:prstDash val="solid"/>
              <a:miter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686333" y="3637578"/>
            <a:ext cx="9059637" cy="686333"/>
            <a:chOff x="0" y="0"/>
            <a:chExt cx="12079516" cy="91511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079478" cy="915162"/>
            </a:xfrm>
            <a:custGeom>
              <a:avLst/>
              <a:gdLst/>
              <a:ahLst/>
              <a:cxnLst/>
              <a:rect l="l" t="t" r="r" b="b"/>
              <a:pathLst>
                <a:path w="12079478" h="915162">
                  <a:moveTo>
                    <a:pt x="0" y="0"/>
                  </a:moveTo>
                  <a:lnTo>
                    <a:pt x="12079478" y="0"/>
                  </a:lnTo>
                  <a:lnTo>
                    <a:pt x="12079478" y="915162"/>
                  </a:lnTo>
                  <a:lnTo>
                    <a:pt x="0" y="915162"/>
                  </a:lnTo>
                  <a:close/>
                </a:path>
              </a:pathLst>
            </a:custGeom>
            <a:solidFill>
              <a:srgbClr val="0B2A4A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960872" y="3706216"/>
            <a:ext cx="5490686" cy="549069"/>
            <a:chOff x="0" y="0"/>
            <a:chExt cx="7320915" cy="73209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320920" cy="732092"/>
            </a:xfrm>
            <a:custGeom>
              <a:avLst/>
              <a:gdLst/>
              <a:ahLst/>
              <a:cxnLst/>
              <a:rect l="l" t="t" r="r" b="b"/>
              <a:pathLst>
                <a:path w="7320920" h="732092">
                  <a:moveTo>
                    <a:pt x="0" y="0"/>
                  </a:moveTo>
                  <a:lnTo>
                    <a:pt x="7320920" y="0"/>
                  </a:lnTo>
                  <a:lnTo>
                    <a:pt x="732092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47625"/>
              <a:ext cx="7320915" cy="7797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Ask ClauseGuard about this lease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863363" y="3706216"/>
            <a:ext cx="2745343" cy="549069"/>
            <a:chOff x="0" y="0"/>
            <a:chExt cx="3660458" cy="73209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660460" cy="732092"/>
            </a:xfrm>
            <a:custGeom>
              <a:avLst/>
              <a:gdLst/>
              <a:ahLst/>
              <a:cxnLst/>
              <a:rect l="l" t="t" r="r" b="b"/>
              <a:pathLst>
                <a:path w="3660460" h="732092">
                  <a:moveTo>
                    <a:pt x="0" y="0"/>
                  </a:moveTo>
                  <a:lnTo>
                    <a:pt x="3660460" y="0"/>
                  </a:lnTo>
                  <a:lnTo>
                    <a:pt x="366046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3660458" cy="7606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981"/>
                </a:lnSpc>
              </a:pPr>
              <a:r>
                <a:rPr lang="en-US" sz="1651">
                  <a:solidFill>
                    <a:srgbClr val="BFD3E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example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941618" y="4529823"/>
            <a:ext cx="4529823" cy="754971"/>
            <a:chOff x="0" y="0"/>
            <a:chExt cx="6039764" cy="1006627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039739" cy="1006602"/>
            </a:xfrm>
            <a:custGeom>
              <a:avLst/>
              <a:gdLst/>
              <a:ahLst/>
              <a:cxnLst/>
              <a:rect l="l" t="t" r="r" b="b"/>
              <a:pathLst>
                <a:path w="6039739" h="1006602">
                  <a:moveTo>
                    <a:pt x="0" y="302006"/>
                  </a:moveTo>
                  <a:cubicBezTo>
                    <a:pt x="0" y="135255"/>
                    <a:pt x="135255" y="0"/>
                    <a:pt x="302006" y="0"/>
                  </a:cubicBezTo>
                  <a:lnTo>
                    <a:pt x="5737733" y="0"/>
                  </a:lnTo>
                  <a:cubicBezTo>
                    <a:pt x="5904484" y="0"/>
                    <a:pt x="6039739" y="135255"/>
                    <a:pt x="6039739" y="302006"/>
                  </a:cubicBezTo>
                  <a:lnTo>
                    <a:pt x="6039739" y="704596"/>
                  </a:lnTo>
                  <a:cubicBezTo>
                    <a:pt x="6039739" y="871347"/>
                    <a:pt x="5904484" y="1006602"/>
                    <a:pt x="5737733" y="1006602"/>
                  </a:cubicBezTo>
                  <a:lnTo>
                    <a:pt x="302006" y="1006602"/>
                  </a:lnTo>
                  <a:cubicBezTo>
                    <a:pt x="135255" y="1006602"/>
                    <a:pt x="0" y="871474"/>
                    <a:pt x="0" y="704596"/>
                  </a:cubicBezTo>
                  <a:close/>
                </a:path>
              </a:pathLst>
            </a:custGeom>
            <a:solidFill>
              <a:srgbClr val="1F8A9E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5010255" y="4529823"/>
            <a:ext cx="4392549" cy="754971"/>
            <a:chOff x="0" y="0"/>
            <a:chExt cx="5856732" cy="1006627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856736" cy="1006626"/>
            </a:xfrm>
            <a:custGeom>
              <a:avLst/>
              <a:gdLst/>
              <a:ahLst/>
              <a:cxnLst/>
              <a:rect l="l" t="t" r="r" b="b"/>
              <a:pathLst>
                <a:path w="5856736" h="1006626">
                  <a:moveTo>
                    <a:pt x="0" y="0"/>
                  </a:moveTo>
                  <a:lnTo>
                    <a:pt x="5856736" y="0"/>
                  </a:lnTo>
                  <a:lnTo>
                    <a:pt x="5856736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3367" b="-63367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47625"/>
              <a:ext cx="5856732" cy="10542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What is wrong in this lease?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51338" y="5549789"/>
            <a:ext cx="8529638" cy="3656647"/>
            <a:chOff x="0" y="0"/>
            <a:chExt cx="11372850" cy="487553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1372723" cy="4875403"/>
            </a:xfrm>
            <a:custGeom>
              <a:avLst/>
              <a:gdLst/>
              <a:ahLst/>
              <a:cxnLst/>
              <a:rect l="l" t="t" r="r" b="b"/>
              <a:pathLst>
                <a:path w="11372723" h="4875403">
                  <a:moveTo>
                    <a:pt x="0" y="243713"/>
                  </a:moveTo>
                  <a:cubicBezTo>
                    <a:pt x="0" y="109093"/>
                    <a:pt x="109093" y="0"/>
                    <a:pt x="243713" y="0"/>
                  </a:cubicBezTo>
                  <a:lnTo>
                    <a:pt x="11129010" y="0"/>
                  </a:lnTo>
                  <a:cubicBezTo>
                    <a:pt x="11263630" y="0"/>
                    <a:pt x="11372723" y="109093"/>
                    <a:pt x="11372723" y="243713"/>
                  </a:cubicBezTo>
                  <a:lnTo>
                    <a:pt x="11372723" y="4631690"/>
                  </a:lnTo>
                  <a:cubicBezTo>
                    <a:pt x="11372723" y="4766310"/>
                    <a:pt x="11263630" y="4875403"/>
                    <a:pt x="11129010" y="4875403"/>
                  </a:cubicBezTo>
                  <a:lnTo>
                    <a:pt x="243713" y="4875403"/>
                  </a:lnTo>
                  <a:cubicBezTo>
                    <a:pt x="109093" y="4875530"/>
                    <a:pt x="0" y="4766437"/>
                    <a:pt x="0" y="4631690"/>
                  </a:cubicBezTo>
                  <a:close/>
                </a:path>
              </a:pathLst>
            </a:custGeom>
            <a:solidFill>
              <a:srgbClr val="F5F7FA"/>
            </a:solidFill>
            <a:ln w="19065" cap="sq">
              <a:solidFill>
                <a:srgbClr val="DDE3EA"/>
              </a:solidFill>
              <a:prstDash val="solid"/>
              <a:miter/>
            </a:ln>
          </p:spPr>
        </p:sp>
      </p:grpSp>
      <p:sp>
        <p:nvSpPr>
          <p:cNvPr id="53" name="TextBox 53"/>
          <p:cNvSpPr txBox="1"/>
          <p:nvPr/>
        </p:nvSpPr>
        <p:spPr>
          <a:xfrm>
            <a:off x="1212494" y="5607758"/>
            <a:ext cx="8007325" cy="473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1">
                <a:solidFill>
                  <a:srgbClr val="0B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 clauses are worth checking: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1235402" y="6245657"/>
            <a:ext cx="1235402" cy="411804"/>
            <a:chOff x="0" y="0"/>
            <a:chExt cx="1647203" cy="549072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647190" cy="549021"/>
            </a:xfrm>
            <a:custGeom>
              <a:avLst/>
              <a:gdLst/>
              <a:ahLst/>
              <a:cxnLst/>
              <a:rect l="l" t="t" r="r" b="b"/>
              <a:pathLst>
                <a:path w="1647190" h="549021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482471" y="0"/>
                  </a:lnTo>
                  <a:cubicBezTo>
                    <a:pt x="1573403" y="0"/>
                    <a:pt x="1647190" y="73787"/>
                    <a:pt x="1647190" y="164719"/>
                  </a:cubicBezTo>
                  <a:lnTo>
                    <a:pt x="1647190" y="384302"/>
                  </a:lnTo>
                  <a:cubicBezTo>
                    <a:pt x="1647190" y="475234"/>
                    <a:pt x="1573403" y="549021"/>
                    <a:pt x="1482471" y="549021"/>
                  </a:cubicBezTo>
                  <a:lnTo>
                    <a:pt x="164719" y="549021"/>
                  </a:lnTo>
                  <a:cubicBezTo>
                    <a:pt x="73787" y="549021"/>
                    <a:pt x="0" y="475361"/>
                    <a:pt x="0" y="384302"/>
                  </a:cubicBezTo>
                  <a:close/>
                </a:path>
              </a:pathLst>
            </a:custGeom>
            <a:solidFill>
              <a:srgbClr val="E8A317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0" y="-38100"/>
              <a:ext cx="1647203" cy="587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1"/>
                </a:lnSpc>
              </a:pPr>
              <a:r>
                <a:rPr lang="en-US" sz="150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AMBER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2653798" y="6156836"/>
            <a:ext cx="6634658" cy="610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Rent review every 6 months, which is more often than the 12-month guidance.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1235402" y="7137892"/>
            <a:ext cx="1235402" cy="411804"/>
            <a:chOff x="0" y="0"/>
            <a:chExt cx="1647203" cy="54907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647190" cy="549021"/>
            </a:xfrm>
            <a:custGeom>
              <a:avLst/>
              <a:gdLst/>
              <a:ahLst/>
              <a:cxnLst/>
              <a:rect l="l" t="t" r="r" b="b"/>
              <a:pathLst>
                <a:path w="1647190" h="549021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482471" y="0"/>
                  </a:lnTo>
                  <a:cubicBezTo>
                    <a:pt x="1573403" y="0"/>
                    <a:pt x="1647190" y="73787"/>
                    <a:pt x="1647190" y="164719"/>
                  </a:cubicBezTo>
                  <a:lnTo>
                    <a:pt x="1647190" y="384302"/>
                  </a:lnTo>
                  <a:cubicBezTo>
                    <a:pt x="1647190" y="475234"/>
                    <a:pt x="1573403" y="549021"/>
                    <a:pt x="1482471" y="549021"/>
                  </a:cubicBezTo>
                  <a:lnTo>
                    <a:pt x="164719" y="549021"/>
                  </a:lnTo>
                  <a:cubicBezTo>
                    <a:pt x="73787" y="549021"/>
                    <a:pt x="0" y="475361"/>
                    <a:pt x="0" y="384302"/>
                  </a:cubicBezTo>
                  <a:close/>
                </a:path>
              </a:pathLst>
            </a:custGeom>
            <a:solidFill>
              <a:srgbClr val="D64545"/>
            </a:solidFill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1647203" cy="587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1"/>
                </a:lnSpc>
              </a:pPr>
              <a:r>
                <a:rPr lang="en-US" sz="150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RED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2653798" y="7049071"/>
            <a:ext cx="6634658" cy="610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Entry at any time, with no notice period stated.</a:t>
            </a:r>
          </a:p>
        </p:txBody>
      </p:sp>
      <p:grpSp>
        <p:nvGrpSpPr>
          <p:cNvPr id="62" name="Group 62"/>
          <p:cNvGrpSpPr/>
          <p:nvPr/>
        </p:nvGrpSpPr>
        <p:grpSpPr>
          <a:xfrm>
            <a:off x="1235402" y="7961500"/>
            <a:ext cx="1235402" cy="411804"/>
            <a:chOff x="0" y="0"/>
            <a:chExt cx="1647203" cy="549072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647190" cy="549021"/>
            </a:xfrm>
            <a:custGeom>
              <a:avLst/>
              <a:gdLst/>
              <a:ahLst/>
              <a:cxnLst/>
              <a:rect l="l" t="t" r="r" b="b"/>
              <a:pathLst>
                <a:path w="1647190" h="549021">
                  <a:moveTo>
                    <a:pt x="0" y="164719"/>
                  </a:moveTo>
                  <a:cubicBezTo>
                    <a:pt x="0" y="73787"/>
                    <a:pt x="73787" y="0"/>
                    <a:pt x="164719" y="0"/>
                  </a:cubicBezTo>
                  <a:lnTo>
                    <a:pt x="1482471" y="0"/>
                  </a:lnTo>
                  <a:cubicBezTo>
                    <a:pt x="1573403" y="0"/>
                    <a:pt x="1647190" y="73787"/>
                    <a:pt x="1647190" y="164719"/>
                  </a:cubicBezTo>
                  <a:lnTo>
                    <a:pt x="1647190" y="384302"/>
                  </a:lnTo>
                  <a:cubicBezTo>
                    <a:pt x="1647190" y="475234"/>
                    <a:pt x="1573403" y="549021"/>
                    <a:pt x="1482471" y="549021"/>
                  </a:cubicBezTo>
                  <a:lnTo>
                    <a:pt x="164719" y="549021"/>
                  </a:lnTo>
                  <a:cubicBezTo>
                    <a:pt x="73787" y="549021"/>
                    <a:pt x="0" y="475361"/>
                    <a:pt x="0" y="384302"/>
                  </a:cubicBezTo>
                  <a:close/>
                </a:path>
              </a:pathLst>
            </a:custGeom>
            <a:solidFill>
              <a:srgbClr val="3AA55D"/>
            </a:solidFill>
          </p:spPr>
        </p:sp>
        <p:sp>
          <p:nvSpPr>
            <p:cNvPr id="64" name="TextBox 64"/>
            <p:cNvSpPr txBox="1"/>
            <p:nvPr/>
          </p:nvSpPr>
          <p:spPr>
            <a:xfrm>
              <a:off x="0" y="-38100"/>
              <a:ext cx="1647203" cy="5871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01"/>
                </a:lnSpc>
              </a:pPr>
              <a:r>
                <a:rPr lang="en-US" sz="150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GREEN</a:t>
              </a:r>
            </a:p>
          </p:txBody>
        </p:sp>
      </p:grpSp>
      <p:sp>
        <p:nvSpPr>
          <p:cNvPr id="65" name="TextBox 65"/>
          <p:cNvSpPr txBox="1"/>
          <p:nvPr/>
        </p:nvSpPr>
        <p:spPr>
          <a:xfrm>
            <a:off x="2653798" y="7872670"/>
            <a:ext cx="6634658" cy="541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Deposit clause looks fine.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12494" y="8568538"/>
            <a:ext cx="8007325" cy="532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B78"/>
                </a:solidFill>
                <a:latin typeface="Calibri (MS)"/>
                <a:ea typeface="Calibri (MS)"/>
                <a:cs typeface="Calibri (MS)"/>
                <a:sym typeface="Calibri (MS)"/>
              </a:rPr>
              <a:t>Answers come only from the checks above.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10148240" y="3628053"/>
            <a:ext cx="7431500" cy="3450746"/>
            <a:chOff x="0" y="0"/>
            <a:chExt cx="9908667" cy="4600994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9908667" cy="4600956"/>
            </a:xfrm>
            <a:custGeom>
              <a:avLst/>
              <a:gdLst/>
              <a:ahLst/>
              <a:cxnLst/>
              <a:rect l="l" t="t" r="r" b="b"/>
              <a:pathLst>
                <a:path w="9908667" h="4600956">
                  <a:moveTo>
                    <a:pt x="0" y="138049"/>
                  </a:moveTo>
                  <a:cubicBezTo>
                    <a:pt x="0" y="61849"/>
                    <a:pt x="61849" y="0"/>
                    <a:pt x="138049" y="0"/>
                  </a:cubicBezTo>
                  <a:lnTo>
                    <a:pt x="9770618" y="0"/>
                  </a:lnTo>
                  <a:cubicBezTo>
                    <a:pt x="9846818" y="0"/>
                    <a:pt x="9908667" y="61849"/>
                    <a:pt x="9908667" y="138049"/>
                  </a:cubicBezTo>
                  <a:lnTo>
                    <a:pt x="9908667" y="4462907"/>
                  </a:lnTo>
                  <a:cubicBezTo>
                    <a:pt x="9908667" y="4539107"/>
                    <a:pt x="9846818" y="4600956"/>
                    <a:pt x="9770618" y="4600956"/>
                  </a:cubicBezTo>
                  <a:lnTo>
                    <a:pt x="138049" y="4600956"/>
                  </a:lnTo>
                  <a:cubicBezTo>
                    <a:pt x="61849" y="4600956"/>
                    <a:pt x="0" y="4539107"/>
                    <a:pt x="0" y="446290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DE3EA"/>
              </a:solidFill>
              <a:prstDash val="solid"/>
              <a:miter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10157774" y="3637578"/>
            <a:ext cx="7412431" cy="109814"/>
            <a:chOff x="0" y="0"/>
            <a:chExt cx="9883242" cy="146418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9883267" cy="146431"/>
            </a:xfrm>
            <a:custGeom>
              <a:avLst/>
              <a:gdLst/>
              <a:ahLst/>
              <a:cxnLst/>
              <a:rect l="l" t="t" r="r" b="b"/>
              <a:pathLst>
                <a:path w="9883267" h="146431">
                  <a:moveTo>
                    <a:pt x="0" y="0"/>
                  </a:moveTo>
                  <a:lnTo>
                    <a:pt x="9883267" y="0"/>
                  </a:lnTo>
                  <a:lnTo>
                    <a:pt x="988326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1F8A9E"/>
            </a:solidFill>
          </p:spPr>
        </p:sp>
      </p:grpSp>
      <p:sp>
        <p:nvSpPr>
          <p:cNvPr id="71" name="TextBox 71"/>
          <p:cNvSpPr txBox="1"/>
          <p:nvPr/>
        </p:nvSpPr>
        <p:spPr>
          <a:xfrm>
            <a:off x="10478033" y="3804237"/>
            <a:ext cx="6771923" cy="69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0B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not train a new model?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10422779" y="4588916"/>
            <a:ext cx="3382108" cy="2215344"/>
            <a:chOff x="0" y="0"/>
            <a:chExt cx="4509478" cy="2953791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4509389" cy="2953766"/>
            </a:xfrm>
            <a:custGeom>
              <a:avLst/>
              <a:gdLst/>
              <a:ahLst/>
              <a:cxnLst/>
              <a:rect l="l" t="t" r="r" b="b"/>
              <a:pathLst>
                <a:path w="4509389" h="2953766">
                  <a:moveTo>
                    <a:pt x="0" y="177165"/>
                  </a:moveTo>
                  <a:cubicBezTo>
                    <a:pt x="0" y="79375"/>
                    <a:pt x="79375" y="0"/>
                    <a:pt x="177165" y="0"/>
                  </a:cubicBezTo>
                  <a:lnTo>
                    <a:pt x="4332224" y="0"/>
                  </a:lnTo>
                  <a:cubicBezTo>
                    <a:pt x="4430141" y="0"/>
                    <a:pt x="4509389" y="79375"/>
                    <a:pt x="4509389" y="177165"/>
                  </a:cubicBezTo>
                  <a:lnTo>
                    <a:pt x="4509389" y="2776601"/>
                  </a:lnTo>
                  <a:cubicBezTo>
                    <a:pt x="4509389" y="2874518"/>
                    <a:pt x="4430014" y="2953766"/>
                    <a:pt x="4332224" y="2953766"/>
                  </a:cubicBezTo>
                  <a:lnTo>
                    <a:pt x="177165" y="2953766"/>
                  </a:lnTo>
                  <a:cubicBezTo>
                    <a:pt x="79375" y="2953766"/>
                    <a:pt x="0" y="2874391"/>
                    <a:pt x="0" y="2776601"/>
                  </a:cubicBezTo>
                  <a:close/>
                </a:path>
              </a:pathLst>
            </a:custGeom>
            <a:solidFill>
              <a:srgbClr val="F5F7FA"/>
            </a:solidFill>
            <a:ln w="19065" cap="sq">
              <a:solidFill>
                <a:srgbClr val="DDE3EA"/>
              </a:solidFill>
              <a:prstDash val="solid"/>
              <a:miter/>
            </a:ln>
          </p:spPr>
        </p:sp>
      </p:grpSp>
      <p:sp>
        <p:nvSpPr>
          <p:cNvPr id="74" name="TextBox 74"/>
          <p:cNvSpPr txBox="1"/>
          <p:nvPr/>
        </p:nvSpPr>
        <p:spPr>
          <a:xfrm>
            <a:off x="10546661" y="4646895"/>
            <a:ext cx="3134344" cy="816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1">
                <a:solidFill>
                  <a:srgbClr val="D64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Model from Irish LegalBERT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0546661" y="5411391"/>
            <a:ext cx="3134344" cy="1355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Encoder: it labels clauses but cannot write answers.</a:t>
            </a:r>
          </a:p>
        </p:txBody>
      </p:sp>
      <p:grpSp>
        <p:nvGrpSpPr>
          <p:cNvPr id="76" name="Group 76"/>
          <p:cNvGrpSpPr/>
          <p:nvPr/>
        </p:nvGrpSpPr>
        <p:grpSpPr>
          <a:xfrm>
            <a:off x="13991730" y="4588916"/>
            <a:ext cx="3382108" cy="2215344"/>
            <a:chOff x="0" y="0"/>
            <a:chExt cx="4509478" cy="2953791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509389" cy="2953766"/>
            </a:xfrm>
            <a:custGeom>
              <a:avLst/>
              <a:gdLst/>
              <a:ahLst/>
              <a:cxnLst/>
              <a:rect l="l" t="t" r="r" b="b"/>
              <a:pathLst>
                <a:path w="4509389" h="2953766">
                  <a:moveTo>
                    <a:pt x="0" y="177165"/>
                  </a:moveTo>
                  <a:cubicBezTo>
                    <a:pt x="0" y="79375"/>
                    <a:pt x="79375" y="0"/>
                    <a:pt x="177165" y="0"/>
                  </a:cubicBezTo>
                  <a:lnTo>
                    <a:pt x="4332224" y="0"/>
                  </a:lnTo>
                  <a:cubicBezTo>
                    <a:pt x="4430141" y="0"/>
                    <a:pt x="4509389" y="79375"/>
                    <a:pt x="4509389" y="177165"/>
                  </a:cubicBezTo>
                  <a:lnTo>
                    <a:pt x="4509389" y="2776601"/>
                  </a:lnTo>
                  <a:cubicBezTo>
                    <a:pt x="4509389" y="2874518"/>
                    <a:pt x="4430014" y="2953766"/>
                    <a:pt x="4332224" y="2953766"/>
                  </a:cubicBezTo>
                  <a:lnTo>
                    <a:pt x="177165" y="2953766"/>
                  </a:lnTo>
                  <a:cubicBezTo>
                    <a:pt x="79375" y="2953766"/>
                    <a:pt x="0" y="2874391"/>
                    <a:pt x="0" y="2776601"/>
                  </a:cubicBezTo>
                  <a:close/>
                </a:path>
              </a:pathLst>
            </a:custGeom>
            <a:solidFill>
              <a:srgbClr val="E6F3F6"/>
            </a:solidFill>
            <a:ln w="19065" cap="sq">
              <a:solidFill>
                <a:srgbClr val="1F8A9E"/>
              </a:solidFill>
              <a:prstDash val="solid"/>
              <a:miter/>
            </a:ln>
          </p:spPr>
        </p:sp>
      </p:grpSp>
      <p:sp>
        <p:nvSpPr>
          <p:cNvPr id="78" name="TextBox 78"/>
          <p:cNvSpPr txBox="1"/>
          <p:nvPr/>
        </p:nvSpPr>
        <p:spPr>
          <a:xfrm>
            <a:off x="14115612" y="4646895"/>
            <a:ext cx="3134344" cy="816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b="1">
                <a:solidFill>
                  <a:srgbClr val="247A42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Gemini + saved results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4115612" y="5411391"/>
            <a:ext cx="3134344" cy="1355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222B36"/>
                </a:solidFill>
                <a:latin typeface="Calibri (MS)"/>
                <a:ea typeface="Calibri (MS)"/>
                <a:cs typeface="Calibri (MS)"/>
                <a:sym typeface="Calibri (MS)"/>
              </a:rPr>
              <a:t>Explains what the rule engine found, nothing else.</a:t>
            </a:r>
          </a:p>
        </p:txBody>
      </p:sp>
      <p:grpSp>
        <p:nvGrpSpPr>
          <p:cNvPr id="80" name="Group 80"/>
          <p:cNvGrpSpPr/>
          <p:nvPr/>
        </p:nvGrpSpPr>
        <p:grpSpPr>
          <a:xfrm>
            <a:off x="10148240" y="7265632"/>
            <a:ext cx="7431500" cy="2146706"/>
            <a:chOff x="0" y="0"/>
            <a:chExt cx="9908667" cy="2862275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9908667" cy="2862199"/>
            </a:xfrm>
            <a:custGeom>
              <a:avLst/>
              <a:gdLst/>
              <a:ahLst/>
              <a:cxnLst/>
              <a:rect l="l" t="t" r="r" b="b"/>
              <a:pathLst>
                <a:path w="9908667" h="2862199">
                  <a:moveTo>
                    <a:pt x="0" y="85852"/>
                  </a:moveTo>
                  <a:cubicBezTo>
                    <a:pt x="0" y="38481"/>
                    <a:pt x="38481" y="0"/>
                    <a:pt x="85852" y="0"/>
                  </a:cubicBezTo>
                  <a:lnTo>
                    <a:pt x="9822815" y="0"/>
                  </a:lnTo>
                  <a:cubicBezTo>
                    <a:pt x="9870186" y="0"/>
                    <a:pt x="9908667" y="38481"/>
                    <a:pt x="9908667" y="85852"/>
                  </a:cubicBezTo>
                  <a:lnTo>
                    <a:pt x="9908667" y="2776347"/>
                  </a:lnTo>
                  <a:cubicBezTo>
                    <a:pt x="9908667" y="2823718"/>
                    <a:pt x="9870186" y="2862199"/>
                    <a:pt x="9822815" y="2862199"/>
                  </a:cubicBezTo>
                  <a:lnTo>
                    <a:pt x="85852" y="2862199"/>
                  </a:lnTo>
                  <a:cubicBezTo>
                    <a:pt x="38481" y="2862199"/>
                    <a:pt x="0" y="2823718"/>
                    <a:pt x="0" y="277634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DE3EA"/>
              </a:solidFill>
              <a:prstDash val="solid"/>
              <a:miter/>
            </a:ln>
          </p:spPr>
        </p:sp>
      </p:grpSp>
      <p:grpSp>
        <p:nvGrpSpPr>
          <p:cNvPr id="82" name="Group 82"/>
          <p:cNvGrpSpPr/>
          <p:nvPr/>
        </p:nvGrpSpPr>
        <p:grpSpPr>
          <a:xfrm>
            <a:off x="10157774" y="7275166"/>
            <a:ext cx="7412431" cy="109814"/>
            <a:chOff x="0" y="0"/>
            <a:chExt cx="9883242" cy="146418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9883267" cy="146431"/>
            </a:xfrm>
            <a:custGeom>
              <a:avLst/>
              <a:gdLst/>
              <a:ahLst/>
              <a:cxnLst/>
              <a:rect l="l" t="t" r="r" b="b"/>
              <a:pathLst>
                <a:path w="9883267" h="146431">
                  <a:moveTo>
                    <a:pt x="0" y="0"/>
                  </a:moveTo>
                  <a:lnTo>
                    <a:pt x="9883267" y="0"/>
                  </a:lnTo>
                  <a:lnTo>
                    <a:pt x="9883267" y="146431"/>
                  </a:lnTo>
                  <a:lnTo>
                    <a:pt x="0" y="146431"/>
                  </a:lnTo>
                  <a:close/>
                </a:path>
              </a:pathLst>
            </a:custGeom>
            <a:solidFill>
              <a:srgbClr val="3AA55D"/>
            </a:solidFill>
          </p:spPr>
        </p:sp>
      </p:grpSp>
      <p:sp>
        <p:nvSpPr>
          <p:cNvPr id="84" name="TextBox 84"/>
          <p:cNvSpPr txBox="1"/>
          <p:nvPr/>
        </p:nvSpPr>
        <p:spPr>
          <a:xfrm>
            <a:off x="10478033" y="7441825"/>
            <a:ext cx="6771923" cy="698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1">
                <a:solidFill>
                  <a:srgbClr val="0B2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Status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10432313" y="8167402"/>
            <a:ext cx="3363049" cy="823608"/>
            <a:chOff x="0" y="0"/>
            <a:chExt cx="4484065" cy="1098144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4484116" cy="1098169"/>
            </a:xfrm>
            <a:custGeom>
              <a:avLst/>
              <a:gdLst/>
              <a:ahLst/>
              <a:cxnLst/>
              <a:rect l="l" t="t" r="r" b="b"/>
              <a:pathLst>
                <a:path w="4484116" h="1098169">
                  <a:moveTo>
                    <a:pt x="0" y="329438"/>
                  </a:moveTo>
                  <a:cubicBezTo>
                    <a:pt x="0" y="147447"/>
                    <a:pt x="147447" y="0"/>
                    <a:pt x="329438" y="0"/>
                  </a:cubicBezTo>
                  <a:lnTo>
                    <a:pt x="4154678" y="0"/>
                  </a:lnTo>
                  <a:cubicBezTo>
                    <a:pt x="4336669" y="0"/>
                    <a:pt x="4484116" y="147447"/>
                    <a:pt x="4484116" y="329438"/>
                  </a:cubicBezTo>
                  <a:lnTo>
                    <a:pt x="4484116" y="768731"/>
                  </a:lnTo>
                  <a:cubicBezTo>
                    <a:pt x="4484116" y="950722"/>
                    <a:pt x="4336669" y="1098169"/>
                    <a:pt x="4154678" y="1098169"/>
                  </a:cubicBezTo>
                  <a:lnTo>
                    <a:pt x="329438" y="1098169"/>
                  </a:lnTo>
                  <a:cubicBezTo>
                    <a:pt x="147447" y="1098169"/>
                    <a:pt x="0" y="950595"/>
                    <a:pt x="0" y="768731"/>
                  </a:cubicBezTo>
                  <a:close/>
                </a:path>
              </a:pathLst>
            </a:custGeom>
            <a:solidFill>
              <a:srgbClr val="3AA55D"/>
            </a:solidFill>
          </p:spPr>
        </p:sp>
        <p:sp>
          <p:nvSpPr>
            <p:cNvPr id="87" name="TextBox 87"/>
            <p:cNvSpPr txBox="1"/>
            <p:nvPr/>
          </p:nvSpPr>
          <p:spPr>
            <a:xfrm>
              <a:off x="0" y="-38100"/>
              <a:ext cx="4484065" cy="1136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r>
                <a:rPr lang="en-US" sz="180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Backend: built and tested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4001255" y="8167402"/>
            <a:ext cx="3363049" cy="823608"/>
            <a:chOff x="0" y="0"/>
            <a:chExt cx="4484065" cy="1098144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4484116" cy="1098169"/>
            </a:xfrm>
            <a:custGeom>
              <a:avLst/>
              <a:gdLst/>
              <a:ahLst/>
              <a:cxnLst/>
              <a:rect l="l" t="t" r="r" b="b"/>
              <a:pathLst>
                <a:path w="4484116" h="1098169">
                  <a:moveTo>
                    <a:pt x="0" y="329438"/>
                  </a:moveTo>
                  <a:cubicBezTo>
                    <a:pt x="0" y="147447"/>
                    <a:pt x="147447" y="0"/>
                    <a:pt x="329438" y="0"/>
                  </a:cubicBezTo>
                  <a:lnTo>
                    <a:pt x="4154678" y="0"/>
                  </a:lnTo>
                  <a:cubicBezTo>
                    <a:pt x="4336669" y="0"/>
                    <a:pt x="4484116" y="147447"/>
                    <a:pt x="4484116" y="329438"/>
                  </a:cubicBezTo>
                  <a:lnTo>
                    <a:pt x="4484116" y="768731"/>
                  </a:lnTo>
                  <a:cubicBezTo>
                    <a:pt x="4484116" y="950722"/>
                    <a:pt x="4336669" y="1098169"/>
                    <a:pt x="4154678" y="1098169"/>
                  </a:cubicBezTo>
                  <a:lnTo>
                    <a:pt x="329438" y="1098169"/>
                  </a:lnTo>
                  <a:cubicBezTo>
                    <a:pt x="147447" y="1098169"/>
                    <a:pt x="0" y="950595"/>
                    <a:pt x="0" y="768731"/>
                  </a:cubicBezTo>
                  <a:close/>
                </a:path>
              </a:pathLst>
            </a:custGeom>
            <a:solidFill>
              <a:srgbClr val="E8A317"/>
            </a:solidFill>
          </p:spPr>
        </p:sp>
        <p:sp>
          <p:nvSpPr>
            <p:cNvPr id="90" name="TextBox 90"/>
            <p:cNvSpPr txBox="1"/>
            <p:nvPr/>
          </p:nvSpPr>
          <p:spPr>
            <a:xfrm>
              <a:off x="0" y="-38100"/>
              <a:ext cx="4484065" cy="11362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61"/>
                </a:lnSpc>
              </a:pPr>
              <a:r>
                <a:rPr lang="en-US" sz="1801" b="1">
                  <a:solidFill>
                    <a:srgbClr val="222B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 box: next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10295039"/>
            <a:chOff x="0" y="0"/>
            <a:chExt cx="24402453" cy="1372671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02414" cy="13726668"/>
            </a:xfrm>
            <a:custGeom>
              <a:avLst/>
              <a:gdLst/>
              <a:ahLst/>
              <a:cxnLst/>
              <a:rect l="l" t="t" r="r" b="b"/>
              <a:pathLst>
                <a:path w="24402414" h="13726668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5F7F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301840" cy="1715843"/>
            <a:chOff x="0" y="0"/>
            <a:chExt cx="24402453" cy="228779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02414" cy="2287778"/>
            </a:xfrm>
            <a:custGeom>
              <a:avLst/>
              <a:gdLst/>
              <a:ahLst/>
              <a:cxnLst/>
              <a:rect l="l" t="t" r="r" b="b"/>
              <a:pathLst>
                <a:path w="24402414" h="2287778">
                  <a:moveTo>
                    <a:pt x="0" y="0"/>
                  </a:moveTo>
                  <a:lnTo>
                    <a:pt x="24402414" y="0"/>
                  </a:lnTo>
                  <a:lnTo>
                    <a:pt x="24402414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0B2A4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1715843"/>
            <a:ext cx="18301840" cy="82363"/>
            <a:chOff x="0" y="0"/>
            <a:chExt cx="24402453" cy="1098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402414" cy="109855"/>
            </a:xfrm>
            <a:custGeom>
              <a:avLst/>
              <a:gdLst/>
              <a:ahLst/>
              <a:cxnLst/>
              <a:rect l="l" t="t" r="r" b="b"/>
              <a:pathLst>
                <a:path w="24402414" h="109855">
                  <a:moveTo>
                    <a:pt x="0" y="0"/>
                  </a:moveTo>
                  <a:lnTo>
                    <a:pt x="24402414" y="0"/>
                  </a:lnTo>
                  <a:lnTo>
                    <a:pt x="24402414" y="109855"/>
                  </a:lnTo>
                  <a:lnTo>
                    <a:pt x="0" y="109855"/>
                  </a:lnTo>
                  <a:close/>
                </a:path>
              </a:pathLst>
            </a:custGeom>
            <a:solidFill>
              <a:srgbClr val="1F8A9E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869328" y="234172"/>
            <a:ext cx="13635285" cy="8639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My next tasks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9328" y="1027243"/>
            <a:ext cx="15007952" cy="551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>
                <a:solidFill>
                  <a:srgbClr val="BFD3E3"/>
                </a:solidFill>
                <a:latin typeface="Calibri (MS)"/>
                <a:ea typeface="Calibri (MS)"/>
                <a:cs typeface="Calibri (MS)"/>
                <a:sym typeface="Calibri (MS)"/>
              </a:rPr>
              <a:t>Connect, label, extend, evaluate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9328" y="9666675"/>
            <a:ext cx="8144599" cy="39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F6B78"/>
                </a:solidFill>
                <a:latin typeface="Calibri (MS)"/>
                <a:ea typeface="Calibri (MS)"/>
                <a:cs typeface="Calibri (MS)"/>
                <a:sym typeface="Calibri (MS)"/>
              </a:rPr>
              <a:t>ClauseGuard | Group 3 | TU Dublin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517788" y="9666675"/>
            <a:ext cx="1006697" cy="395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>
                <a:solidFill>
                  <a:srgbClr val="5F6B78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5854362" y="686333"/>
            <a:ext cx="274539" cy="274539"/>
            <a:chOff x="0" y="0"/>
            <a:chExt cx="366052" cy="36605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66014" cy="366014"/>
            </a:xfrm>
            <a:custGeom>
              <a:avLst/>
              <a:gdLst/>
              <a:ahLst/>
              <a:cxnLst/>
              <a:rect l="l" t="t" r="r" b="b"/>
              <a:pathLst>
                <a:path w="366014" h="366014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cubicBezTo>
                    <a:pt x="284099" y="0"/>
                    <a:pt x="366014" y="81915"/>
                    <a:pt x="366014" y="183007"/>
                  </a:cubicBezTo>
                  <a:cubicBezTo>
                    <a:pt x="366014" y="284099"/>
                    <a:pt x="284099" y="366014"/>
                    <a:pt x="183007" y="366014"/>
                  </a:cubicBezTo>
                  <a:cubicBezTo>
                    <a:pt x="81915" y="366014"/>
                    <a:pt x="0" y="284099"/>
                    <a:pt x="0" y="183007"/>
                  </a:cubicBezTo>
                  <a:close/>
                </a:path>
              </a:pathLst>
            </a:custGeom>
            <a:solidFill>
              <a:srgbClr val="D64545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6238715" y="686333"/>
            <a:ext cx="274539" cy="274539"/>
            <a:chOff x="0" y="0"/>
            <a:chExt cx="366052" cy="3660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66014" cy="366014"/>
            </a:xfrm>
            <a:custGeom>
              <a:avLst/>
              <a:gdLst/>
              <a:ahLst/>
              <a:cxnLst/>
              <a:rect l="l" t="t" r="r" b="b"/>
              <a:pathLst>
                <a:path w="366014" h="366014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cubicBezTo>
                    <a:pt x="284099" y="0"/>
                    <a:pt x="366014" y="81915"/>
                    <a:pt x="366014" y="183007"/>
                  </a:cubicBezTo>
                  <a:cubicBezTo>
                    <a:pt x="366014" y="284099"/>
                    <a:pt x="284099" y="366014"/>
                    <a:pt x="183007" y="366014"/>
                  </a:cubicBezTo>
                  <a:cubicBezTo>
                    <a:pt x="81915" y="366014"/>
                    <a:pt x="0" y="284099"/>
                    <a:pt x="0" y="183007"/>
                  </a:cubicBezTo>
                  <a:close/>
                </a:path>
              </a:pathLst>
            </a:custGeom>
            <a:solidFill>
              <a:srgbClr val="E8A317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6627554" y="688829"/>
            <a:ext cx="274539" cy="274539"/>
            <a:chOff x="0" y="0"/>
            <a:chExt cx="366052" cy="36605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66014" cy="366014"/>
            </a:xfrm>
            <a:custGeom>
              <a:avLst/>
              <a:gdLst/>
              <a:ahLst/>
              <a:cxnLst/>
              <a:rect l="l" t="t" r="r" b="b"/>
              <a:pathLst>
                <a:path w="366014" h="366014">
                  <a:moveTo>
                    <a:pt x="0" y="183007"/>
                  </a:moveTo>
                  <a:cubicBezTo>
                    <a:pt x="0" y="81915"/>
                    <a:pt x="81915" y="0"/>
                    <a:pt x="183007" y="0"/>
                  </a:cubicBezTo>
                  <a:cubicBezTo>
                    <a:pt x="284099" y="0"/>
                    <a:pt x="366014" y="81915"/>
                    <a:pt x="366014" y="183007"/>
                  </a:cubicBezTo>
                  <a:cubicBezTo>
                    <a:pt x="366014" y="284099"/>
                    <a:pt x="284099" y="366014"/>
                    <a:pt x="183007" y="366014"/>
                  </a:cubicBezTo>
                  <a:cubicBezTo>
                    <a:pt x="81915" y="366014"/>
                    <a:pt x="0" y="284099"/>
                    <a:pt x="0" y="183007"/>
                  </a:cubicBezTo>
                  <a:close/>
                </a:path>
              </a:pathLst>
            </a:custGeom>
            <a:solidFill>
              <a:srgbClr val="3AA55D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676808" y="2186740"/>
            <a:ext cx="8323736" cy="3656647"/>
            <a:chOff x="0" y="0"/>
            <a:chExt cx="11098314" cy="487553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098403" cy="4875530"/>
            </a:xfrm>
            <a:custGeom>
              <a:avLst/>
              <a:gdLst/>
              <a:ahLst/>
              <a:cxnLst/>
              <a:rect l="l" t="t" r="r" b="b"/>
              <a:pathLst>
                <a:path w="11098403" h="487553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952099" y="0"/>
                  </a:lnTo>
                  <a:cubicBezTo>
                    <a:pt x="11032871" y="0"/>
                    <a:pt x="11098403" y="65532"/>
                    <a:pt x="11098403" y="146304"/>
                  </a:cubicBezTo>
                  <a:lnTo>
                    <a:pt x="11098403" y="4729226"/>
                  </a:lnTo>
                  <a:cubicBezTo>
                    <a:pt x="11098403" y="4809998"/>
                    <a:pt x="11032871" y="4875530"/>
                    <a:pt x="10952099" y="4875530"/>
                  </a:cubicBezTo>
                  <a:lnTo>
                    <a:pt x="146304" y="4875530"/>
                  </a:lnTo>
                  <a:cubicBezTo>
                    <a:pt x="65532" y="4875530"/>
                    <a:pt x="0" y="4809998"/>
                    <a:pt x="0" y="47292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DE3EA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960872" y="2443353"/>
            <a:ext cx="686333" cy="686333"/>
            <a:chOff x="0" y="0"/>
            <a:chExt cx="915111" cy="91511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15162" cy="915162"/>
            </a:xfrm>
            <a:custGeom>
              <a:avLst/>
              <a:gdLst/>
              <a:ahLst/>
              <a:cxnLst/>
              <a:rect l="l" t="t" r="r" b="b"/>
              <a:pathLst>
                <a:path w="915162" h="915162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162" y="204851"/>
                    <a:pt x="915162" y="457581"/>
                  </a:cubicBezTo>
                  <a:cubicBezTo>
                    <a:pt x="915162" y="710311"/>
                    <a:pt x="710311" y="915162"/>
                    <a:pt x="457581" y="915162"/>
                  </a:cubicBez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1F8A9E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915111" cy="972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2"/>
                </a:lnSpc>
              </a:pPr>
              <a:r>
                <a:rPr lang="en-US" sz="27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853108" y="2470814"/>
            <a:ext cx="6932000" cy="686333"/>
            <a:chOff x="0" y="0"/>
            <a:chExt cx="9242666" cy="91511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242661" cy="915115"/>
            </a:xfrm>
            <a:custGeom>
              <a:avLst/>
              <a:gdLst/>
              <a:ahLst/>
              <a:cxnLst/>
              <a:rect l="l" t="t" r="r" b="b"/>
              <a:pathLst>
                <a:path w="9242661" h="915115">
                  <a:moveTo>
                    <a:pt x="0" y="0"/>
                  </a:moveTo>
                  <a:lnTo>
                    <a:pt x="9242661" y="0"/>
                  </a:lnTo>
                  <a:lnTo>
                    <a:pt x="924266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6799" b="-146798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9242666" cy="9817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2"/>
                </a:lnSpc>
              </a:pPr>
              <a:r>
                <a:rPr lang="en-US" sz="3002" b="1">
                  <a:solidFill>
                    <a:srgbClr val="0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Connect the chat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98137" y="3568951"/>
            <a:ext cx="2059010" cy="960872"/>
            <a:chOff x="0" y="0"/>
            <a:chExt cx="2745346" cy="128116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745359" cy="1281176"/>
            </a:xfrm>
            <a:custGeom>
              <a:avLst/>
              <a:gdLst/>
              <a:ahLst/>
              <a:cxnLst/>
              <a:rect l="l" t="t" r="r" b="b"/>
              <a:pathLst>
                <a:path w="2745359" h="1281176">
                  <a:moveTo>
                    <a:pt x="0" y="384302"/>
                  </a:moveTo>
                  <a:cubicBezTo>
                    <a:pt x="0" y="172085"/>
                    <a:pt x="172085" y="0"/>
                    <a:pt x="384302" y="0"/>
                  </a:cubicBezTo>
                  <a:lnTo>
                    <a:pt x="2361057" y="0"/>
                  </a:lnTo>
                  <a:cubicBezTo>
                    <a:pt x="2573274" y="0"/>
                    <a:pt x="2745359" y="172085"/>
                    <a:pt x="2745359" y="384302"/>
                  </a:cubicBezTo>
                  <a:lnTo>
                    <a:pt x="2745359" y="896874"/>
                  </a:lnTo>
                  <a:cubicBezTo>
                    <a:pt x="2745359" y="1109091"/>
                    <a:pt x="2573274" y="1281176"/>
                    <a:pt x="2361057" y="1281176"/>
                  </a:cubicBezTo>
                  <a:lnTo>
                    <a:pt x="384302" y="1281176"/>
                  </a:lnTo>
                  <a:cubicBezTo>
                    <a:pt x="172085" y="1281176"/>
                    <a:pt x="0" y="1109091"/>
                    <a:pt x="0" y="896874"/>
                  </a:cubicBezTo>
                  <a:close/>
                </a:path>
              </a:pathLst>
            </a:custGeom>
            <a:solidFill>
              <a:srgbClr val="1F8A9E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2745346" cy="1328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 box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225784" y="3843480"/>
            <a:ext cx="411804" cy="411804"/>
            <a:chOff x="0" y="0"/>
            <a:chExt cx="549072" cy="54907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49021" cy="549021"/>
            </a:xfrm>
            <a:custGeom>
              <a:avLst/>
              <a:gdLst/>
              <a:ahLst/>
              <a:cxnLst/>
              <a:rect l="l" t="t" r="r" b="b"/>
              <a:pathLst>
                <a:path w="549021" h="549021">
                  <a:moveTo>
                    <a:pt x="0" y="137287"/>
                  </a:moveTo>
                  <a:lnTo>
                    <a:pt x="274574" y="137287"/>
                  </a:lnTo>
                  <a:lnTo>
                    <a:pt x="274574" y="0"/>
                  </a:lnTo>
                  <a:lnTo>
                    <a:pt x="549021" y="274574"/>
                  </a:lnTo>
                  <a:lnTo>
                    <a:pt x="274574" y="549021"/>
                  </a:lnTo>
                  <a:lnTo>
                    <a:pt x="274574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5F6B78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3706216" y="3568951"/>
            <a:ext cx="2059010" cy="960872"/>
            <a:chOff x="0" y="0"/>
            <a:chExt cx="2745346" cy="1281163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745359" cy="1281176"/>
            </a:xfrm>
            <a:custGeom>
              <a:avLst/>
              <a:gdLst/>
              <a:ahLst/>
              <a:cxnLst/>
              <a:rect l="l" t="t" r="r" b="b"/>
              <a:pathLst>
                <a:path w="2745359" h="1281176">
                  <a:moveTo>
                    <a:pt x="0" y="384302"/>
                  </a:moveTo>
                  <a:cubicBezTo>
                    <a:pt x="0" y="172085"/>
                    <a:pt x="172085" y="0"/>
                    <a:pt x="384302" y="0"/>
                  </a:cubicBezTo>
                  <a:lnTo>
                    <a:pt x="2361057" y="0"/>
                  </a:lnTo>
                  <a:cubicBezTo>
                    <a:pt x="2573274" y="0"/>
                    <a:pt x="2745359" y="172085"/>
                    <a:pt x="2745359" y="384302"/>
                  </a:cubicBezTo>
                  <a:lnTo>
                    <a:pt x="2745359" y="896874"/>
                  </a:lnTo>
                  <a:cubicBezTo>
                    <a:pt x="2745359" y="1109091"/>
                    <a:pt x="2573274" y="1281176"/>
                    <a:pt x="2361057" y="1281176"/>
                  </a:cubicBezTo>
                  <a:lnTo>
                    <a:pt x="384302" y="1281176"/>
                  </a:lnTo>
                  <a:cubicBezTo>
                    <a:pt x="172085" y="1281176"/>
                    <a:pt x="0" y="1109091"/>
                    <a:pt x="0" y="896874"/>
                  </a:cubicBezTo>
                  <a:close/>
                </a:path>
              </a:pathLst>
            </a:custGeom>
            <a:solidFill>
              <a:srgbClr val="0B2A4A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2745346" cy="1328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833853" y="3843480"/>
            <a:ext cx="411804" cy="411804"/>
            <a:chOff x="0" y="0"/>
            <a:chExt cx="549072" cy="54907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49021" cy="549021"/>
            </a:xfrm>
            <a:custGeom>
              <a:avLst/>
              <a:gdLst/>
              <a:ahLst/>
              <a:cxnLst/>
              <a:rect l="l" t="t" r="r" b="b"/>
              <a:pathLst>
                <a:path w="549021" h="549021">
                  <a:moveTo>
                    <a:pt x="0" y="137287"/>
                  </a:moveTo>
                  <a:lnTo>
                    <a:pt x="274574" y="137287"/>
                  </a:lnTo>
                  <a:lnTo>
                    <a:pt x="274574" y="0"/>
                  </a:lnTo>
                  <a:lnTo>
                    <a:pt x="549021" y="274574"/>
                  </a:lnTo>
                  <a:lnTo>
                    <a:pt x="274574" y="549021"/>
                  </a:lnTo>
                  <a:lnTo>
                    <a:pt x="274574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5F6B78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6314294" y="3568951"/>
            <a:ext cx="2264912" cy="960872"/>
            <a:chOff x="0" y="0"/>
            <a:chExt cx="3019882" cy="128116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019806" cy="1281176"/>
            </a:xfrm>
            <a:custGeom>
              <a:avLst/>
              <a:gdLst/>
              <a:ahLst/>
              <a:cxnLst/>
              <a:rect l="l" t="t" r="r" b="b"/>
              <a:pathLst>
                <a:path w="3019806" h="1281176">
                  <a:moveTo>
                    <a:pt x="0" y="384302"/>
                  </a:moveTo>
                  <a:cubicBezTo>
                    <a:pt x="0" y="172085"/>
                    <a:pt x="172085" y="0"/>
                    <a:pt x="384302" y="0"/>
                  </a:cubicBezTo>
                  <a:lnTo>
                    <a:pt x="2635504" y="0"/>
                  </a:lnTo>
                  <a:cubicBezTo>
                    <a:pt x="2847721" y="0"/>
                    <a:pt x="3019806" y="172085"/>
                    <a:pt x="3019806" y="384302"/>
                  </a:cubicBezTo>
                  <a:lnTo>
                    <a:pt x="3019806" y="896874"/>
                  </a:lnTo>
                  <a:cubicBezTo>
                    <a:pt x="3019806" y="1109091"/>
                    <a:pt x="2847721" y="1281176"/>
                    <a:pt x="2635504" y="1281176"/>
                  </a:cubicBezTo>
                  <a:lnTo>
                    <a:pt x="384302" y="1281176"/>
                  </a:lnTo>
                  <a:cubicBezTo>
                    <a:pt x="172085" y="1281176"/>
                    <a:pt x="0" y="1109091"/>
                    <a:pt x="0" y="896874"/>
                  </a:cubicBezTo>
                  <a:close/>
                </a:path>
              </a:pathLst>
            </a:custGeom>
            <a:solidFill>
              <a:srgbClr val="E8A317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3019882" cy="1328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222B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 Gemini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143857" y="4784160"/>
            <a:ext cx="7389628" cy="816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F6B78"/>
                </a:solidFill>
                <a:latin typeface="Calibri (MS)"/>
                <a:ea typeface="Calibri (MS)"/>
                <a:cs typeface="Calibri (MS)"/>
                <a:sym typeface="Calibri (MS)"/>
              </a:rPr>
              <a:t>Test real questions on a sample lease. So far only tested with a stand-in.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9297191" y="2186740"/>
            <a:ext cx="8323736" cy="3656647"/>
            <a:chOff x="0" y="0"/>
            <a:chExt cx="11098314" cy="487553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098403" cy="4875530"/>
            </a:xfrm>
            <a:custGeom>
              <a:avLst/>
              <a:gdLst/>
              <a:ahLst/>
              <a:cxnLst/>
              <a:rect l="l" t="t" r="r" b="b"/>
              <a:pathLst>
                <a:path w="11098403" h="487553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952099" y="0"/>
                  </a:lnTo>
                  <a:cubicBezTo>
                    <a:pt x="11032871" y="0"/>
                    <a:pt x="11098403" y="65532"/>
                    <a:pt x="11098403" y="146304"/>
                  </a:cubicBezTo>
                  <a:lnTo>
                    <a:pt x="11098403" y="4729226"/>
                  </a:lnTo>
                  <a:cubicBezTo>
                    <a:pt x="11098403" y="4809998"/>
                    <a:pt x="11032871" y="4875530"/>
                    <a:pt x="10952099" y="4875530"/>
                  </a:cubicBezTo>
                  <a:lnTo>
                    <a:pt x="146304" y="4875530"/>
                  </a:lnTo>
                  <a:cubicBezTo>
                    <a:pt x="65532" y="4875530"/>
                    <a:pt x="0" y="4809998"/>
                    <a:pt x="0" y="47292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DE3EA"/>
              </a:solidFill>
              <a:prstDash val="solid"/>
              <a:miter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9581255" y="2443353"/>
            <a:ext cx="686333" cy="686333"/>
            <a:chOff x="0" y="0"/>
            <a:chExt cx="915111" cy="915111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15162" cy="915162"/>
            </a:xfrm>
            <a:custGeom>
              <a:avLst/>
              <a:gdLst/>
              <a:ahLst/>
              <a:cxnLst/>
              <a:rect l="l" t="t" r="r" b="b"/>
              <a:pathLst>
                <a:path w="915162" h="915162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162" y="204851"/>
                    <a:pt x="915162" y="457581"/>
                  </a:cubicBezTo>
                  <a:cubicBezTo>
                    <a:pt x="915162" y="710311"/>
                    <a:pt x="710311" y="915162"/>
                    <a:pt x="457581" y="915162"/>
                  </a:cubicBez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0B2A4A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0" y="-57150"/>
              <a:ext cx="915111" cy="972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2"/>
                </a:lnSpc>
              </a:pPr>
              <a:r>
                <a:rPr lang="en-US" sz="27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473490" y="2470814"/>
            <a:ext cx="6932000" cy="686333"/>
            <a:chOff x="0" y="0"/>
            <a:chExt cx="9242666" cy="915111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242661" cy="915115"/>
            </a:xfrm>
            <a:custGeom>
              <a:avLst/>
              <a:gdLst/>
              <a:ahLst/>
              <a:cxnLst/>
              <a:rect l="l" t="t" r="r" b="b"/>
              <a:pathLst>
                <a:path w="9242661" h="915115">
                  <a:moveTo>
                    <a:pt x="0" y="0"/>
                  </a:moveTo>
                  <a:lnTo>
                    <a:pt x="9242661" y="0"/>
                  </a:lnTo>
                  <a:lnTo>
                    <a:pt x="924266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6799" b="-146798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66675"/>
              <a:ext cx="9242666" cy="9817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2"/>
                </a:lnSpc>
              </a:pPr>
              <a:r>
                <a:rPr lang="en-US" sz="3002" b="1">
                  <a:solidFill>
                    <a:srgbClr val="0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Grow the dataset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718519" y="3637578"/>
            <a:ext cx="7481068" cy="617706"/>
            <a:chOff x="0" y="0"/>
            <a:chExt cx="9974758" cy="82360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974834" cy="823595"/>
            </a:xfrm>
            <a:custGeom>
              <a:avLst/>
              <a:gdLst/>
              <a:ahLst/>
              <a:cxnLst/>
              <a:rect l="l" t="t" r="r" b="b"/>
              <a:pathLst>
                <a:path w="9974834" h="823595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lnTo>
                    <a:pt x="9562973" y="0"/>
                  </a:lnTo>
                  <a:cubicBezTo>
                    <a:pt x="9790430" y="0"/>
                    <a:pt x="9974834" y="184404"/>
                    <a:pt x="9974834" y="411861"/>
                  </a:cubicBezTo>
                  <a:cubicBezTo>
                    <a:pt x="9974834" y="639318"/>
                    <a:pt x="9790430" y="823595"/>
                    <a:pt x="9562973" y="823595"/>
                  </a:cubicBezTo>
                  <a:lnTo>
                    <a:pt x="411861" y="823595"/>
                  </a:lnTo>
                  <a:cubicBezTo>
                    <a:pt x="184404" y="823595"/>
                    <a:pt x="0" y="639191"/>
                    <a:pt x="0" y="411861"/>
                  </a:cubicBezTo>
                  <a:close/>
                </a:path>
              </a:pathLst>
            </a:custGeom>
            <a:solidFill>
              <a:srgbClr val="DDE3EA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9718519" y="3637578"/>
            <a:ext cx="4324055" cy="617706"/>
            <a:chOff x="0" y="0"/>
            <a:chExt cx="5765406" cy="82360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5765419" cy="823722"/>
            </a:xfrm>
            <a:custGeom>
              <a:avLst/>
              <a:gdLst/>
              <a:ahLst/>
              <a:cxnLst/>
              <a:rect l="l" t="t" r="r" b="b"/>
              <a:pathLst>
                <a:path w="5765419" h="823722">
                  <a:moveTo>
                    <a:pt x="0" y="411861"/>
                  </a:moveTo>
                  <a:cubicBezTo>
                    <a:pt x="0" y="184404"/>
                    <a:pt x="184404" y="0"/>
                    <a:pt x="411861" y="0"/>
                  </a:cubicBezTo>
                  <a:lnTo>
                    <a:pt x="5353558" y="0"/>
                  </a:lnTo>
                  <a:cubicBezTo>
                    <a:pt x="5581015" y="0"/>
                    <a:pt x="5765419" y="184404"/>
                    <a:pt x="5765419" y="411861"/>
                  </a:cubicBezTo>
                  <a:cubicBezTo>
                    <a:pt x="5765419" y="639318"/>
                    <a:pt x="5581015" y="823722"/>
                    <a:pt x="5353558" y="823722"/>
                  </a:cubicBezTo>
                  <a:lnTo>
                    <a:pt x="411861" y="823722"/>
                  </a:lnTo>
                  <a:cubicBezTo>
                    <a:pt x="184404" y="823595"/>
                    <a:pt x="0" y="639191"/>
                    <a:pt x="0" y="411861"/>
                  </a:cubicBezTo>
                  <a:close/>
                </a:path>
              </a:pathLst>
            </a:custGeom>
            <a:solidFill>
              <a:srgbClr val="1F8A9E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9718519" y="3637578"/>
            <a:ext cx="4324055" cy="617706"/>
            <a:chOff x="0" y="0"/>
            <a:chExt cx="5765406" cy="82360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765406" cy="823603"/>
            </a:xfrm>
            <a:custGeom>
              <a:avLst/>
              <a:gdLst/>
              <a:ahLst/>
              <a:cxnLst/>
              <a:rect l="l" t="t" r="r" b="b"/>
              <a:pathLst>
                <a:path w="5765406" h="823603">
                  <a:moveTo>
                    <a:pt x="0" y="0"/>
                  </a:moveTo>
                  <a:lnTo>
                    <a:pt x="5765406" y="0"/>
                  </a:lnTo>
                  <a:lnTo>
                    <a:pt x="576540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6399" b="-86399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47625"/>
              <a:ext cx="5765406" cy="8712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289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5552382" y="3637578"/>
            <a:ext cx="1647206" cy="617706"/>
            <a:chOff x="0" y="0"/>
            <a:chExt cx="2196274" cy="823608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196276" cy="823603"/>
            </a:xfrm>
            <a:custGeom>
              <a:avLst/>
              <a:gdLst/>
              <a:ahLst/>
              <a:cxnLst/>
              <a:rect l="l" t="t" r="r" b="b"/>
              <a:pathLst>
                <a:path w="2196276" h="823603">
                  <a:moveTo>
                    <a:pt x="0" y="0"/>
                  </a:moveTo>
                  <a:lnTo>
                    <a:pt x="2196276" y="0"/>
                  </a:lnTo>
                  <a:lnTo>
                    <a:pt x="219627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959" b="-1960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47625"/>
              <a:ext cx="2196274" cy="8712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521"/>
                </a:lnSpc>
              </a:pPr>
              <a:r>
                <a:rPr lang="en-US" sz="2101" b="1">
                  <a:solidFill>
                    <a:srgbClr val="5F6B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500+</a:t>
              </a: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9764239" y="4322778"/>
            <a:ext cx="7389628" cy="38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F6B78"/>
                </a:solidFill>
                <a:latin typeface="Calibri (MS)"/>
                <a:ea typeface="Calibri (MS)"/>
                <a:cs typeface="Calibri (MS)"/>
                <a:sym typeface="Calibri (MS)"/>
              </a:rPr>
              <a:t>labelled clauses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11434358" y="4804353"/>
            <a:ext cx="3706216" cy="686333"/>
            <a:chOff x="0" y="0"/>
            <a:chExt cx="4941621" cy="915111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4941697" cy="915162"/>
            </a:xfrm>
            <a:custGeom>
              <a:avLst/>
              <a:gdLst/>
              <a:ahLst/>
              <a:cxnLst/>
              <a:rect l="l" t="t" r="r" b="b"/>
              <a:pathLst>
                <a:path w="4941697" h="915162">
                  <a:moveTo>
                    <a:pt x="0" y="274574"/>
                  </a:moveTo>
                  <a:cubicBezTo>
                    <a:pt x="0" y="122936"/>
                    <a:pt x="122936" y="0"/>
                    <a:pt x="274574" y="0"/>
                  </a:cubicBezTo>
                  <a:lnTo>
                    <a:pt x="4667123" y="0"/>
                  </a:lnTo>
                  <a:cubicBezTo>
                    <a:pt x="4818761" y="0"/>
                    <a:pt x="4941697" y="122936"/>
                    <a:pt x="4941697" y="274574"/>
                  </a:cubicBezTo>
                  <a:lnTo>
                    <a:pt x="4941697" y="640588"/>
                  </a:lnTo>
                  <a:cubicBezTo>
                    <a:pt x="4941697" y="792226"/>
                    <a:pt x="4818761" y="915162"/>
                    <a:pt x="4667123" y="915162"/>
                  </a:cubicBezTo>
                  <a:lnTo>
                    <a:pt x="274574" y="915162"/>
                  </a:lnTo>
                  <a:cubicBezTo>
                    <a:pt x="122936" y="915162"/>
                    <a:pt x="0" y="792226"/>
                    <a:pt x="0" y="640588"/>
                  </a:cubicBezTo>
                  <a:close/>
                </a:path>
              </a:pathLst>
            </a:custGeom>
            <a:solidFill>
              <a:srgbClr val="0B2A4A"/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0" y="-47625"/>
              <a:ext cx="4941621" cy="962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2nd annotator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676808" y="6030230"/>
            <a:ext cx="8323736" cy="3656647"/>
            <a:chOff x="0" y="0"/>
            <a:chExt cx="11098314" cy="487553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1098403" cy="4875530"/>
            </a:xfrm>
            <a:custGeom>
              <a:avLst/>
              <a:gdLst/>
              <a:ahLst/>
              <a:cxnLst/>
              <a:rect l="l" t="t" r="r" b="b"/>
              <a:pathLst>
                <a:path w="11098403" h="487553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952099" y="0"/>
                  </a:lnTo>
                  <a:cubicBezTo>
                    <a:pt x="11032871" y="0"/>
                    <a:pt x="11098403" y="65532"/>
                    <a:pt x="11098403" y="146304"/>
                  </a:cubicBezTo>
                  <a:lnTo>
                    <a:pt x="11098403" y="4729226"/>
                  </a:lnTo>
                  <a:cubicBezTo>
                    <a:pt x="11098403" y="4809998"/>
                    <a:pt x="11032871" y="4875530"/>
                    <a:pt x="10952099" y="4875530"/>
                  </a:cubicBezTo>
                  <a:lnTo>
                    <a:pt x="146304" y="4875530"/>
                  </a:lnTo>
                  <a:cubicBezTo>
                    <a:pt x="65532" y="4875530"/>
                    <a:pt x="0" y="4809998"/>
                    <a:pt x="0" y="47292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DE3EA"/>
              </a:solidFill>
              <a:prstDash val="solid"/>
              <a:miter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960872" y="6286843"/>
            <a:ext cx="686333" cy="686333"/>
            <a:chOff x="0" y="0"/>
            <a:chExt cx="915111" cy="915111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915162" cy="915162"/>
            </a:xfrm>
            <a:custGeom>
              <a:avLst/>
              <a:gdLst/>
              <a:ahLst/>
              <a:cxnLst/>
              <a:rect l="l" t="t" r="r" b="b"/>
              <a:pathLst>
                <a:path w="915162" h="915162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162" y="204851"/>
                    <a:pt x="915162" y="457581"/>
                  </a:cubicBezTo>
                  <a:cubicBezTo>
                    <a:pt x="915162" y="710311"/>
                    <a:pt x="710311" y="915162"/>
                    <a:pt x="457581" y="915162"/>
                  </a:cubicBez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E8A317"/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0" y="-57150"/>
              <a:ext cx="915111" cy="972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2"/>
                </a:lnSpc>
              </a:pPr>
              <a:r>
                <a:rPr lang="en-US" sz="27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853108" y="6314294"/>
            <a:ext cx="6932000" cy="686333"/>
            <a:chOff x="0" y="0"/>
            <a:chExt cx="9242666" cy="915111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9242661" cy="915115"/>
            </a:xfrm>
            <a:custGeom>
              <a:avLst/>
              <a:gdLst/>
              <a:ahLst/>
              <a:cxnLst/>
              <a:rect l="l" t="t" r="r" b="b"/>
              <a:pathLst>
                <a:path w="9242661" h="915115">
                  <a:moveTo>
                    <a:pt x="0" y="0"/>
                  </a:moveTo>
                  <a:lnTo>
                    <a:pt x="9242661" y="0"/>
                  </a:lnTo>
                  <a:lnTo>
                    <a:pt x="924266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6799" b="-146798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66675"/>
              <a:ext cx="9242666" cy="9817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2"/>
                </a:lnSpc>
              </a:pPr>
              <a:r>
                <a:rPr lang="en-US" sz="3002" b="1">
                  <a:solidFill>
                    <a:srgbClr val="0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Extend the rules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098137" y="7412431"/>
            <a:ext cx="1455029" cy="1098137"/>
            <a:chOff x="0" y="0"/>
            <a:chExt cx="1940039" cy="1464183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1940179" cy="1464183"/>
            </a:xfrm>
            <a:custGeom>
              <a:avLst/>
              <a:gdLst/>
              <a:ahLst/>
              <a:cxnLst/>
              <a:rect l="l" t="t" r="r" b="b"/>
              <a:pathLst>
                <a:path w="1940179" h="1464183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lnTo>
                    <a:pt x="1500886" y="0"/>
                  </a:lnTo>
                  <a:cubicBezTo>
                    <a:pt x="1743456" y="0"/>
                    <a:pt x="1940179" y="196723"/>
                    <a:pt x="1940179" y="439293"/>
                  </a:cubicBezTo>
                  <a:lnTo>
                    <a:pt x="1940179" y="1024890"/>
                  </a:lnTo>
                  <a:cubicBezTo>
                    <a:pt x="1940179" y="1267460"/>
                    <a:pt x="1743456" y="1464183"/>
                    <a:pt x="1500886" y="1464183"/>
                  </a:cubicBezTo>
                  <a:lnTo>
                    <a:pt x="439293" y="1464183"/>
                  </a:lnTo>
                  <a:cubicBezTo>
                    <a:pt x="196723" y="1464183"/>
                    <a:pt x="0" y="1267460"/>
                    <a:pt x="0" y="1024890"/>
                  </a:cubicBezTo>
                  <a:close/>
                </a:path>
              </a:pathLst>
            </a:custGeom>
            <a:solidFill>
              <a:srgbClr val="3AA55D"/>
            </a:solidFill>
          </p:spPr>
        </p:sp>
        <p:sp>
          <p:nvSpPr>
            <p:cNvPr id="72" name="TextBox 72"/>
            <p:cNvSpPr txBox="1"/>
            <p:nvPr/>
          </p:nvSpPr>
          <p:spPr>
            <a:xfrm>
              <a:off x="0" y="-28575"/>
              <a:ext cx="1940039" cy="1492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Deposit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2662980" y="7412431"/>
            <a:ext cx="1455029" cy="1098137"/>
            <a:chOff x="0" y="0"/>
            <a:chExt cx="1940039" cy="1464183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940179" cy="1464183"/>
            </a:xfrm>
            <a:custGeom>
              <a:avLst/>
              <a:gdLst/>
              <a:ahLst/>
              <a:cxnLst/>
              <a:rect l="l" t="t" r="r" b="b"/>
              <a:pathLst>
                <a:path w="1940179" h="1464183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lnTo>
                    <a:pt x="1500886" y="0"/>
                  </a:lnTo>
                  <a:cubicBezTo>
                    <a:pt x="1743456" y="0"/>
                    <a:pt x="1940179" y="196723"/>
                    <a:pt x="1940179" y="439293"/>
                  </a:cubicBezTo>
                  <a:lnTo>
                    <a:pt x="1940179" y="1024890"/>
                  </a:lnTo>
                  <a:cubicBezTo>
                    <a:pt x="1940179" y="1267460"/>
                    <a:pt x="1743456" y="1464183"/>
                    <a:pt x="1500886" y="1464183"/>
                  </a:cubicBezTo>
                  <a:lnTo>
                    <a:pt x="439293" y="1464183"/>
                  </a:lnTo>
                  <a:cubicBezTo>
                    <a:pt x="196723" y="1464183"/>
                    <a:pt x="0" y="1267460"/>
                    <a:pt x="0" y="1024890"/>
                  </a:cubicBezTo>
                  <a:close/>
                </a:path>
              </a:pathLst>
            </a:custGeom>
            <a:solidFill>
              <a:srgbClr val="3AA55D"/>
            </a:solidFill>
          </p:spPr>
        </p:sp>
        <p:sp>
          <p:nvSpPr>
            <p:cNvPr id="75" name="TextBox 75"/>
            <p:cNvSpPr txBox="1"/>
            <p:nvPr/>
          </p:nvSpPr>
          <p:spPr>
            <a:xfrm>
              <a:off x="0" y="-28575"/>
              <a:ext cx="1940039" cy="1492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Entry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4227833" y="7412431"/>
            <a:ext cx="1455029" cy="1098137"/>
            <a:chOff x="0" y="0"/>
            <a:chExt cx="1940039" cy="1464183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940179" cy="1464183"/>
            </a:xfrm>
            <a:custGeom>
              <a:avLst/>
              <a:gdLst/>
              <a:ahLst/>
              <a:cxnLst/>
              <a:rect l="l" t="t" r="r" b="b"/>
              <a:pathLst>
                <a:path w="1940179" h="1464183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lnTo>
                    <a:pt x="1500886" y="0"/>
                  </a:lnTo>
                  <a:cubicBezTo>
                    <a:pt x="1743456" y="0"/>
                    <a:pt x="1940179" y="196723"/>
                    <a:pt x="1940179" y="439293"/>
                  </a:cubicBezTo>
                  <a:lnTo>
                    <a:pt x="1940179" y="1024890"/>
                  </a:lnTo>
                  <a:cubicBezTo>
                    <a:pt x="1940179" y="1267460"/>
                    <a:pt x="1743456" y="1464183"/>
                    <a:pt x="1500886" y="1464183"/>
                  </a:cubicBezTo>
                  <a:lnTo>
                    <a:pt x="439293" y="1464183"/>
                  </a:lnTo>
                  <a:cubicBezTo>
                    <a:pt x="196723" y="1464183"/>
                    <a:pt x="0" y="1267460"/>
                    <a:pt x="0" y="1024890"/>
                  </a:cubicBezTo>
                  <a:close/>
                </a:path>
              </a:pathLst>
            </a:custGeom>
            <a:solidFill>
              <a:srgbClr val="3AA55D"/>
            </a:solidFill>
          </p:spPr>
        </p:sp>
        <p:sp>
          <p:nvSpPr>
            <p:cNvPr id="78" name="TextBox 78"/>
            <p:cNvSpPr txBox="1"/>
            <p:nvPr/>
          </p:nvSpPr>
          <p:spPr>
            <a:xfrm>
              <a:off x="0" y="-28575"/>
              <a:ext cx="1940039" cy="1492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Rent review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5792676" y="7412431"/>
            <a:ext cx="1455029" cy="1098137"/>
            <a:chOff x="0" y="0"/>
            <a:chExt cx="1940039" cy="1464183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940179" cy="1464183"/>
            </a:xfrm>
            <a:custGeom>
              <a:avLst/>
              <a:gdLst/>
              <a:ahLst/>
              <a:cxnLst/>
              <a:rect l="l" t="t" r="r" b="b"/>
              <a:pathLst>
                <a:path w="1940179" h="1464183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lnTo>
                    <a:pt x="1500886" y="0"/>
                  </a:lnTo>
                  <a:cubicBezTo>
                    <a:pt x="1743456" y="0"/>
                    <a:pt x="1940179" y="196723"/>
                    <a:pt x="1940179" y="439293"/>
                  </a:cubicBezTo>
                  <a:lnTo>
                    <a:pt x="1940179" y="1024890"/>
                  </a:lnTo>
                  <a:cubicBezTo>
                    <a:pt x="1940179" y="1267460"/>
                    <a:pt x="1743456" y="1464183"/>
                    <a:pt x="1500886" y="1464183"/>
                  </a:cubicBezTo>
                  <a:lnTo>
                    <a:pt x="439293" y="1464183"/>
                  </a:lnTo>
                  <a:cubicBezTo>
                    <a:pt x="196723" y="1464183"/>
                    <a:pt x="0" y="1267460"/>
                    <a:pt x="0" y="1024890"/>
                  </a:cubicBezTo>
                  <a:close/>
                </a:path>
              </a:pathLst>
            </a:custGeom>
            <a:solidFill>
              <a:srgbClr val="E8A317"/>
            </a:solidFill>
          </p:spPr>
        </p:sp>
        <p:sp>
          <p:nvSpPr>
            <p:cNvPr id="81" name="TextBox 81"/>
            <p:cNvSpPr txBox="1"/>
            <p:nvPr/>
          </p:nvSpPr>
          <p:spPr>
            <a:xfrm>
              <a:off x="0" y="-28575"/>
              <a:ext cx="1940039" cy="1492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222B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Notice</a:t>
              </a:r>
            </a:p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222B3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table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7357520" y="7412431"/>
            <a:ext cx="1455029" cy="1098137"/>
            <a:chOff x="0" y="0"/>
            <a:chExt cx="1940039" cy="1464183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940179" cy="1464183"/>
            </a:xfrm>
            <a:custGeom>
              <a:avLst/>
              <a:gdLst/>
              <a:ahLst/>
              <a:cxnLst/>
              <a:rect l="l" t="t" r="r" b="b"/>
              <a:pathLst>
                <a:path w="1940179" h="1464183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lnTo>
                    <a:pt x="1500886" y="0"/>
                  </a:lnTo>
                  <a:cubicBezTo>
                    <a:pt x="1743456" y="0"/>
                    <a:pt x="1940179" y="196723"/>
                    <a:pt x="1940179" y="439293"/>
                  </a:cubicBezTo>
                  <a:lnTo>
                    <a:pt x="1940179" y="1024890"/>
                  </a:lnTo>
                  <a:cubicBezTo>
                    <a:pt x="1940179" y="1267460"/>
                    <a:pt x="1743456" y="1464183"/>
                    <a:pt x="1500886" y="1464183"/>
                  </a:cubicBezTo>
                  <a:lnTo>
                    <a:pt x="439293" y="1464183"/>
                  </a:lnTo>
                  <a:cubicBezTo>
                    <a:pt x="196723" y="1464183"/>
                    <a:pt x="0" y="1267460"/>
                    <a:pt x="0" y="1024890"/>
                  </a:cubicBezTo>
                  <a:close/>
                </a:path>
              </a:pathLst>
            </a:custGeom>
            <a:solidFill>
              <a:srgbClr val="1F8A9E"/>
            </a:solidFill>
          </p:spPr>
        </p:sp>
        <p:sp>
          <p:nvSpPr>
            <p:cNvPr id="84" name="TextBox 84"/>
            <p:cNvSpPr txBox="1"/>
            <p:nvPr/>
          </p:nvSpPr>
          <p:spPr>
            <a:xfrm>
              <a:off x="0" y="-28575"/>
              <a:ext cx="1940039" cy="1492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Fees</a:t>
              </a:r>
            </a:p>
            <a:p>
              <a:pPr algn="ctr">
                <a:lnSpc>
                  <a:spcPts val="1981"/>
                </a:lnSpc>
              </a:pPr>
              <a:r>
                <a:rPr lang="en-US" sz="165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new</a:t>
              </a:r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1143857" y="8705802"/>
            <a:ext cx="7389628" cy="806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F6B78"/>
                </a:solidFill>
                <a:latin typeface="Calibri (MS)"/>
                <a:ea typeface="Calibri (MS)"/>
                <a:cs typeface="Calibri (MS)"/>
                <a:sym typeface="Calibri (MS)"/>
              </a:rPr>
              <a:t>Green: in engine. Amber: termination notice table needs statute figures. Blue: to add.</a:t>
            </a:r>
          </a:p>
        </p:txBody>
      </p:sp>
      <p:grpSp>
        <p:nvGrpSpPr>
          <p:cNvPr id="86" name="Group 86"/>
          <p:cNvGrpSpPr/>
          <p:nvPr/>
        </p:nvGrpSpPr>
        <p:grpSpPr>
          <a:xfrm>
            <a:off x="9297191" y="6030230"/>
            <a:ext cx="8323736" cy="3656647"/>
            <a:chOff x="0" y="0"/>
            <a:chExt cx="11098314" cy="4875530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1098403" cy="4875530"/>
            </a:xfrm>
            <a:custGeom>
              <a:avLst/>
              <a:gdLst/>
              <a:ahLst/>
              <a:cxnLst/>
              <a:rect l="l" t="t" r="r" b="b"/>
              <a:pathLst>
                <a:path w="11098403" h="487553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952099" y="0"/>
                  </a:lnTo>
                  <a:cubicBezTo>
                    <a:pt x="11032871" y="0"/>
                    <a:pt x="11098403" y="65532"/>
                    <a:pt x="11098403" y="146304"/>
                  </a:cubicBezTo>
                  <a:lnTo>
                    <a:pt x="11098403" y="4729226"/>
                  </a:lnTo>
                  <a:cubicBezTo>
                    <a:pt x="11098403" y="4809998"/>
                    <a:pt x="11032871" y="4875530"/>
                    <a:pt x="10952099" y="4875530"/>
                  </a:cubicBezTo>
                  <a:lnTo>
                    <a:pt x="146304" y="4875530"/>
                  </a:lnTo>
                  <a:cubicBezTo>
                    <a:pt x="65532" y="4875530"/>
                    <a:pt x="0" y="4809998"/>
                    <a:pt x="0" y="472922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DE3EA"/>
              </a:solidFill>
              <a:prstDash val="solid"/>
              <a:miter/>
            </a:ln>
          </p:spPr>
        </p:sp>
      </p:grpSp>
      <p:grpSp>
        <p:nvGrpSpPr>
          <p:cNvPr id="88" name="Group 88"/>
          <p:cNvGrpSpPr/>
          <p:nvPr/>
        </p:nvGrpSpPr>
        <p:grpSpPr>
          <a:xfrm>
            <a:off x="9581255" y="6286843"/>
            <a:ext cx="686333" cy="686333"/>
            <a:chOff x="0" y="0"/>
            <a:chExt cx="915111" cy="915111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915162" cy="915162"/>
            </a:xfrm>
            <a:custGeom>
              <a:avLst/>
              <a:gdLst/>
              <a:ahLst/>
              <a:cxnLst/>
              <a:rect l="l" t="t" r="r" b="b"/>
              <a:pathLst>
                <a:path w="915162" h="915162">
                  <a:moveTo>
                    <a:pt x="0" y="457581"/>
                  </a:moveTo>
                  <a:cubicBezTo>
                    <a:pt x="0" y="204851"/>
                    <a:pt x="204851" y="0"/>
                    <a:pt x="457581" y="0"/>
                  </a:cubicBezTo>
                  <a:cubicBezTo>
                    <a:pt x="710311" y="0"/>
                    <a:pt x="915162" y="204851"/>
                    <a:pt x="915162" y="457581"/>
                  </a:cubicBezTo>
                  <a:cubicBezTo>
                    <a:pt x="915162" y="710311"/>
                    <a:pt x="710311" y="915162"/>
                    <a:pt x="457581" y="915162"/>
                  </a:cubicBezTo>
                  <a:cubicBezTo>
                    <a:pt x="204851" y="915162"/>
                    <a:pt x="0" y="710311"/>
                    <a:pt x="0" y="457581"/>
                  </a:cubicBezTo>
                  <a:close/>
                </a:path>
              </a:pathLst>
            </a:custGeom>
            <a:solidFill>
              <a:srgbClr val="3AA55D"/>
            </a:solidFill>
          </p:spPr>
        </p:sp>
        <p:sp>
          <p:nvSpPr>
            <p:cNvPr id="90" name="TextBox 90"/>
            <p:cNvSpPr txBox="1"/>
            <p:nvPr/>
          </p:nvSpPr>
          <p:spPr>
            <a:xfrm>
              <a:off x="0" y="-57150"/>
              <a:ext cx="915111" cy="9722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2"/>
                </a:lnSpc>
              </a:pPr>
              <a:r>
                <a:rPr lang="en-US" sz="2702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0473490" y="6314294"/>
            <a:ext cx="6932000" cy="686333"/>
            <a:chOff x="0" y="0"/>
            <a:chExt cx="9242666" cy="915111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9242661" cy="915115"/>
            </a:xfrm>
            <a:custGeom>
              <a:avLst/>
              <a:gdLst/>
              <a:ahLst/>
              <a:cxnLst/>
              <a:rect l="l" t="t" r="r" b="b"/>
              <a:pathLst>
                <a:path w="9242661" h="915115">
                  <a:moveTo>
                    <a:pt x="0" y="0"/>
                  </a:moveTo>
                  <a:lnTo>
                    <a:pt x="9242661" y="0"/>
                  </a:lnTo>
                  <a:lnTo>
                    <a:pt x="9242661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6799" b="-146798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66675"/>
              <a:ext cx="9242666" cy="9817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2"/>
                </a:lnSpc>
              </a:pPr>
              <a:r>
                <a:rPr lang="en-US" sz="3002" b="1">
                  <a:solidFill>
                    <a:srgbClr val="0B2A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Evaluate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9718519" y="7412431"/>
            <a:ext cx="3157147" cy="1098137"/>
            <a:chOff x="0" y="0"/>
            <a:chExt cx="4209529" cy="1464183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4209542" cy="1464183"/>
            </a:xfrm>
            <a:custGeom>
              <a:avLst/>
              <a:gdLst/>
              <a:ahLst/>
              <a:cxnLst/>
              <a:rect l="l" t="t" r="r" b="b"/>
              <a:pathLst>
                <a:path w="4209542" h="1464183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lnTo>
                    <a:pt x="3770249" y="0"/>
                  </a:lnTo>
                  <a:cubicBezTo>
                    <a:pt x="4012819" y="0"/>
                    <a:pt x="4209542" y="196723"/>
                    <a:pt x="4209542" y="439293"/>
                  </a:cubicBezTo>
                  <a:lnTo>
                    <a:pt x="4209542" y="1024890"/>
                  </a:lnTo>
                  <a:cubicBezTo>
                    <a:pt x="4209542" y="1267460"/>
                    <a:pt x="4012819" y="1464183"/>
                    <a:pt x="3770249" y="1464183"/>
                  </a:cubicBezTo>
                  <a:lnTo>
                    <a:pt x="439293" y="1464183"/>
                  </a:lnTo>
                  <a:cubicBezTo>
                    <a:pt x="196723" y="1464183"/>
                    <a:pt x="0" y="1267460"/>
                    <a:pt x="0" y="1024890"/>
                  </a:cubicBezTo>
                  <a:close/>
                </a:path>
              </a:pathLst>
            </a:custGeom>
            <a:solidFill>
              <a:srgbClr val="8A8F98"/>
            </a:solidFill>
          </p:spPr>
        </p:sp>
        <p:sp>
          <p:nvSpPr>
            <p:cNvPr id="96" name="TextBox 96"/>
            <p:cNvSpPr txBox="1"/>
            <p:nvPr/>
          </p:nvSpPr>
          <p:spPr>
            <a:xfrm>
              <a:off x="0" y="-47625"/>
              <a:ext cx="4209529" cy="1511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Keyword baseline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(now)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13012931" y="7755598"/>
            <a:ext cx="549069" cy="411804"/>
            <a:chOff x="0" y="0"/>
            <a:chExt cx="732092" cy="549072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732155" cy="549021"/>
            </a:xfrm>
            <a:custGeom>
              <a:avLst/>
              <a:gdLst/>
              <a:ahLst/>
              <a:cxnLst/>
              <a:rect l="l" t="t" r="r" b="b"/>
              <a:pathLst>
                <a:path w="732155" h="549021">
                  <a:moveTo>
                    <a:pt x="0" y="137287"/>
                  </a:moveTo>
                  <a:lnTo>
                    <a:pt x="457581" y="137287"/>
                  </a:lnTo>
                  <a:lnTo>
                    <a:pt x="457581" y="0"/>
                  </a:lnTo>
                  <a:lnTo>
                    <a:pt x="732155" y="274574"/>
                  </a:lnTo>
                  <a:lnTo>
                    <a:pt x="457581" y="549021"/>
                  </a:lnTo>
                  <a:lnTo>
                    <a:pt x="457581" y="411861"/>
                  </a:lnTo>
                  <a:lnTo>
                    <a:pt x="0" y="411861"/>
                  </a:lnTo>
                  <a:close/>
                </a:path>
              </a:pathLst>
            </a:custGeom>
            <a:solidFill>
              <a:srgbClr val="5F6B78"/>
            </a:solidFill>
          </p:spPr>
        </p:sp>
      </p:grpSp>
      <p:grpSp>
        <p:nvGrpSpPr>
          <p:cNvPr id="99" name="Group 99"/>
          <p:cNvGrpSpPr/>
          <p:nvPr/>
        </p:nvGrpSpPr>
        <p:grpSpPr>
          <a:xfrm>
            <a:off x="13699274" y="7412431"/>
            <a:ext cx="3500314" cy="1098137"/>
            <a:chOff x="0" y="0"/>
            <a:chExt cx="4667085" cy="1464183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4667123" cy="1464183"/>
            </a:xfrm>
            <a:custGeom>
              <a:avLst/>
              <a:gdLst/>
              <a:ahLst/>
              <a:cxnLst/>
              <a:rect l="l" t="t" r="r" b="b"/>
              <a:pathLst>
                <a:path w="4667123" h="1464183">
                  <a:moveTo>
                    <a:pt x="0" y="439293"/>
                  </a:moveTo>
                  <a:cubicBezTo>
                    <a:pt x="0" y="196723"/>
                    <a:pt x="196723" y="0"/>
                    <a:pt x="439293" y="0"/>
                  </a:cubicBezTo>
                  <a:lnTo>
                    <a:pt x="4227830" y="0"/>
                  </a:lnTo>
                  <a:cubicBezTo>
                    <a:pt x="4470400" y="0"/>
                    <a:pt x="4667123" y="196723"/>
                    <a:pt x="4667123" y="439293"/>
                  </a:cubicBezTo>
                  <a:lnTo>
                    <a:pt x="4667123" y="1024890"/>
                  </a:lnTo>
                  <a:cubicBezTo>
                    <a:pt x="4667123" y="1267460"/>
                    <a:pt x="4470400" y="1464183"/>
                    <a:pt x="4227830" y="1464183"/>
                  </a:cubicBezTo>
                  <a:lnTo>
                    <a:pt x="439293" y="1464183"/>
                  </a:lnTo>
                  <a:cubicBezTo>
                    <a:pt x="196723" y="1464183"/>
                    <a:pt x="0" y="1267460"/>
                    <a:pt x="0" y="1024890"/>
                  </a:cubicBezTo>
                  <a:close/>
                </a:path>
              </a:pathLst>
            </a:custGeom>
            <a:solidFill>
              <a:srgbClr val="3AA55D"/>
            </a:solidFill>
          </p:spPr>
        </p:sp>
        <p:sp>
          <p:nvSpPr>
            <p:cNvPr id="101" name="TextBox 101"/>
            <p:cNvSpPr txBox="1"/>
            <p:nvPr/>
          </p:nvSpPr>
          <p:spPr>
            <a:xfrm>
              <a:off x="0" y="-47625"/>
              <a:ext cx="4667085" cy="1511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TF-IDF + logistic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regression (new)</a:t>
              </a:r>
            </a:p>
          </p:txBody>
        </p:sp>
      </p:grpSp>
      <p:sp>
        <p:nvSpPr>
          <p:cNvPr id="102" name="TextBox 102"/>
          <p:cNvSpPr txBox="1"/>
          <p:nvPr/>
        </p:nvSpPr>
        <p:spPr>
          <a:xfrm>
            <a:off x="9764239" y="8696277"/>
            <a:ext cx="7389628" cy="816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5F6B78"/>
                </a:solidFill>
                <a:latin typeface="Calibri (MS)"/>
                <a:ea typeface="Calibri (MS)"/>
                <a:cs typeface="Calibri (MS)"/>
                <a:sym typeface="Calibri (MS)"/>
              </a:rPr>
              <a:t>Then update the report's evaluation section to the latest numbers.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3113291" y="4071865"/>
            <a:ext cx="2888460" cy="2977794"/>
          </a:xfrm>
          <a:custGeom>
            <a:avLst/>
            <a:gdLst/>
            <a:ahLst/>
            <a:cxnLst/>
            <a:rect l="l" t="t" r="r" b="b"/>
            <a:pathLst>
              <a:path w="2888460" h="2977794">
                <a:moveTo>
                  <a:pt x="0" y="0"/>
                </a:moveTo>
                <a:lnTo>
                  <a:pt x="2888460" y="0"/>
                </a:lnTo>
                <a:lnTo>
                  <a:pt x="2888460" y="2977793"/>
                </a:lnTo>
                <a:lnTo>
                  <a:pt x="0" y="29777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689050" y="1603992"/>
            <a:ext cx="2929720" cy="3150237"/>
          </a:xfrm>
          <a:custGeom>
            <a:avLst/>
            <a:gdLst/>
            <a:ahLst/>
            <a:cxnLst/>
            <a:rect l="l" t="t" r="r" b="b"/>
            <a:pathLst>
              <a:path w="2929720" h="3150237">
                <a:moveTo>
                  <a:pt x="0" y="0"/>
                </a:moveTo>
                <a:lnTo>
                  <a:pt x="2929720" y="0"/>
                </a:lnTo>
                <a:lnTo>
                  <a:pt x="2929720" y="3150237"/>
                </a:lnTo>
                <a:lnTo>
                  <a:pt x="0" y="315023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9144000" y="7049658"/>
            <a:ext cx="3688183" cy="2895224"/>
          </a:xfrm>
          <a:custGeom>
            <a:avLst/>
            <a:gdLst/>
            <a:ahLst/>
            <a:cxnLst/>
            <a:rect l="l" t="t" r="r" b="b"/>
            <a:pathLst>
              <a:path w="3688183" h="2895224">
                <a:moveTo>
                  <a:pt x="0" y="0"/>
                </a:moveTo>
                <a:lnTo>
                  <a:pt x="3688183" y="0"/>
                </a:lnTo>
                <a:lnTo>
                  <a:pt x="3688183" y="2895224"/>
                </a:lnTo>
                <a:lnTo>
                  <a:pt x="0" y="2895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859650" y="291815"/>
            <a:ext cx="12142126" cy="113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93"/>
              </a:lnSpc>
            </a:pPr>
            <a:r>
              <a:rPr lang="en-US" sz="8493" b="1">
                <a:solidFill>
                  <a:srgbClr val="F6F4F0"/>
                </a:solidFill>
                <a:latin typeface="TT Hoves Bold"/>
                <a:ea typeface="TT Hoves Bold"/>
                <a:cs typeface="TT Hoves Bold"/>
                <a:sym typeface="TT Hoves Bold"/>
              </a:rPr>
              <a:t>UPCOMING TASKS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7771" y="2394480"/>
            <a:ext cx="5799501" cy="1464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3"/>
              </a:lnSpc>
              <a:spcBef>
                <a:spcPct val="0"/>
              </a:spcBef>
            </a:pPr>
            <a:r>
              <a:rPr lang="en-US" sz="2923" b="1" spc="145">
                <a:solidFill>
                  <a:srgbClr val="F6F4F0"/>
                </a:solidFill>
                <a:latin typeface="TT Hoves Bold"/>
                <a:ea typeface="TT Hoves Bold"/>
                <a:cs typeface="TT Hoves Bold"/>
                <a:sym typeface="TT Hoves Bold"/>
              </a:rPr>
              <a:t>HAVE TO WORK ON TESTING THE SERVICES OF THE APPLICATION WITH A 10K USER COUNT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2394480"/>
            <a:ext cx="1789749" cy="379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923" b="1" spc="145">
                <a:solidFill>
                  <a:srgbClr val="F6F4F0"/>
                </a:solidFill>
                <a:latin typeface="TT Hoves Bold"/>
                <a:ea typeface="TT Hoves Bold"/>
                <a:cs typeface="TT Hoves Bold"/>
                <a:sym typeface="TT Hoves Bold"/>
              </a:rPr>
              <a:t>1)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248837" y="4993431"/>
            <a:ext cx="5799501" cy="1826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3"/>
              </a:lnSpc>
              <a:spcBef>
                <a:spcPct val="0"/>
              </a:spcBef>
            </a:pPr>
            <a:r>
              <a:rPr lang="en-US" sz="2923" b="1" spc="145">
                <a:solidFill>
                  <a:srgbClr val="F6F4F0"/>
                </a:solidFill>
                <a:latin typeface="TT Hoves Bold"/>
                <a:ea typeface="TT Hoves Bold"/>
                <a:cs typeface="TT Hoves Bold"/>
                <a:sym typeface="TT Hoves Bold"/>
              </a:rPr>
              <a:t>POST THE UI CHANGES PUSHED TO MAIN, NEED TO START WITH THE NEXT ROUND OF USER EVALUATIONS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2394480"/>
            <a:ext cx="1789749" cy="379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923" b="1" spc="145">
                <a:solidFill>
                  <a:srgbClr val="F6F4F0"/>
                </a:solidFill>
                <a:latin typeface="TT Hoves Bold"/>
                <a:ea typeface="TT Hoves Bold"/>
                <a:cs typeface="TT Hoves Bold"/>
                <a:sym typeface="TT Hoves Bold"/>
              </a:rPr>
              <a:t>1)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76054" y="4993431"/>
            <a:ext cx="1789749" cy="379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923" b="1" spc="145">
                <a:solidFill>
                  <a:srgbClr val="F6F4F0"/>
                </a:solidFill>
                <a:latin typeface="TT Hoves Bold"/>
                <a:ea typeface="TT Hoves Bold"/>
                <a:cs typeface="TT Hoves Bold"/>
                <a:sym typeface="TT Hoves Bold"/>
              </a:rPr>
              <a:t>2)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2735" y="7793391"/>
            <a:ext cx="6004537" cy="1464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3"/>
              </a:lnSpc>
              <a:spcBef>
                <a:spcPct val="0"/>
              </a:spcBef>
            </a:pPr>
            <a:r>
              <a:rPr lang="en-US" sz="2923" b="1" spc="145">
                <a:solidFill>
                  <a:srgbClr val="F6F4F0"/>
                </a:solidFill>
                <a:latin typeface="TT Hoves Bold"/>
                <a:ea typeface="TT Hoves Bold"/>
                <a:cs typeface="TT Hoves Bold"/>
                <a:sym typeface="TT Hoves Bold"/>
              </a:rPr>
              <a:t>ADD THE NEW FEATURES OF THE APPLICATION; LEASE VERSIONING AND EMAIL GENERATOR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-131978" y="7793391"/>
            <a:ext cx="1789749" cy="379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23"/>
              </a:lnSpc>
              <a:spcBef>
                <a:spcPct val="0"/>
              </a:spcBef>
            </a:pPr>
            <a:r>
              <a:rPr lang="en-US" sz="2923" b="1" spc="145">
                <a:solidFill>
                  <a:srgbClr val="F6F4F0"/>
                </a:solidFill>
                <a:latin typeface="TT Hoves Bold"/>
                <a:ea typeface="TT Hoves Bold"/>
                <a:cs typeface="TT Hoves Bold"/>
                <a:sym typeface="TT Hoves Bold"/>
              </a:rPr>
              <a:t>3)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49186" y="2112174"/>
            <a:ext cx="11031947" cy="1124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92"/>
              </a:lnSpc>
            </a:pPr>
            <a:r>
              <a:rPr lang="en-US" sz="8492" b="1" spc="-340">
                <a:solidFill>
                  <a:srgbClr val="F6F2E9"/>
                </a:solidFill>
                <a:latin typeface="TT Hoves Bold"/>
                <a:ea typeface="TT Hoves Bold"/>
                <a:cs typeface="TT Hoves Bold"/>
                <a:sym typeface="TT Hoves Bold"/>
              </a:rPr>
              <a:t>THANK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660457" y="2112174"/>
            <a:ext cx="7969560" cy="1124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92"/>
              </a:lnSpc>
            </a:pPr>
            <a:r>
              <a:rPr lang="en-US" sz="8492" b="1" spc="-340">
                <a:solidFill>
                  <a:srgbClr val="25BBA4"/>
                </a:solidFill>
                <a:latin typeface="TT Hoves Bold"/>
                <a:ea typeface="TT Hoves Bold"/>
                <a:cs typeface="TT Hoves Bold"/>
                <a:sym typeface="TT Hoves Bold"/>
              </a:rPr>
              <a:t>YOU</a:t>
            </a:r>
          </a:p>
        </p:txBody>
      </p:sp>
      <p:sp>
        <p:nvSpPr>
          <p:cNvPr id="5" name="Freeform 5"/>
          <p:cNvSpPr/>
          <p:nvPr/>
        </p:nvSpPr>
        <p:spPr>
          <a:xfrm>
            <a:off x="11250237" y="4420950"/>
            <a:ext cx="6759560" cy="5586245"/>
          </a:xfrm>
          <a:custGeom>
            <a:avLst/>
            <a:gdLst/>
            <a:ahLst/>
            <a:cxnLst/>
            <a:rect l="l" t="t" r="r" b="b"/>
            <a:pathLst>
              <a:path w="6759560" h="5586245">
                <a:moveTo>
                  <a:pt x="0" y="0"/>
                </a:moveTo>
                <a:lnTo>
                  <a:pt x="6759560" y="0"/>
                </a:lnTo>
                <a:lnTo>
                  <a:pt x="6759560" y="5586246"/>
                </a:lnTo>
                <a:lnTo>
                  <a:pt x="0" y="55862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4625903"/>
            <a:ext cx="4667035" cy="5176340"/>
          </a:xfrm>
          <a:custGeom>
            <a:avLst/>
            <a:gdLst/>
            <a:ahLst/>
            <a:cxnLst/>
            <a:rect l="l" t="t" r="r" b="b"/>
            <a:pathLst>
              <a:path w="4667035" h="5176340">
                <a:moveTo>
                  <a:pt x="0" y="0"/>
                </a:moveTo>
                <a:lnTo>
                  <a:pt x="4667035" y="0"/>
                </a:lnTo>
                <a:lnTo>
                  <a:pt x="4667035" y="5176340"/>
                </a:lnTo>
                <a:lnTo>
                  <a:pt x="0" y="51763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 rot="-458789">
            <a:off x="1935035" y="5298615"/>
            <a:ext cx="1594870" cy="458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3"/>
              </a:lnSpc>
            </a:pPr>
            <a:r>
              <a:rPr lang="en-US" sz="3423" b="1" spc="170">
                <a:solidFill>
                  <a:srgbClr val="10324E"/>
                </a:solidFill>
                <a:latin typeface="TT Hoves Bold"/>
                <a:ea typeface="TT Hoves Bold"/>
                <a:cs typeface="TT Hoves Bold"/>
                <a:sym typeface="TT Hoves Bold"/>
              </a:rPr>
              <a:t>LEASE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650</Words>
  <Application>Microsoft Office PowerPoint</Application>
  <PresentationFormat>Custom</PresentationFormat>
  <Paragraphs>133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TT Hoves</vt:lpstr>
      <vt:lpstr>Canva Sans Bold</vt:lpstr>
      <vt:lpstr>Calibri (MS)</vt:lpstr>
      <vt:lpstr>TT Hoves Bold</vt:lpstr>
      <vt:lpstr>Calibri</vt:lpstr>
      <vt:lpstr>Canva Sans</vt:lpstr>
      <vt:lpstr>Arial</vt:lpstr>
      <vt:lpstr>Calibri (MS) Bold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Template</dc:title>
  <cp:lastModifiedBy>Siddharth Varma Raja</cp:lastModifiedBy>
  <cp:revision>2</cp:revision>
  <dcterms:created xsi:type="dcterms:W3CDTF">2006-08-16T00:00:00Z</dcterms:created>
  <dcterms:modified xsi:type="dcterms:W3CDTF">2026-10-30T23:33:09Z</dcterms:modified>
  <dc:identifier>DAHZbye1V9E</dc:identifier>
</cp:coreProperties>
</file>