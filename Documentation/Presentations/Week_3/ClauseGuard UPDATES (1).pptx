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76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600740">
            <a:off x="12952346" y="-3784984"/>
            <a:ext cx="10156204" cy="10174704"/>
          </a:xfrm>
          <a:custGeom>
            <a:avLst/>
            <a:gdLst/>
            <a:ahLst/>
            <a:cxnLst/>
            <a:rect l="l" t="t" r="r" b="b"/>
            <a:pathLst>
              <a:path w="10156204" h="10174704">
                <a:moveTo>
                  <a:pt x="0" y="0"/>
                </a:moveTo>
                <a:lnTo>
                  <a:pt x="10156204" y="0"/>
                </a:lnTo>
                <a:lnTo>
                  <a:pt x="10156204" y="10174704"/>
                </a:lnTo>
                <a:lnTo>
                  <a:pt x="0" y="10174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897" y="7311760"/>
            <a:ext cx="11760820" cy="280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72"/>
              </a:lnSpc>
            </a:pPr>
            <a:r>
              <a:rPr lang="en-US" sz="7837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CLAUSEGUARD UPDATES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52034" y="8745753"/>
            <a:ext cx="10378414" cy="512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</a:pPr>
            <a:r>
              <a:rPr lang="en-US" sz="28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DETERMINISTIC COMPLIANCE FOR IRISH PRIVATE RENTALS</a:t>
            </a:r>
          </a:p>
        </p:txBody>
      </p:sp>
      <p:sp>
        <p:nvSpPr>
          <p:cNvPr id="5" name="Freeform 5"/>
          <p:cNvSpPr/>
          <p:nvPr/>
        </p:nvSpPr>
        <p:spPr>
          <a:xfrm rot="1234116">
            <a:off x="-6356066" y="-2137710"/>
            <a:ext cx="11533049" cy="11554057"/>
          </a:xfrm>
          <a:custGeom>
            <a:avLst/>
            <a:gdLst/>
            <a:ahLst/>
            <a:cxnLst/>
            <a:rect l="l" t="t" r="r" b="b"/>
            <a:pathLst>
              <a:path w="11533049" h="11554057">
                <a:moveTo>
                  <a:pt x="0" y="0"/>
                </a:moveTo>
                <a:lnTo>
                  <a:pt x="11533050" y="0"/>
                </a:lnTo>
                <a:lnTo>
                  <a:pt x="11533050" y="11554057"/>
                </a:lnTo>
                <a:lnTo>
                  <a:pt x="0" y="11554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875430">
            <a:off x="10875030" y="5199648"/>
            <a:ext cx="10156204" cy="10174704"/>
          </a:xfrm>
          <a:custGeom>
            <a:avLst/>
            <a:gdLst/>
            <a:ahLst/>
            <a:cxnLst/>
            <a:rect l="l" t="t" r="r" b="b"/>
            <a:pathLst>
              <a:path w="10156204" h="10174704">
                <a:moveTo>
                  <a:pt x="0" y="0"/>
                </a:moveTo>
                <a:lnTo>
                  <a:pt x="10156204" y="0"/>
                </a:lnTo>
                <a:lnTo>
                  <a:pt x="10156204" y="10174704"/>
                </a:lnTo>
                <a:lnTo>
                  <a:pt x="0" y="10174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0"/>
            <a:ext cx="11501543" cy="6419299"/>
          </a:xfrm>
          <a:custGeom>
            <a:avLst/>
            <a:gdLst/>
            <a:ahLst/>
            <a:cxnLst/>
            <a:rect l="l" t="t" r="r" b="b"/>
            <a:pathLst>
              <a:path w="11501543" h="6419299">
                <a:moveTo>
                  <a:pt x="0" y="0"/>
                </a:moveTo>
                <a:lnTo>
                  <a:pt x="11501543" y="0"/>
                </a:lnTo>
                <a:lnTo>
                  <a:pt x="11501543" y="6419299"/>
                </a:lnTo>
                <a:lnTo>
                  <a:pt x="0" y="6419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59095" y="289014"/>
            <a:ext cx="6528905" cy="429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402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GROUP 3</a:t>
            </a:r>
          </a:p>
          <a:p>
            <a:pPr algn="l">
              <a:lnSpc>
                <a:spcPts val="5640"/>
              </a:lnSpc>
            </a:pPr>
            <a:r>
              <a:rPr lang="en-US" sz="402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SHUBHAM(A00047193)</a:t>
            </a:r>
          </a:p>
          <a:p>
            <a:pPr algn="l">
              <a:lnSpc>
                <a:spcPts val="5640"/>
              </a:lnSpc>
            </a:pPr>
            <a:r>
              <a:rPr lang="en-US" sz="402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SIDDHARTH(A00047237)</a:t>
            </a:r>
          </a:p>
          <a:p>
            <a:pPr algn="l">
              <a:lnSpc>
                <a:spcPts val="5640"/>
              </a:lnSpc>
            </a:pPr>
            <a:r>
              <a:rPr lang="en-US" sz="402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PRASAD(A00047190)</a:t>
            </a:r>
          </a:p>
          <a:p>
            <a:pPr algn="l">
              <a:lnSpc>
                <a:spcPts val="5640"/>
              </a:lnSpc>
            </a:pPr>
            <a:r>
              <a:rPr lang="en-US" sz="402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JUDE (A00046791)</a:t>
            </a:r>
          </a:p>
          <a:p>
            <a:pPr marL="0" lvl="0" indent="0" algn="l">
              <a:lnSpc>
                <a:spcPts val="5640"/>
              </a:lnSpc>
            </a:pPr>
            <a:r>
              <a:rPr lang="en-US" sz="402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KARTHIK (A00046404)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33333">
              <a:srgbClr val="006B64">
                <a:alpha val="100000"/>
              </a:srgbClr>
            </a:gs>
            <a:gs pos="66667">
              <a:srgbClr val="007972">
                <a:alpha val="100000"/>
              </a:srgbClr>
            </a:gs>
            <a:gs pos="100000">
              <a:srgbClr val="082B2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0354" y="419150"/>
            <a:ext cx="6807912" cy="271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64"/>
              </a:lnSpc>
            </a:pPr>
            <a:r>
              <a:rPr lang="en-US" sz="6964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 CHECKER AND INTEGRATION</a:t>
            </a:r>
          </a:p>
        </p:txBody>
      </p:sp>
      <p:sp>
        <p:nvSpPr>
          <p:cNvPr id="3" name="Freeform 3"/>
          <p:cNvSpPr/>
          <p:nvPr/>
        </p:nvSpPr>
        <p:spPr>
          <a:xfrm rot="8600740">
            <a:off x="9986749" y="-3552735"/>
            <a:ext cx="11533049" cy="11554057"/>
          </a:xfrm>
          <a:custGeom>
            <a:avLst/>
            <a:gdLst/>
            <a:ahLst/>
            <a:cxnLst/>
            <a:rect l="l" t="t" r="r" b="b"/>
            <a:pathLst>
              <a:path w="11533049" h="11554057">
                <a:moveTo>
                  <a:pt x="0" y="0"/>
                </a:moveTo>
                <a:lnTo>
                  <a:pt x="11533050" y="0"/>
                </a:lnTo>
                <a:lnTo>
                  <a:pt x="11533050" y="11554057"/>
                </a:lnTo>
                <a:lnTo>
                  <a:pt x="0" y="11554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249125">
            <a:off x="-3800372" y="4092640"/>
            <a:ext cx="11533049" cy="11554057"/>
          </a:xfrm>
          <a:custGeom>
            <a:avLst/>
            <a:gdLst/>
            <a:ahLst/>
            <a:cxnLst/>
            <a:rect l="l" t="t" r="r" b="b"/>
            <a:pathLst>
              <a:path w="11533049" h="11554057">
                <a:moveTo>
                  <a:pt x="0" y="0"/>
                </a:moveTo>
                <a:lnTo>
                  <a:pt x="11533049" y="0"/>
                </a:lnTo>
                <a:lnTo>
                  <a:pt x="11533049" y="11554057"/>
                </a:lnTo>
                <a:lnTo>
                  <a:pt x="0" y="11554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66153" y="4237382"/>
            <a:ext cx="6396058" cy="88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251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Wrote the </a:t>
            </a:r>
            <a:r>
              <a:rPr lang="en-US" sz="251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difflib</a:t>
            </a:r>
            <a:r>
              <a:rPr lang="en-US" sz="251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Template Diff Engine for regular RTB warnings text.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66153" y="7159922"/>
            <a:ext cx="5920828" cy="176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Currently, the redaction of PII data being performed after scanning from OCR is being tested on and developed.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505325"/>
            <a:ext cx="614474" cy="97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8"/>
              </a:lnSpc>
            </a:pPr>
            <a:r>
              <a:rPr lang="en-US" sz="6818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0354" y="7293272"/>
            <a:ext cx="614474" cy="97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8"/>
              </a:lnSpc>
            </a:pPr>
            <a:r>
              <a:rPr lang="en-US" sz="681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37074" y="1726498"/>
            <a:ext cx="614474" cy="97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8"/>
              </a:lnSpc>
            </a:pPr>
            <a:r>
              <a:rPr lang="en-US" sz="681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52144" y="1523165"/>
            <a:ext cx="6396058" cy="307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to complete the hybrid OCR pipeline to reliably process physical scans, map the Template Diff Engine output and complete end-to-end tests with scanned PDFs and images directly feeding to the model.</a:t>
            </a:r>
          </a:p>
          <a:p>
            <a:pPr marL="0" lvl="0" indent="0" algn="l">
              <a:lnSpc>
                <a:spcPts val="3520"/>
              </a:lnSpc>
            </a:pPr>
            <a:endParaRPr lang="en-US" sz="251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29173" y="5243195"/>
            <a:ext cx="614474" cy="97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8"/>
              </a:lnSpc>
            </a:pPr>
            <a:r>
              <a:rPr lang="en-US" sz="681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52144" y="5081750"/>
            <a:ext cx="6396058" cy="176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Also need to work on scheduler to send out notification warnings for 7 days RTB timeline events.</a:t>
            </a:r>
          </a:p>
          <a:p>
            <a:pPr marL="0" lvl="0" indent="0" algn="l">
              <a:lnSpc>
                <a:spcPts val="3520"/>
              </a:lnSpc>
            </a:pPr>
            <a:endParaRPr lang="en-US" sz="251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552144" y="7524084"/>
            <a:ext cx="6396058" cy="220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25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to complete the End-to-end integration architecture (Frontend to Gateway to Modules to DB).</a:t>
            </a:r>
          </a:p>
          <a:p>
            <a:pPr algn="l">
              <a:lnSpc>
                <a:spcPts val="3520"/>
              </a:lnSpc>
            </a:pPr>
            <a:endParaRPr lang="en-US" sz="251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520"/>
              </a:lnSpc>
            </a:pPr>
            <a:endParaRPr lang="en-US" sz="251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437074" y="7657434"/>
            <a:ext cx="614474" cy="97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8"/>
              </a:lnSpc>
            </a:pPr>
            <a:r>
              <a:rPr lang="en-US" sz="681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33333">
              <a:srgbClr val="006B64">
                <a:alpha val="100000"/>
              </a:srgbClr>
            </a:gs>
            <a:gs pos="66667">
              <a:srgbClr val="007972">
                <a:alpha val="100000"/>
              </a:srgbClr>
            </a:gs>
            <a:gs pos="100000">
              <a:srgbClr val="082B2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043660"/>
            <a:ext cx="18288000" cy="7138439"/>
          </a:xfrm>
          <a:custGeom>
            <a:avLst/>
            <a:gdLst/>
            <a:ahLst/>
            <a:cxnLst/>
            <a:rect l="l" t="t" r="r" b="b"/>
            <a:pathLst>
              <a:path w="18129900" h="4056565">
                <a:moveTo>
                  <a:pt x="0" y="0"/>
                </a:moveTo>
                <a:lnTo>
                  <a:pt x="18129900" y="0"/>
                </a:lnTo>
                <a:lnTo>
                  <a:pt x="18129900" y="4056565"/>
                </a:lnTo>
                <a:lnTo>
                  <a:pt x="0" y="4056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8969" y="1256853"/>
            <a:ext cx="6807912" cy="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</a:pPr>
            <a:r>
              <a:rPr lang="en-US" sz="3664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SITEMAP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57770" y="1545016"/>
            <a:ext cx="12172461" cy="7196967"/>
          </a:xfrm>
          <a:custGeom>
            <a:avLst/>
            <a:gdLst/>
            <a:ahLst/>
            <a:cxnLst/>
            <a:rect l="l" t="t" r="r" b="b"/>
            <a:pathLst>
              <a:path w="12172461" h="7196967">
                <a:moveTo>
                  <a:pt x="0" y="0"/>
                </a:moveTo>
                <a:lnTo>
                  <a:pt x="12172460" y="0"/>
                </a:lnTo>
                <a:lnTo>
                  <a:pt x="12172460" y="7196968"/>
                </a:lnTo>
                <a:lnTo>
                  <a:pt x="0" y="719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0354" y="381050"/>
            <a:ext cx="6807912" cy="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</a:pPr>
            <a:r>
              <a:rPr lang="en-US" sz="3664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 PERSONA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19589" y="1550512"/>
            <a:ext cx="12248822" cy="7185976"/>
          </a:xfrm>
          <a:custGeom>
            <a:avLst/>
            <a:gdLst/>
            <a:ahLst/>
            <a:cxnLst/>
            <a:rect l="l" t="t" r="r" b="b"/>
            <a:pathLst>
              <a:path w="12248822" h="7185976">
                <a:moveTo>
                  <a:pt x="0" y="0"/>
                </a:moveTo>
                <a:lnTo>
                  <a:pt x="12248822" y="0"/>
                </a:lnTo>
                <a:lnTo>
                  <a:pt x="12248822" y="7185976"/>
                </a:lnTo>
                <a:lnTo>
                  <a:pt x="0" y="7185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0354" y="381050"/>
            <a:ext cx="6807912" cy="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</a:pPr>
            <a:r>
              <a:rPr lang="en-US" sz="3664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 PERSONA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3747" y="1547337"/>
            <a:ext cx="7637066" cy="7710963"/>
          </a:xfrm>
          <a:custGeom>
            <a:avLst/>
            <a:gdLst/>
            <a:ahLst/>
            <a:cxnLst/>
            <a:rect l="l" t="t" r="r" b="b"/>
            <a:pathLst>
              <a:path w="7637066" h="7710963">
                <a:moveTo>
                  <a:pt x="0" y="0"/>
                </a:moveTo>
                <a:lnTo>
                  <a:pt x="7637065" y="0"/>
                </a:lnTo>
                <a:lnTo>
                  <a:pt x="7637065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97281" y="1547337"/>
            <a:ext cx="7637066" cy="7710963"/>
          </a:xfrm>
          <a:custGeom>
            <a:avLst/>
            <a:gdLst/>
            <a:ahLst/>
            <a:cxnLst/>
            <a:rect l="l" t="t" r="r" b="b"/>
            <a:pathLst>
              <a:path w="7637066" h="7710963">
                <a:moveTo>
                  <a:pt x="0" y="0"/>
                </a:moveTo>
                <a:lnTo>
                  <a:pt x="7637066" y="0"/>
                </a:lnTo>
                <a:lnTo>
                  <a:pt x="7637066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0354" y="381050"/>
            <a:ext cx="6807912" cy="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</a:pPr>
            <a:r>
              <a:rPr lang="en-US" sz="3664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 JOURNEYS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9811" y="2093386"/>
            <a:ext cx="13708378" cy="6100228"/>
          </a:xfrm>
          <a:custGeom>
            <a:avLst/>
            <a:gdLst/>
            <a:ahLst/>
            <a:cxnLst/>
            <a:rect l="l" t="t" r="r" b="b"/>
            <a:pathLst>
              <a:path w="13708378" h="6100228">
                <a:moveTo>
                  <a:pt x="0" y="0"/>
                </a:moveTo>
                <a:lnTo>
                  <a:pt x="13708378" y="0"/>
                </a:lnTo>
                <a:lnTo>
                  <a:pt x="13708378" y="6100228"/>
                </a:lnTo>
                <a:lnTo>
                  <a:pt x="0" y="6100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0354" y="381050"/>
            <a:ext cx="6807912" cy="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</a:pPr>
            <a:r>
              <a:rPr lang="en-US" sz="3664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PAVAN USERFLOW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849" y="1215587"/>
            <a:ext cx="15026437" cy="7749446"/>
          </a:xfrm>
          <a:custGeom>
            <a:avLst/>
            <a:gdLst/>
            <a:ahLst/>
            <a:cxnLst/>
            <a:rect l="l" t="t" r="r" b="b"/>
            <a:pathLst>
              <a:path w="15026437" h="7749446">
                <a:moveTo>
                  <a:pt x="0" y="0"/>
                </a:moveTo>
                <a:lnTo>
                  <a:pt x="15026437" y="0"/>
                </a:lnTo>
                <a:lnTo>
                  <a:pt x="15026437" y="7749446"/>
                </a:lnTo>
                <a:lnTo>
                  <a:pt x="0" y="7749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0501" b="-4477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0354" y="381050"/>
            <a:ext cx="6807912" cy="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</a:pPr>
            <a:r>
              <a:rPr lang="en-US" sz="3664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ISABEL USERFLOW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4010025" cy="5235325"/>
            <a:chOff x="0" y="0"/>
            <a:chExt cx="1056138" cy="13788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378851"/>
            </a:xfrm>
            <a:custGeom>
              <a:avLst/>
              <a:gdLst/>
              <a:ahLst/>
              <a:cxnLst/>
              <a:rect l="l" t="t" r="r" b="b"/>
              <a:pathLst>
                <a:path w="1056138" h="1378851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340238"/>
                  </a:lnTo>
                  <a:cubicBezTo>
                    <a:pt x="1056138" y="1361564"/>
                    <a:pt x="1038851" y="1378851"/>
                    <a:pt x="1017525" y="1378851"/>
                  </a:cubicBezTo>
                  <a:lnTo>
                    <a:pt x="38613" y="1378851"/>
                  </a:lnTo>
                  <a:cubicBezTo>
                    <a:pt x="17288" y="1378851"/>
                    <a:pt x="0" y="1361564"/>
                    <a:pt x="0" y="1340238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solidFill>
              <a:srgbClr val="0052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6138" cy="1416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PDF text for each page, with a check for scanned files that need OCR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2457450"/>
            <a:ext cx="4010025" cy="5235325"/>
            <a:chOff x="0" y="0"/>
            <a:chExt cx="1056138" cy="13788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378851"/>
            </a:xfrm>
            <a:custGeom>
              <a:avLst/>
              <a:gdLst/>
              <a:ahLst/>
              <a:cxnLst/>
              <a:rect l="l" t="t" r="r" b="b"/>
              <a:pathLst>
                <a:path w="1056138" h="1378851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340238"/>
                  </a:lnTo>
                  <a:cubicBezTo>
                    <a:pt x="1056138" y="1361564"/>
                    <a:pt x="1038851" y="1378851"/>
                    <a:pt x="1017525" y="1378851"/>
                  </a:cubicBezTo>
                  <a:lnTo>
                    <a:pt x="38613" y="1378851"/>
                  </a:lnTo>
                  <a:cubicBezTo>
                    <a:pt x="17288" y="1378851"/>
                    <a:pt x="0" y="1361564"/>
                    <a:pt x="0" y="1340238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solidFill>
              <a:srgbClr val="0052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56138" cy="1426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split the clauses with page numbers into a numbering point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2457450"/>
            <a:ext cx="4010025" cy="5235325"/>
            <a:chOff x="0" y="0"/>
            <a:chExt cx="1056138" cy="13788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378851"/>
            </a:xfrm>
            <a:custGeom>
              <a:avLst/>
              <a:gdLst/>
              <a:ahLst/>
              <a:cxnLst/>
              <a:rect l="l" t="t" r="r" b="b"/>
              <a:pathLst>
                <a:path w="1056138" h="1378851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340238"/>
                  </a:lnTo>
                  <a:cubicBezTo>
                    <a:pt x="1056138" y="1361564"/>
                    <a:pt x="1038851" y="1378851"/>
                    <a:pt x="1017525" y="1378851"/>
                  </a:cubicBezTo>
                  <a:lnTo>
                    <a:pt x="38613" y="1378851"/>
                  </a:lnTo>
                  <a:cubicBezTo>
                    <a:pt x="17288" y="1378851"/>
                    <a:pt x="0" y="1361564"/>
                    <a:pt x="0" y="1340238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solidFill>
              <a:srgbClr val="00524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56138" cy="1426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Euro amounts and notice periods, such as €1,000 and 28 days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2457450"/>
            <a:ext cx="4010025" cy="5235325"/>
            <a:chOff x="0" y="0"/>
            <a:chExt cx="1056138" cy="13788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378851"/>
            </a:xfrm>
            <a:custGeom>
              <a:avLst/>
              <a:gdLst/>
              <a:ahLst/>
              <a:cxnLst/>
              <a:rect l="l" t="t" r="r" b="b"/>
              <a:pathLst>
                <a:path w="1056138" h="1378851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340238"/>
                  </a:lnTo>
                  <a:cubicBezTo>
                    <a:pt x="1056138" y="1361564"/>
                    <a:pt x="1038851" y="1378851"/>
                    <a:pt x="1017525" y="1378851"/>
                  </a:cubicBezTo>
                  <a:lnTo>
                    <a:pt x="38613" y="1378851"/>
                  </a:lnTo>
                  <a:cubicBezTo>
                    <a:pt x="17288" y="1378851"/>
                    <a:pt x="0" y="1361564"/>
                    <a:pt x="0" y="1340238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solidFill>
              <a:srgbClr val="00524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56138" cy="1426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 pilot clauses, with code to read, write and split them by lease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05025" y="666750"/>
            <a:ext cx="1407795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Lease PDF into clauses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3925" y="2683764"/>
            <a:ext cx="236220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2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1. Read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67325" y="2683764"/>
            <a:ext cx="236220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2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 Split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0725" y="2683764"/>
            <a:ext cx="236220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2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Extract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54125" y="2683764"/>
            <a:ext cx="236220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2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 Label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4855" y="8334692"/>
            <a:ext cx="1642310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Tested on a made-up lease and one redacted template lease. No real leases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52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43865" y="6494527"/>
            <a:ext cx="14915435" cy="1889377"/>
          </a:xfrm>
          <a:custGeom>
            <a:avLst/>
            <a:gdLst/>
            <a:ahLst/>
            <a:cxnLst/>
            <a:rect l="l" t="t" r="r" b="b"/>
            <a:pathLst>
              <a:path w="14915435" h="1889377">
                <a:moveTo>
                  <a:pt x="0" y="0"/>
                </a:moveTo>
                <a:lnTo>
                  <a:pt x="14915435" y="0"/>
                </a:lnTo>
                <a:lnTo>
                  <a:pt x="14915435" y="1889377"/>
                </a:lnTo>
                <a:lnTo>
                  <a:pt x="0" y="188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43813" y="1703373"/>
            <a:ext cx="13981166" cy="3613785"/>
            <a:chOff x="0" y="0"/>
            <a:chExt cx="18641555" cy="4818380"/>
          </a:xfrm>
        </p:grpSpPr>
        <p:sp>
          <p:nvSpPr>
            <p:cNvPr id="7" name="TextBox 7"/>
            <p:cNvSpPr txBox="1"/>
            <p:nvPr/>
          </p:nvSpPr>
          <p:spPr>
            <a:xfrm>
              <a:off x="231008" y="33284"/>
              <a:ext cx="7264400" cy="71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How we trained 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799634" y="0"/>
              <a:ext cx="7841921" cy="1422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Result on held-out Irish Acts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84300"/>
              <a:ext cx="72644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Star</a:t>
              </a:r>
              <a:r>
                <a:rPr lang="en-US" sz="2100" u="none" strike="noStrik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 with Legal-BERT (nlpaueb/bert-base-uncased-contracts)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 u="none" strike="noStrik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comes from isaacus/irish-legislative-summaries, 500 Irish Acts, CC BY 4.0 I guess. 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 u="none" strike="noStrik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Task: hide 15% of words, predict them. 5,573 training blocks, 527 held out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68626" y="1962150"/>
              <a:ext cx="7264400" cy="227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Perplexity (lower is better)</a:t>
              </a:r>
            </a:p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3.29  → 2.52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About 27% lower: the model now reads Irish statute wording better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2343865" y="8841104"/>
            <a:ext cx="11394374" cy="617767"/>
          </a:xfrm>
          <a:custGeom>
            <a:avLst/>
            <a:gdLst/>
            <a:ahLst/>
            <a:cxnLst/>
            <a:rect l="l" t="t" r="r" b="b"/>
            <a:pathLst>
              <a:path w="11394374" h="617767">
                <a:moveTo>
                  <a:pt x="0" y="0"/>
                </a:moveTo>
                <a:lnTo>
                  <a:pt x="11394374" y="0"/>
                </a:lnTo>
                <a:lnTo>
                  <a:pt x="11394374" y="617767"/>
                </a:lnTo>
                <a:lnTo>
                  <a:pt x="0" y="617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3235" y="216853"/>
            <a:ext cx="172593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LegalBert into IrishLegalbert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4777" y="3403332"/>
            <a:ext cx="7148146" cy="4369777"/>
            <a:chOff x="0" y="0"/>
            <a:chExt cx="1882639" cy="1150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82639" cy="1150888"/>
            </a:xfrm>
            <a:custGeom>
              <a:avLst/>
              <a:gdLst/>
              <a:ahLst/>
              <a:cxnLst/>
              <a:rect l="l" t="t" r="r" b="b"/>
              <a:pathLst>
                <a:path w="1882639" h="1150888">
                  <a:moveTo>
                    <a:pt x="0" y="0"/>
                  </a:moveTo>
                  <a:lnTo>
                    <a:pt x="1882639" y="0"/>
                  </a:lnTo>
                  <a:lnTo>
                    <a:pt x="1882639" y="1150888"/>
                  </a:lnTo>
                  <a:lnTo>
                    <a:pt x="0" y="1150888"/>
                  </a:lnTo>
                  <a:close/>
                </a:path>
              </a:pathLst>
            </a:custGeom>
            <a:solidFill>
              <a:srgbClr val="002E2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82639" cy="1198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94777" y="3651959"/>
            <a:ext cx="7148146" cy="43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Migrated the backend from PostgreSQL to MySQL using aiomysql and PyMySQL.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Updated SQLAlchemy models, user-role mappings, UUID handling, and async database configuration.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Created and applied Alembic migrations for users and audit_logs tables.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8692158" y="3403332"/>
            <a:ext cx="8702353" cy="4721469"/>
            <a:chOff x="0" y="0"/>
            <a:chExt cx="2291978" cy="12435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1978" cy="1243515"/>
            </a:xfrm>
            <a:custGeom>
              <a:avLst/>
              <a:gdLst/>
              <a:ahLst/>
              <a:cxnLst/>
              <a:rect l="l" t="t" r="r" b="b"/>
              <a:pathLst>
                <a:path w="2291978" h="1243515">
                  <a:moveTo>
                    <a:pt x="0" y="0"/>
                  </a:moveTo>
                  <a:lnTo>
                    <a:pt x="2291978" y="0"/>
                  </a:lnTo>
                  <a:lnTo>
                    <a:pt x="2291978" y="1243515"/>
                  </a:lnTo>
                  <a:lnTo>
                    <a:pt x="0" y="1243515"/>
                  </a:lnTo>
                  <a:close/>
                </a:path>
              </a:pathLst>
            </a:custGeom>
            <a:solidFill>
              <a:srgbClr val="002E2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291978" cy="1291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859968" y="3661484"/>
            <a:ext cx="7987273" cy="426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951" lvl="1" indent="-263475" algn="l">
              <a:lnSpc>
                <a:spcPts val="3417"/>
              </a:lnSpc>
              <a:spcBef>
                <a:spcPct val="0"/>
              </a:spcBef>
              <a:buFont typeface="Arial"/>
              <a:buChar char="•"/>
            </a:pPr>
            <a:r>
              <a:rPr lang="en-US" sz="24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Implemented Firebase authentication, token verification, role permissions, and current-user retrieval.</a:t>
            </a:r>
          </a:p>
          <a:p>
            <a:pPr algn="l">
              <a:lnSpc>
                <a:spcPts val="3417"/>
              </a:lnSpc>
              <a:spcBef>
                <a:spcPct val="0"/>
              </a:spcBef>
            </a:pPr>
            <a:endParaRPr lang="en-US" sz="244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26951" lvl="1" indent="-263475" algn="l">
              <a:lnSpc>
                <a:spcPts val="3417"/>
              </a:lnSpc>
              <a:spcBef>
                <a:spcPct val="0"/>
              </a:spcBef>
              <a:buFont typeface="Arial"/>
              <a:buChar char="•"/>
            </a:pPr>
            <a:r>
              <a:rPr lang="en-US" sz="24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Added get_token.py for local token generation and testing.</a:t>
            </a:r>
          </a:p>
          <a:p>
            <a:pPr algn="l">
              <a:lnSpc>
                <a:spcPts val="3417"/>
              </a:lnSpc>
              <a:spcBef>
                <a:spcPct val="0"/>
              </a:spcBef>
            </a:pPr>
            <a:endParaRPr lang="en-US" sz="244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26951" lvl="1" indent="-263475" algn="l">
              <a:lnSpc>
                <a:spcPts val="3417"/>
              </a:lnSpc>
              <a:spcBef>
                <a:spcPct val="0"/>
              </a:spcBef>
              <a:buFont typeface="Arial"/>
              <a:buChar char="•"/>
            </a:pPr>
            <a:r>
              <a:rPr lang="en-US" sz="24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Completed API_DOCUMENTATION.md and Postman guidance for authentication and user endpoints.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3325" y="2830244"/>
            <a:ext cx="331953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Foundation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92158" y="2830244"/>
            <a:ext cx="473727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API &amp; Documentation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28797"/>
            <a:ext cx="18288000" cy="106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Completed This Week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ClauseGuard Backend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9947" y="614545"/>
            <a:ext cx="8491969" cy="5259714"/>
          </a:xfrm>
          <a:custGeom>
            <a:avLst/>
            <a:gdLst/>
            <a:ahLst/>
            <a:cxnLst/>
            <a:rect l="l" t="t" r="r" b="b"/>
            <a:pathLst>
              <a:path w="8491969" h="5259714">
                <a:moveTo>
                  <a:pt x="0" y="0"/>
                </a:moveTo>
                <a:lnTo>
                  <a:pt x="8491970" y="0"/>
                </a:lnTo>
                <a:lnTo>
                  <a:pt x="8491970" y="5259713"/>
                </a:lnTo>
                <a:lnTo>
                  <a:pt x="0" y="5259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77127" y="614545"/>
            <a:ext cx="4693824" cy="5280778"/>
          </a:xfrm>
          <a:custGeom>
            <a:avLst/>
            <a:gdLst/>
            <a:ahLst/>
            <a:cxnLst/>
            <a:rect l="l" t="t" r="r" b="b"/>
            <a:pathLst>
              <a:path w="4693824" h="5280778">
                <a:moveTo>
                  <a:pt x="0" y="0"/>
                </a:moveTo>
                <a:lnTo>
                  <a:pt x="4693824" y="0"/>
                </a:lnTo>
                <a:lnTo>
                  <a:pt x="4693824" y="5280777"/>
                </a:lnTo>
                <a:lnTo>
                  <a:pt x="0" y="528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145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947" y="6005617"/>
            <a:ext cx="6062870" cy="4069402"/>
          </a:xfrm>
          <a:custGeom>
            <a:avLst/>
            <a:gdLst/>
            <a:ahLst/>
            <a:cxnLst/>
            <a:rect l="l" t="t" r="r" b="b"/>
            <a:pathLst>
              <a:path w="6062870" h="4069402">
                <a:moveTo>
                  <a:pt x="0" y="0"/>
                </a:moveTo>
                <a:lnTo>
                  <a:pt x="6062871" y="0"/>
                </a:lnTo>
                <a:lnTo>
                  <a:pt x="6062871" y="4069403"/>
                </a:lnTo>
                <a:lnTo>
                  <a:pt x="0" y="406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100" b="-410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48028" y="6005617"/>
            <a:ext cx="11118503" cy="1758193"/>
          </a:xfrm>
          <a:custGeom>
            <a:avLst/>
            <a:gdLst/>
            <a:ahLst/>
            <a:cxnLst/>
            <a:rect l="l" t="t" r="r" b="b"/>
            <a:pathLst>
              <a:path w="11118503" h="1758193">
                <a:moveTo>
                  <a:pt x="0" y="0"/>
                </a:moveTo>
                <a:lnTo>
                  <a:pt x="11118503" y="0"/>
                </a:lnTo>
                <a:lnTo>
                  <a:pt x="11118503" y="1758194"/>
                </a:lnTo>
                <a:lnTo>
                  <a:pt x="0" y="1758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767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04301" y="614545"/>
            <a:ext cx="3862230" cy="5259714"/>
          </a:xfrm>
          <a:custGeom>
            <a:avLst/>
            <a:gdLst/>
            <a:ahLst/>
            <a:cxnLst/>
            <a:rect l="l" t="t" r="r" b="b"/>
            <a:pathLst>
              <a:path w="3862230" h="5259714">
                <a:moveTo>
                  <a:pt x="0" y="0"/>
                </a:moveTo>
                <a:lnTo>
                  <a:pt x="3862230" y="0"/>
                </a:lnTo>
                <a:lnTo>
                  <a:pt x="3862230" y="5259713"/>
                </a:lnTo>
                <a:lnTo>
                  <a:pt x="0" y="5259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3495" b="-1924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448028" y="7973644"/>
            <a:ext cx="5119231" cy="114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 of some API requests and Audit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881287"/>
            <a:ext cx="16723381" cy="3771900"/>
            <a:chOff x="0" y="0"/>
            <a:chExt cx="4404512" cy="9934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4512" cy="993422"/>
            </a:xfrm>
            <a:custGeom>
              <a:avLst/>
              <a:gdLst/>
              <a:ahLst/>
              <a:cxnLst/>
              <a:rect l="l" t="t" r="r" b="b"/>
              <a:pathLst>
                <a:path w="4404512" h="993422">
                  <a:moveTo>
                    <a:pt x="0" y="0"/>
                  </a:moveTo>
                  <a:lnTo>
                    <a:pt x="4404512" y="0"/>
                  </a:lnTo>
                  <a:lnTo>
                    <a:pt x="4404512" y="993422"/>
                  </a:lnTo>
                  <a:lnTo>
                    <a:pt x="0" y="993422"/>
                  </a:lnTo>
                  <a:close/>
                </a:path>
              </a:pathLst>
            </a:custGeom>
            <a:solidFill>
              <a:srgbClr val="002E2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04512" cy="104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81709" y="4108669"/>
            <a:ext cx="15088012" cy="21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FastAPI endpoints for multi-page PDF upload and document retrieval.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Render PDFs into image pages using pdf2image and Poppler.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 Tesseract OCR through pytesseract, with DPI and image-preprocessing optimization.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Clean extracted text: normalize whitespace and line breaks; remove invalid headers and footers.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Persist document metadata, page text, clauses, and timestamps in MySQL with async SQLAlchemy.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Run end-to-end validation using Pytest and Postman.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7412256"/>
            <a:ext cx="16723381" cy="1996856"/>
            <a:chOff x="0" y="0"/>
            <a:chExt cx="4404512" cy="5259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04512" cy="525921"/>
            </a:xfrm>
            <a:custGeom>
              <a:avLst/>
              <a:gdLst/>
              <a:ahLst/>
              <a:cxnLst/>
              <a:rect l="l" t="t" r="r" b="b"/>
              <a:pathLst>
                <a:path w="4404512" h="525921">
                  <a:moveTo>
                    <a:pt x="0" y="0"/>
                  </a:moveTo>
                  <a:lnTo>
                    <a:pt x="4404512" y="0"/>
                  </a:lnTo>
                  <a:lnTo>
                    <a:pt x="4404512" y="525921"/>
                  </a:lnTo>
                  <a:lnTo>
                    <a:pt x="0" y="525921"/>
                  </a:lnTo>
                  <a:close/>
                </a:path>
              </a:pathLst>
            </a:custGeom>
            <a:solidFill>
              <a:srgbClr val="002E2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04512" cy="573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35409" y="3409905"/>
            <a:ext cx="44607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DELIVERY ACTIVITIES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5409" y="7748359"/>
            <a:ext cx="446079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OUTCOMES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409" y="8293929"/>
            <a:ext cx="1584208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working end-to-end pipeline that uploads a scanned PDF, extracts and cleans its text through OCR, and securely stores the output in MySQL.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607476"/>
            <a:ext cx="5067500" cy="1123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4800" b="1" u="sng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 for next week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06B64">
                <a:alpha val="100000"/>
              </a:srgbClr>
            </a:gs>
            <a:gs pos="100000">
              <a:srgbClr val="002E2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88722">
            <a:off x="-4676788" y="2022774"/>
            <a:ext cx="13550656" cy="13550656"/>
          </a:xfrm>
          <a:custGeom>
            <a:avLst/>
            <a:gdLst/>
            <a:ahLst/>
            <a:cxnLst/>
            <a:rect l="l" t="t" r="r" b="b"/>
            <a:pathLst>
              <a:path w="13550656" h="13550656">
                <a:moveTo>
                  <a:pt x="0" y="0"/>
                </a:moveTo>
                <a:lnTo>
                  <a:pt x="13550656" y="0"/>
                </a:lnTo>
                <a:lnTo>
                  <a:pt x="13550656" y="13550656"/>
                </a:lnTo>
                <a:lnTo>
                  <a:pt x="0" y="13550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56608" y="7830278"/>
            <a:ext cx="9202692" cy="142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347"/>
              </a:lnSpc>
            </a:pPr>
            <a:r>
              <a:rPr lang="en-US" sz="949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528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 Bold</vt:lpstr>
      <vt:lpstr>Calibri</vt:lpstr>
      <vt:lpstr>Canva Sans</vt:lpstr>
      <vt:lpstr>Arial</vt:lpstr>
      <vt:lpstr>Canva Sans Bold</vt:lpstr>
      <vt:lpstr>Poppins Semi-Bold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ClauseGuard UPDATES</dc:title>
  <cp:lastModifiedBy>Siddharth Varma Raja</cp:lastModifiedBy>
  <cp:revision>6</cp:revision>
  <dcterms:created xsi:type="dcterms:W3CDTF">2006-08-16T00:00:00Z</dcterms:created>
  <dcterms:modified xsi:type="dcterms:W3CDTF">2026-10-09T12:26:35Z</dcterms:modified>
  <dc:identifier>DAHXXrnegQM</dc:identifier>
</cp:coreProperties>
</file>