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ooper Hewitt Bold" charset="1" panose="00000000000000000000"/>
      <p:regular r:id="rId20"/>
    </p:embeddedFont>
    <p:embeddedFont>
      <p:font typeface="Inter" charset="1" panose="02000503000000020004"/>
      <p:regular r:id="rId21"/>
    </p:embeddedFont>
    <p:embeddedFont>
      <p:font typeface="Canva Sans" charset="1" panose="020B0503030501040103"/>
      <p:regular r:id="rId22"/>
    </p:embeddedFont>
    <p:embeddedFont>
      <p:font typeface="Canva Sans Bold" charset="1" panose="020B0803030501040103"/>
      <p:regular r:id="rId23"/>
    </p:embeddedFont>
    <p:embeddedFont>
      <p:font typeface="TT Fors Bold" charset="1" panose="020B0003030001020000"/>
      <p:regular r:id="rId24"/>
    </p:embeddedFont>
    <p:embeddedFont>
      <p:font typeface="Segoe UI Bold" charset="1" panose="020B0802040204020203"/>
      <p:regular r:id="rId25"/>
    </p:embeddedFont>
    <p:embeddedFont>
      <p:font typeface="Segoe UI" charset="1" panose="020B05020402040202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F1216"/>
        </a:solidFill>
      </p:bgPr>
    </p:bg>
    <p:spTree>
      <p:nvGrpSpPr>
        <p:cNvPr id="1" name=""/>
        <p:cNvGrpSpPr/>
        <p:nvPr/>
      </p:nvGrpSpPr>
      <p:grpSpPr>
        <a:xfrm>
          <a:off x="0" y="0"/>
          <a:ext cx="0" cy="0"/>
          <a:chOff x="0" y="0"/>
          <a:chExt cx="0" cy="0"/>
        </a:xfrm>
      </p:grpSpPr>
      <p:sp>
        <p:nvSpPr>
          <p:cNvPr name="Freeform 2" id="2"/>
          <p:cNvSpPr/>
          <p:nvPr/>
        </p:nvSpPr>
        <p:spPr>
          <a:xfrm flipH="false" flipV="false" rot="0">
            <a:off x="4503874" y="1028700"/>
            <a:ext cx="9280252" cy="5220142"/>
          </a:xfrm>
          <a:custGeom>
            <a:avLst/>
            <a:gdLst/>
            <a:ahLst/>
            <a:cxnLst/>
            <a:rect r="r" b="b" t="t" l="l"/>
            <a:pathLst>
              <a:path h="5220142" w="9280252">
                <a:moveTo>
                  <a:pt x="0" y="0"/>
                </a:moveTo>
                <a:lnTo>
                  <a:pt x="9280252" y="0"/>
                </a:lnTo>
                <a:lnTo>
                  <a:pt x="9280252" y="5220142"/>
                </a:lnTo>
                <a:lnTo>
                  <a:pt x="0" y="5220142"/>
                </a:lnTo>
                <a:lnTo>
                  <a:pt x="0" y="0"/>
                </a:lnTo>
                <a:close/>
              </a:path>
            </a:pathLst>
          </a:custGeom>
          <a:blipFill>
            <a:blip r:embed="rId2"/>
            <a:stretch>
              <a:fillRect l="0" t="0" r="0" b="0"/>
            </a:stretch>
          </a:blipFill>
        </p:spPr>
      </p:sp>
      <p:sp>
        <p:nvSpPr>
          <p:cNvPr name="TextBox 3" id="3"/>
          <p:cNvSpPr txBox="true"/>
          <p:nvPr/>
        </p:nvSpPr>
        <p:spPr>
          <a:xfrm rot="0">
            <a:off x="1028700" y="6451808"/>
            <a:ext cx="9834260" cy="3471708"/>
          </a:xfrm>
          <a:prstGeom prst="rect">
            <a:avLst/>
          </a:prstGeom>
        </p:spPr>
        <p:txBody>
          <a:bodyPr anchor="t" rtlCol="false" tIns="0" lIns="0" bIns="0" rIns="0">
            <a:spAutoFit/>
          </a:bodyPr>
          <a:lstStyle/>
          <a:p>
            <a:pPr algn="l" marL="0" indent="0" lvl="0">
              <a:lnSpc>
                <a:spcPts val="12871"/>
              </a:lnSpc>
            </a:pPr>
            <a:r>
              <a:rPr lang="en-US" b="true" sz="9193">
                <a:solidFill>
                  <a:srgbClr val="E3E5E5"/>
                </a:solidFill>
                <a:latin typeface="Cooper Hewitt Bold"/>
                <a:ea typeface="Cooper Hewitt Bold"/>
                <a:cs typeface="Cooper Hewitt Bold"/>
                <a:sym typeface="Cooper Hewitt Bold"/>
              </a:rPr>
              <a:t>ClauseGuard</a:t>
            </a:r>
          </a:p>
          <a:p>
            <a:pPr algn="l" marL="0" indent="0" lvl="0">
              <a:lnSpc>
                <a:spcPts val="12871"/>
              </a:lnSpc>
            </a:pPr>
            <a:r>
              <a:rPr lang="en-US" b="true" sz="9193">
                <a:solidFill>
                  <a:srgbClr val="E3E5E5"/>
                </a:solidFill>
                <a:latin typeface="Cooper Hewitt Bold"/>
                <a:ea typeface="Cooper Hewitt Bold"/>
                <a:cs typeface="Cooper Hewitt Bold"/>
                <a:sym typeface="Cooper Hewitt Bold"/>
              </a:rPr>
              <a:t>Updates</a:t>
            </a:r>
          </a:p>
        </p:txBody>
      </p:sp>
      <p:sp>
        <p:nvSpPr>
          <p:cNvPr name="TextBox 4" id="4"/>
          <p:cNvSpPr txBox="true"/>
          <p:nvPr/>
        </p:nvSpPr>
        <p:spPr>
          <a:xfrm rot="0">
            <a:off x="12178177" y="7107551"/>
            <a:ext cx="5081123" cy="1749461"/>
          </a:xfrm>
          <a:prstGeom prst="rect">
            <a:avLst/>
          </a:prstGeom>
        </p:spPr>
        <p:txBody>
          <a:bodyPr anchor="t" rtlCol="false" tIns="0" lIns="0" bIns="0" rIns="0">
            <a:spAutoFit/>
          </a:bodyPr>
          <a:lstStyle/>
          <a:p>
            <a:pPr algn="just" marL="0" indent="0" lvl="0">
              <a:lnSpc>
                <a:spcPts val="2798"/>
              </a:lnSpc>
            </a:pPr>
            <a:r>
              <a:rPr lang="en-US" sz="1998">
                <a:solidFill>
                  <a:srgbClr val="E3E5E5"/>
                </a:solidFill>
                <a:latin typeface="Inter"/>
                <a:ea typeface="Inter"/>
                <a:cs typeface="Inter"/>
                <a:sym typeface="Inter"/>
              </a:rPr>
              <a:t>A private rental specific deterministic point-in-time compliance engine and shared tenancy ledger. Keeping landlords, tenants and agents completely up-to-date on RTB rules.</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3F3F5"/>
        </a:solidFill>
      </p:bgPr>
    </p:bg>
    <p:spTree>
      <p:nvGrpSpPr>
        <p:cNvPr id="1" name=""/>
        <p:cNvGrpSpPr/>
        <p:nvPr/>
      </p:nvGrpSpPr>
      <p:grpSpPr>
        <a:xfrm>
          <a:off x="0" y="0"/>
          <a:ext cx="0" cy="0"/>
          <a:chOff x="0" y="0"/>
          <a:chExt cx="0" cy="0"/>
        </a:xfrm>
      </p:grpSpPr>
      <p:grpSp>
        <p:nvGrpSpPr>
          <p:cNvPr name="Group 2" id="2"/>
          <p:cNvGrpSpPr/>
          <p:nvPr/>
        </p:nvGrpSpPr>
        <p:grpSpPr>
          <a:xfrm rot="0">
            <a:off x="411350" y="2729978"/>
            <a:ext cx="3051254" cy="4287452"/>
            <a:chOff x="0" y="0"/>
            <a:chExt cx="803623" cy="1129205"/>
          </a:xfrm>
        </p:grpSpPr>
        <p:sp>
          <p:nvSpPr>
            <p:cNvPr name="Freeform 3" id="3"/>
            <p:cNvSpPr/>
            <p:nvPr/>
          </p:nvSpPr>
          <p:spPr>
            <a:xfrm flipH="false" flipV="false" rot="0">
              <a:off x="0" y="0"/>
              <a:ext cx="803623" cy="1129205"/>
            </a:xfrm>
            <a:custGeom>
              <a:avLst/>
              <a:gdLst/>
              <a:ahLst/>
              <a:cxnLst/>
              <a:rect r="r" b="b" t="t" l="l"/>
              <a:pathLst>
                <a:path h="1129205" w="803623">
                  <a:moveTo>
                    <a:pt x="50746" y="0"/>
                  </a:moveTo>
                  <a:lnTo>
                    <a:pt x="752877" y="0"/>
                  </a:lnTo>
                  <a:cubicBezTo>
                    <a:pt x="766335" y="0"/>
                    <a:pt x="779243" y="5346"/>
                    <a:pt x="788759" y="14863"/>
                  </a:cubicBezTo>
                  <a:cubicBezTo>
                    <a:pt x="798276" y="24380"/>
                    <a:pt x="803623" y="37287"/>
                    <a:pt x="803623" y="50746"/>
                  </a:cubicBezTo>
                  <a:lnTo>
                    <a:pt x="803623" y="1078460"/>
                  </a:lnTo>
                  <a:cubicBezTo>
                    <a:pt x="803623" y="1106486"/>
                    <a:pt x="780903" y="1129205"/>
                    <a:pt x="752877" y="1129205"/>
                  </a:cubicBezTo>
                  <a:lnTo>
                    <a:pt x="50746" y="1129205"/>
                  </a:lnTo>
                  <a:cubicBezTo>
                    <a:pt x="22720" y="1129205"/>
                    <a:pt x="0" y="1106486"/>
                    <a:pt x="0" y="1078460"/>
                  </a:cubicBezTo>
                  <a:lnTo>
                    <a:pt x="0" y="50746"/>
                  </a:lnTo>
                  <a:cubicBezTo>
                    <a:pt x="0" y="22720"/>
                    <a:pt x="22720" y="0"/>
                    <a:pt x="50746" y="0"/>
                  </a:cubicBezTo>
                  <a:close/>
                </a:path>
              </a:pathLst>
            </a:custGeom>
            <a:solidFill>
              <a:srgbClr val="000000"/>
            </a:solidFill>
          </p:spPr>
        </p:sp>
        <p:sp>
          <p:nvSpPr>
            <p:cNvPr name="TextBox 4" id="4"/>
            <p:cNvSpPr txBox="true"/>
            <p:nvPr/>
          </p:nvSpPr>
          <p:spPr>
            <a:xfrm>
              <a:off x="0" y="-9525"/>
              <a:ext cx="803623" cy="1138730"/>
            </a:xfrm>
            <a:prstGeom prst="rect">
              <a:avLst/>
            </a:prstGeom>
          </p:spPr>
          <p:txBody>
            <a:bodyPr anchor="ctr" rtlCol="false" tIns="50800" lIns="50800" bIns="50800" rIns="50800"/>
            <a:lstStyle/>
            <a:p>
              <a:pPr algn="just">
                <a:lnSpc>
                  <a:spcPts val="2419"/>
                </a:lnSpc>
              </a:pPr>
            </a:p>
            <a:p>
              <a:pPr algn="just">
                <a:lnSpc>
                  <a:spcPts val="2419"/>
                </a:lnSpc>
              </a:pPr>
            </a:p>
            <a:p>
              <a:pPr algn="just">
                <a:lnSpc>
                  <a:spcPts val="2298"/>
                </a:lnSpc>
              </a:pPr>
            </a:p>
            <a:p>
              <a:pPr algn="l">
                <a:lnSpc>
                  <a:spcPts val="2298"/>
                </a:lnSpc>
              </a:pPr>
              <a:r>
                <a:rPr lang="en-US" sz="1899">
                  <a:solidFill>
                    <a:srgbClr val="FFFFFF"/>
                  </a:solidFill>
                  <a:latin typeface="Canva Sans"/>
                  <a:ea typeface="Canva Sans"/>
                  <a:cs typeface="Canva Sans"/>
                  <a:sym typeface="Canva Sans"/>
                </a:rPr>
                <a:t>New users can create an account and log in</a:t>
              </a:r>
            </a:p>
            <a:p>
              <a:pPr algn="just">
                <a:lnSpc>
                  <a:spcPts val="2298"/>
                </a:lnSpc>
              </a:pPr>
              <a:r>
                <a:rPr lang="en-US" sz="1899">
                  <a:solidFill>
                    <a:srgbClr val="FFFFFF"/>
                  </a:solidFill>
                  <a:latin typeface="Canva Sans"/>
                  <a:ea typeface="Canva Sans"/>
                  <a:cs typeface="Canva Sans"/>
                  <a:sym typeface="Canva Sans"/>
                </a:rPr>
                <a:t>after implementing</a:t>
              </a:r>
              <a:r>
                <a:rPr lang="en-US" sz="1899">
                  <a:solidFill>
                    <a:srgbClr val="FFFFFF"/>
                  </a:solidFill>
                  <a:latin typeface="Canva Sans"/>
                  <a:ea typeface="Canva Sans"/>
                  <a:cs typeface="Canva Sans"/>
                  <a:sym typeface="Canva Sans"/>
                </a:rPr>
                <a:t> Firebase Authentication by email/password login</a:t>
              </a:r>
            </a:p>
            <a:p>
              <a:pPr algn="just">
                <a:lnSpc>
                  <a:spcPts val="2298"/>
                </a:lnSpc>
              </a:pPr>
              <a:r>
                <a:rPr lang="en-US" sz="1899">
                  <a:solidFill>
                    <a:srgbClr val="FFFFFF"/>
                  </a:solidFill>
                  <a:latin typeface="Canva Sans"/>
                  <a:ea typeface="Canva Sans"/>
                  <a:cs typeface="Canva Sans"/>
                  <a:sym typeface="Canva Sans"/>
                </a:rPr>
                <a:t>(Google sign in supported too)</a:t>
              </a:r>
              <a:r>
                <a:rPr lang="en-US" sz="1899">
                  <a:solidFill>
                    <a:srgbClr val="FFFFFF"/>
                  </a:solidFill>
                  <a:latin typeface="Canva Sans"/>
                  <a:ea typeface="Canva Sans"/>
                  <a:cs typeface="Canva Sans"/>
                  <a:sym typeface="Canva Sans"/>
                </a:rPr>
                <a:t> </a:t>
              </a:r>
            </a:p>
            <a:p>
              <a:pPr algn="just">
                <a:lnSpc>
                  <a:spcPts val="2419"/>
                </a:lnSpc>
              </a:pPr>
            </a:p>
          </p:txBody>
        </p:sp>
      </p:grpSp>
      <p:grpSp>
        <p:nvGrpSpPr>
          <p:cNvPr name="Group 5" id="5"/>
          <p:cNvGrpSpPr/>
          <p:nvPr/>
        </p:nvGrpSpPr>
        <p:grpSpPr>
          <a:xfrm rot="0">
            <a:off x="3866505" y="2729978"/>
            <a:ext cx="2881042" cy="4287452"/>
            <a:chOff x="0" y="0"/>
            <a:chExt cx="758793" cy="1129205"/>
          </a:xfrm>
        </p:grpSpPr>
        <p:sp>
          <p:nvSpPr>
            <p:cNvPr name="Freeform 6" id="6"/>
            <p:cNvSpPr/>
            <p:nvPr/>
          </p:nvSpPr>
          <p:spPr>
            <a:xfrm flipH="false" flipV="false" rot="0">
              <a:off x="0" y="0"/>
              <a:ext cx="758793" cy="1129205"/>
            </a:xfrm>
            <a:custGeom>
              <a:avLst/>
              <a:gdLst/>
              <a:ahLst/>
              <a:cxnLst/>
              <a:rect r="r" b="b" t="t" l="l"/>
              <a:pathLst>
                <a:path h="1129205" w="758793">
                  <a:moveTo>
                    <a:pt x="53744" y="0"/>
                  </a:moveTo>
                  <a:lnTo>
                    <a:pt x="705049" y="0"/>
                  </a:lnTo>
                  <a:cubicBezTo>
                    <a:pt x="719303" y="0"/>
                    <a:pt x="732973" y="5662"/>
                    <a:pt x="743052" y="15741"/>
                  </a:cubicBezTo>
                  <a:cubicBezTo>
                    <a:pt x="753131" y="25820"/>
                    <a:pt x="758793" y="39490"/>
                    <a:pt x="758793" y="53744"/>
                  </a:cubicBezTo>
                  <a:lnTo>
                    <a:pt x="758793" y="1075461"/>
                  </a:lnTo>
                  <a:cubicBezTo>
                    <a:pt x="758793" y="1089715"/>
                    <a:pt x="753131" y="1103385"/>
                    <a:pt x="743052" y="1113464"/>
                  </a:cubicBezTo>
                  <a:cubicBezTo>
                    <a:pt x="732973" y="1123543"/>
                    <a:pt x="719303" y="1129205"/>
                    <a:pt x="705049" y="1129205"/>
                  </a:cubicBezTo>
                  <a:lnTo>
                    <a:pt x="53744" y="1129205"/>
                  </a:lnTo>
                  <a:cubicBezTo>
                    <a:pt x="39490" y="1129205"/>
                    <a:pt x="25820" y="1123543"/>
                    <a:pt x="15741" y="1113464"/>
                  </a:cubicBezTo>
                  <a:cubicBezTo>
                    <a:pt x="5662" y="1103385"/>
                    <a:pt x="0" y="1089715"/>
                    <a:pt x="0" y="1075461"/>
                  </a:cubicBezTo>
                  <a:lnTo>
                    <a:pt x="0" y="53744"/>
                  </a:lnTo>
                  <a:cubicBezTo>
                    <a:pt x="0" y="39490"/>
                    <a:pt x="5662" y="25820"/>
                    <a:pt x="15741" y="15741"/>
                  </a:cubicBezTo>
                  <a:cubicBezTo>
                    <a:pt x="25820" y="5662"/>
                    <a:pt x="39490" y="0"/>
                    <a:pt x="53744" y="0"/>
                  </a:cubicBezTo>
                  <a:close/>
                </a:path>
              </a:pathLst>
            </a:custGeom>
            <a:solidFill>
              <a:srgbClr val="000000"/>
            </a:solidFill>
          </p:spPr>
        </p:sp>
        <p:sp>
          <p:nvSpPr>
            <p:cNvPr name="TextBox 7" id="7"/>
            <p:cNvSpPr txBox="true"/>
            <p:nvPr/>
          </p:nvSpPr>
          <p:spPr>
            <a:xfrm>
              <a:off x="0" y="-38100"/>
              <a:ext cx="758793" cy="1167305"/>
            </a:xfrm>
            <a:prstGeom prst="rect">
              <a:avLst/>
            </a:prstGeom>
          </p:spPr>
          <p:txBody>
            <a:bodyPr anchor="ctr" rtlCol="false" tIns="50800" lIns="50800" bIns="50800" rIns="50800"/>
            <a:lstStyle/>
            <a:p>
              <a:pPr algn="l">
                <a:lnSpc>
                  <a:spcPts val="2799"/>
                </a:lnSpc>
              </a:pPr>
              <a:r>
                <a:rPr lang="en-US" sz="1999">
                  <a:solidFill>
                    <a:srgbClr val="FFFFFF"/>
                  </a:solidFill>
                  <a:latin typeface="Canva Sans"/>
                  <a:ea typeface="Canva Sans"/>
                  <a:cs typeface="Canva Sans"/>
                  <a:sym typeface="Canva Sans"/>
                </a:rPr>
                <a:t>Passwords are entirely handled by firebase, which is hashed and never stored in our database</a:t>
              </a:r>
            </a:p>
            <a:p>
              <a:pPr algn="l">
                <a:lnSpc>
                  <a:spcPts val="2799"/>
                </a:lnSpc>
              </a:pPr>
            </a:p>
          </p:txBody>
        </p:sp>
      </p:grpSp>
      <p:grpSp>
        <p:nvGrpSpPr>
          <p:cNvPr name="Group 8" id="8"/>
          <p:cNvGrpSpPr/>
          <p:nvPr/>
        </p:nvGrpSpPr>
        <p:grpSpPr>
          <a:xfrm rot="0">
            <a:off x="7147597" y="2719114"/>
            <a:ext cx="3180697" cy="4698826"/>
            <a:chOff x="0" y="0"/>
            <a:chExt cx="837714" cy="1237551"/>
          </a:xfrm>
        </p:grpSpPr>
        <p:sp>
          <p:nvSpPr>
            <p:cNvPr name="Freeform 9" id="9"/>
            <p:cNvSpPr/>
            <p:nvPr/>
          </p:nvSpPr>
          <p:spPr>
            <a:xfrm flipH="false" flipV="false" rot="0">
              <a:off x="0" y="0"/>
              <a:ext cx="837714" cy="1237551"/>
            </a:xfrm>
            <a:custGeom>
              <a:avLst/>
              <a:gdLst/>
              <a:ahLst/>
              <a:cxnLst/>
              <a:rect r="r" b="b" t="t" l="l"/>
              <a:pathLst>
                <a:path h="1237551" w="837714">
                  <a:moveTo>
                    <a:pt x="48681" y="0"/>
                  </a:moveTo>
                  <a:lnTo>
                    <a:pt x="789034" y="0"/>
                  </a:lnTo>
                  <a:cubicBezTo>
                    <a:pt x="815919" y="0"/>
                    <a:pt x="837714" y="21795"/>
                    <a:pt x="837714" y="48681"/>
                  </a:cubicBezTo>
                  <a:lnTo>
                    <a:pt x="837714" y="1188870"/>
                  </a:lnTo>
                  <a:cubicBezTo>
                    <a:pt x="837714" y="1201781"/>
                    <a:pt x="832586" y="1214163"/>
                    <a:pt x="823456" y="1223293"/>
                  </a:cubicBezTo>
                  <a:cubicBezTo>
                    <a:pt x="814327" y="1232422"/>
                    <a:pt x="801945" y="1237551"/>
                    <a:pt x="789034" y="1237551"/>
                  </a:cubicBezTo>
                  <a:lnTo>
                    <a:pt x="48681" y="1237551"/>
                  </a:lnTo>
                  <a:cubicBezTo>
                    <a:pt x="21795" y="1237551"/>
                    <a:pt x="0" y="1215756"/>
                    <a:pt x="0" y="1188870"/>
                  </a:cubicBezTo>
                  <a:lnTo>
                    <a:pt x="0" y="48681"/>
                  </a:lnTo>
                  <a:cubicBezTo>
                    <a:pt x="0" y="35770"/>
                    <a:pt x="5129" y="23388"/>
                    <a:pt x="14258" y="14258"/>
                  </a:cubicBezTo>
                  <a:cubicBezTo>
                    <a:pt x="23388" y="5129"/>
                    <a:pt x="35770" y="0"/>
                    <a:pt x="48681" y="0"/>
                  </a:cubicBezTo>
                  <a:close/>
                </a:path>
              </a:pathLst>
            </a:custGeom>
            <a:solidFill>
              <a:srgbClr val="000000"/>
            </a:solidFill>
          </p:spPr>
        </p:sp>
        <p:sp>
          <p:nvSpPr>
            <p:cNvPr name="TextBox 10" id="10"/>
            <p:cNvSpPr txBox="true"/>
            <p:nvPr/>
          </p:nvSpPr>
          <p:spPr>
            <a:xfrm>
              <a:off x="0" y="-47625"/>
              <a:ext cx="837714" cy="1285176"/>
            </a:xfrm>
            <a:prstGeom prst="rect">
              <a:avLst/>
            </a:prstGeom>
          </p:spPr>
          <p:txBody>
            <a:bodyPr anchor="ctr" rtlCol="false" tIns="50800" lIns="50800" bIns="50800" rIns="50800"/>
            <a:lstStyle/>
            <a:p>
              <a:pPr algn="l">
                <a:lnSpc>
                  <a:spcPts val="2800"/>
                </a:lnSpc>
              </a:pPr>
            </a:p>
            <a:p>
              <a:pPr algn="l">
                <a:lnSpc>
                  <a:spcPts val="2800"/>
                </a:lnSpc>
              </a:pPr>
            </a:p>
            <a:p>
              <a:pPr algn="l">
                <a:lnSpc>
                  <a:spcPts val="2800"/>
                </a:lnSpc>
              </a:pPr>
            </a:p>
            <a:p>
              <a:pPr algn="l">
                <a:lnSpc>
                  <a:spcPts val="2800"/>
                </a:lnSpc>
              </a:pPr>
              <a:r>
                <a:rPr lang="en-US" sz="2000">
                  <a:solidFill>
                    <a:srgbClr val="FFFFFF"/>
                  </a:solidFill>
                  <a:latin typeface="Canva Sans"/>
                  <a:ea typeface="Canva Sans"/>
                  <a:cs typeface="Canva Sans"/>
                  <a:sym typeface="Canva Sans"/>
                </a:rPr>
                <a:t>To manage session handling, firebase id tokens (JWT) will be used. These will be verified on each request to check if the user is logged previously or not which helps users to stay logged in</a:t>
              </a:r>
            </a:p>
            <a:p>
              <a:pPr algn="l">
                <a:lnSpc>
                  <a:spcPts val="2800"/>
                </a:lnSpc>
              </a:pPr>
            </a:p>
          </p:txBody>
        </p:sp>
      </p:grpSp>
      <p:sp>
        <p:nvSpPr>
          <p:cNvPr name="TextBox 11" id="11"/>
          <p:cNvSpPr txBox="true"/>
          <p:nvPr/>
        </p:nvSpPr>
        <p:spPr>
          <a:xfrm rot="0">
            <a:off x="1083555" y="8006715"/>
            <a:ext cx="15750320" cy="1251585"/>
          </a:xfrm>
          <a:prstGeom prst="rect">
            <a:avLst/>
          </a:prstGeom>
        </p:spPr>
        <p:txBody>
          <a:bodyPr anchor="t" rtlCol="false" tIns="0" lIns="0" bIns="0" rIns="0">
            <a:spAutoFit/>
          </a:bodyPr>
          <a:lstStyle/>
          <a:p>
            <a:pPr algn="l">
              <a:lnSpc>
                <a:spcPts val="5040"/>
              </a:lnSpc>
            </a:pPr>
            <a:r>
              <a:rPr lang="en-US" sz="3600">
                <a:solidFill>
                  <a:srgbClr val="1C1F1B"/>
                </a:solidFill>
                <a:latin typeface="Canva Sans"/>
                <a:ea typeface="Canva Sans"/>
                <a:cs typeface="Canva Sans"/>
                <a:sym typeface="Canva Sans"/>
              </a:rPr>
              <a:t>Main goal of this sprint is to develop a working login system services of  sign up, log in, and profile updations</a:t>
            </a:r>
          </a:p>
        </p:txBody>
      </p:sp>
      <p:sp>
        <p:nvSpPr>
          <p:cNvPr name="TextBox 12" id="12"/>
          <p:cNvSpPr txBox="true"/>
          <p:nvPr/>
        </p:nvSpPr>
        <p:spPr>
          <a:xfrm rot="0">
            <a:off x="7062734" y="9191625"/>
            <a:ext cx="4614691" cy="613410"/>
          </a:xfrm>
          <a:prstGeom prst="rect">
            <a:avLst/>
          </a:prstGeom>
        </p:spPr>
        <p:txBody>
          <a:bodyPr anchor="t" rtlCol="false" tIns="0" lIns="0" bIns="0" rIns="0">
            <a:spAutoFit/>
          </a:bodyPr>
          <a:lstStyle/>
          <a:p>
            <a:pPr algn="l">
              <a:lnSpc>
                <a:spcPts val="5040"/>
              </a:lnSpc>
            </a:pPr>
            <a:r>
              <a:rPr lang="en-US" sz="3600">
                <a:solidFill>
                  <a:srgbClr val="F3F3F5"/>
                </a:solidFill>
                <a:latin typeface="Canva Sans"/>
                <a:ea typeface="Canva Sans"/>
                <a:cs typeface="Canva Sans"/>
                <a:sym typeface="Canva Sans"/>
              </a:rPr>
              <a:t>Agenda point 2</a:t>
            </a:r>
          </a:p>
        </p:txBody>
      </p:sp>
      <p:sp>
        <p:nvSpPr>
          <p:cNvPr name="TextBox 13" id="13"/>
          <p:cNvSpPr txBox="true"/>
          <p:nvPr/>
        </p:nvSpPr>
        <p:spPr>
          <a:xfrm rot="0">
            <a:off x="12589755" y="8644890"/>
            <a:ext cx="4614691" cy="613410"/>
          </a:xfrm>
          <a:prstGeom prst="rect">
            <a:avLst/>
          </a:prstGeom>
        </p:spPr>
        <p:txBody>
          <a:bodyPr anchor="t" rtlCol="false" tIns="0" lIns="0" bIns="0" rIns="0">
            <a:spAutoFit/>
          </a:bodyPr>
          <a:lstStyle/>
          <a:p>
            <a:pPr algn="l">
              <a:lnSpc>
                <a:spcPts val="5040"/>
              </a:lnSpc>
            </a:pPr>
            <a:r>
              <a:rPr lang="en-US" sz="3600">
                <a:solidFill>
                  <a:srgbClr val="F3F3F5"/>
                </a:solidFill>
                <a:latin typeface="Canva Sans"/>
                <a:ea typeface="Canva Sans"/>
                <a:cs typeface="Canva Sans"/>
                <a:sym typeface="Canva Sans"/>
              </a:rPr>
              <a:t>Agenda point 3</a:t>
            </a:r>
          </a:p>
        </p:txBody>
      </p:sp>
      <p:sp>
        <p:nvSpPr>
          <p:cNvPr name="TextBox 14" id="14"/>
          <p:cNvSpPr txBox="true"/>
          <p:nvPr/>
        </p:nvSpPr>
        <p:spPr>
          <a:xfrm rot="0">
            <a:off x="2948732" y="415379"/>
            <a:ext cx="11948368" cy="609600"/>
          </a:xfrm>
          <a:prstGeom prst="rect">
            <a:avLst/>
          </a:prstGeom>
        </p:spPr>
        <p:txBody>
          <a:bodyPr anchor="t" rtlCol="false" tIns="0" lIns="0" bIns="0" rIns="0">
            <a:spAutoFit/>
          </a:bodyPr>
          <a:lstStyle/>
          <a:p>
            <a:pPr algn="ctr" marL="0" indent="0" lvl="0">
              <a:lnSpc>
                <a:spcPts val="4858"/>
              </a:lnSpc>
              <a:spcBef>
                <a:spcPct val="0"/>
              </a:spcBef>
            </a:pPr>
            <a:r>
              <a:rPr lang="en-US" b="true" sz="4048">
                <a:solidFill>
                  <a:srgbClr val="000000"/>
                </a:solidFill>
                <a:latin typeface="Canva Sans Bold"/>
                <a:ea typeface="Canva Sans Bold"/>
                <a:cs typeface="Canva Sans Bold"/>
                <a:sym typeface="Canva Sans Bold"/>
              </a:rPr>
              <a:t> Claus</a:t>
            </a:r>
            <a:r>
              <a:rPr lang="en-US" b="true" sz="4048">
                <a:solidFill>
                  <a:srgbClr val="000000"/>
                </a:solidFill>
                <a:latin typeface="Canva Sans Bold"/>
                <a:ea typeface="Canva Sans Bold"/>
                <a:cs typeface="Canva Sans Bold"/>
                <a:sym typeface="Canva Sans Bold"/>
              </a:rPr>
              <a:t>eGuard: Backened Engineering</a:t>
            </a:r>
          </a:p>
        </p:txBody>
      </p:sp>
      <p:grpSp>
        <p:nvGrpSpPr>
          <p:cNvPr name="Group 15" id="15"/>
          <p:cNvGrpSpPr/>
          <p:nvPr/>
        </p:nvGrpSpPr>
        <p:grpSpPr>
          <a:xfrm rot="0">
            <a:off x="10728344" y="2719114"/>
            <a:ext cx="3180697" cy="4270872"/>
            <a:chOff x="0" y="0"/>
            <a:chExt cx="837714" cy="1124839"/>
          </a:xfrm>
        </p:grpSpPr>
        <p:sp>
          <p:nvSpPr>
            <p:cNvPr name="Freeform 16" id="16"/>
            <p:cNvSpPr/>
            <p:nvPr/>
          </p:nvSpPr>
          <p:spPr>
            <a:xfrm flipH="false" flipV="false" rot="0">
              <a:off x="0" y="0"/>
              <a:ext cx="837714" cy="1124839"/>
            </a:xfrm>
            <a:custGeom>
              <a:avLst/>
              <a:gdLst/>
              <a:ahLst/>
              <a:cxnLst/>
              <a:rect r="r" b="b" t="t" l="l"/>
              <a:pathLst>
                <a:path h="1124839" w="837714">
                  <a:moveTo>
                    <a:pt x="48681" y="0"/>
                  </a:moveTo>
                  <a:lnTo>
                    <a:pt x="789034" y="0"/>
                  </a:lnTo>
                  <a:cubicBezTo>
                    <a:pt x="815919" y="0"/>
                    <a:pt x="837714" y="21795"/>
                    <a:pt x="837714" y="48681"/>
                  </a:cubicBezTo>
                  <a:lnTo>
                    <a:pt x="837714" y="1076158"/>
                  </a:lnTo>
                  <a:cubicBezTo>
                    <a:pt x="837714" y="1089069"/>
                    <a:pt x="832586" y="1101451"/>
                    <a:pt x="823456" y="1110580"/>
                  </a:cubicBezTo>
                  <a:cubicBezTo>
                    <a:pt x="814327" y="1119710"/>
                    <a:pt x="801945" y="1124839"/>
                    <a:pt x="789034" y="1124839"/>
                  </a:cubicBezTo>
                  <a:lnTo>
                    <a:pt x="48681" y="1124839"/>
                  </a:lnTo>
                  <a:cubicBezTo>
                    <a:pt x="21795" y="1124839"/>
                    <a:pt x="0" y="1103044"/>
                    <a:pt x="0" y="1076158"/>
                  </a:cubicBezTo>
                  <a:lnTo>
                    <a:pt x="0" y="48681"/>
                  </a:lnTo>
                  <a:cubicBezTo>
                    <a:pt x="0" y="35770"/>
                    <a:pt x="5129" y="23388"/>
                    <a:pt x="14258" y="14258"/>
                  </a:cubicBezTo>
                  <a:cubicBezTo>
                    <a:pt x="23388" y="5129"/>
                    <a:pt x="35770" y="0"/>
                    <a:pt x="48681" y="0"/>
                  </a:cubicBezTo>
                  <a:close/>
                </a:path>
              </a:pathLst>
            </a:custGeom>
            <a:solidFill>
              <a:srgbClr val="000000"/>
            </a:solidFill>
          </p:spPr>
        </p:sp>
        <p:sp>
          <p:nvSpPr>
            <p:cNvPr name="TextBox 17" id="17"/>
            <p:cNvSpPr txBox="true"/>
            <p:nvPr/>
          </p:nvSpPr>
          <p:spPr>
            <a:xfrm>
              <a:off x="0" y="-47625"/>
              <a:ext cx="837714" cy="1172464"/>
            </a:xfrm>
            <a:prstGeom prst="rect">
              <a:avLst/>
            </a:prstGeom>
          </p:spPr>
          <p:txBody>
            <a:bodyPr anchor="ctr" rtlCol="false" tIns="50800" lIns="50800" bIns="50800" rIns="50800"/>
            <a:lstStyle/>
            <a:p>
              <a:pPr algn="l">
                <a:lnSpc>
                  <a:spcPts val="2800"/>
                </a:lnSpc>
              </a:pPr>
              <a:r>
                <a:rPr lang="en-US" sz="2000">
                  <a:solidFill>
                    <a:srgbClr val="FFFFFF"/>
                  </a:solidFill>
                  <a:latin typeface="Canva Sans"/>
                  <a:ea typeface="Canva Sans"/>
                  <a:cs typeface="Canva Sans"/>
                  <a:sym typeface="Canva Sans"/>
                </a:rPr>
                <a:t>Using firebase UID, we will fetch profile data using PostgreSQL for user to update it</a:t>
              </a:r>
            </a:p>
            <a:p>
              <a:pPr algn="l">
                <a:lnSpc>
                  <a:spcPts val="2800"/>
                </a:lnSpc>
              </a:pPr>
            </a:p>
          </p:txBody>
        </p:sp>
      </p:grpSp>
      <p:sp>
        <p:nvSpPr>
          <p:cNvPr name="TextBox 18" id="18"/>
          <p:cNvSpPr txBox="true"/>
          <p:nvPr/>
        </p:nvSpPr>
        <p:spPr>
          <a:xfrm rot="0">
            <a:off x="798212" y="2887597"/>
            <a:ext cx="2668243" cy="850901"/>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TT Fors Bold"/>
                <a:ea typeface="TT Fors Bold"/>
                <a:cs typeface="TT Fors Bold"/>
                <a:sym typeface="TT Fors Bold"/>
              </a:rPr>
              <a:t>Signup and Login</a:t>
            </a:r>
          </a:p>
        </p:txBody>
      </p:sp>
      <p:sp>
        <p:nvSpPr>
          <p:cNvPr name="TextBox 19" id="19"/>
          <p:cNvSpPr txBox="true"/>
          <p:nvPr/>
        </p:nvSpPr>
        <p:spPr>
          <a:xfrm rot="0">
            <a:off x="3866505" y="2860153"/>
            <a:ext cx="2881042" cy="850901"/>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TT Fors Bold"/>
                <a:ea typeface="TT Fors Bold"/>
                <a:cs typeface="TT Fors Bold"/>
                <a:sym typeface="TT Fors Bold"/>
              </a:rPr>
              <a:t>P</a:t>
            </a:r>
            <a:r>
              <a:rPr lang="en-US" b="true" sz="2499">
                <a:solidFill>
                  <a:srgbClr val="FFFFFF"/>
                </a:solidFill>
                <a:latin typeface="TT Fors Bold"/>
                <a:ea typeface="TT Fors Bold"/>
                <a:cs typeface="TT Fors Bold"/>
                <a:sym typeface="TT Fors Bold"/>
              </a:rPr>
              <a:t>assword Security</a:t>
            </a:r>
          </a:p>
        </p:txBody>
      </p:sp>
      <p:sp>
        <p:nvSpPr>
          <p:cNvPr name="TextBox 20" id="20"/>
          <p:cNvSpPr txBox="true"/>
          <p:nvPr/>
        </p:nvSpPr>
        <p:spPr>
          <a:xfrm rot="0">
            <a:off x="7147597" y="2849289"/>
            <a:ext cx="3180697" cy="412751"/>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TT Fors Bold"/>
                <a:ea typeface="TT Fors Bold"/>
                <a:cs typeface="TT Fors Bold"/>
                <a:sym typeface="TT Fors Bold"/>
              </a:rPr>
              <a:t>Sess</a:t>
            </a:r>
            <a:r>
              <a:rPr lang="en-US" b="true" sz="2499">
                <a:solidFill>
                  <a:srgbClr val="FFFFFF"/>
                </a:solidFill>
                <a:latin typeface="TT Fors Bold"/>
                <a:ea typeface="TT Fors Bold"/>
                <a:cs typeface="TT Fors Bold"/>
                <a:sym typeface="TT Fors Bold"/>
              </a:rPr>
              <a:t>ion Handling</a:t>
            </a:r>
          </a:p>
        </p:txBody>
      </p:sp>
      <p:sp>
        <p:nvSpPr>
          <p:cNvPr name="TextBox 21" id="21"/>
          <p:cNvSpPr txBox="true"/>
          <p:nvPr/>
        </p:nvSpPr>
        <p:spPr>
          <a:xfrm rot="0">
            <a:off x="10728344" y="2860153"/>
            <a:ext cx="3180697" cy="850901"/>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TT Fors Bold"/>
                <a:ea typeface="TT Fors Bold"/>
                <a:cs typeface="TT Fors Bold"/>
                <a:sym typeface="TT Fors Bold"/>
              </a:rPr>
              <a:t>Account</a:t>
            </a:r>
            <a:r>
              <a:rPr lang="en-US" b="true" sz="2499">
                <a:solidFill>
                  <a:srgbClr val="FFFFFF"/>
                </a:solidFill>
                <a:latin typeface="TT Fors Bold"/>
                <a:ea typeface="TT Fors Bold"/>
                <a:cs typeface="TT Fors Bold"/>
                <a:sym typeface="TT Fors Bold"/>
              </a:rPr>
              <a:t> Management</a:t>
            </a:r>
          </a:p>
        </p:txBody>
      </p:sp>
      <p:grpSp>
        <p:nvGrpSpPr>
          <p:cNvPr name="Group 22" id="22"/>
          <p:cNvGrpSpPr/>
          <p:nvPr/>
        </p:nvGrpSpPr>
        <p:grpSpPr>
          <a:xfrm rot="0">
            <a:off x="14309091" y="2719114"/>
            <a:ext cx="3180697" cy="4270872"/>
            <a:chOff x="0" y="0"/>
            <a:chExt cx="837714" cy="1124839"/>
          </a:xfrm>
        </p:grpSpPr>
        <p:sp>
          <p:nvSpPr>
            <p:cNvPr name="Freeform 23" id="23"/>
            <p:cNvSpPr/>
            <p:nvPr/>
          </p:nvSpPr>
          <p:spPr>
            <a:xfrm flipH="false" flipV="false" rot="0">
              <a:off x="0" y="0"/>
              <a:ext cx="837714" cy="1124839"/>
            </a:xfrm>
            <a:custGeom>
              <a:avLst/>
              <a:gdLst/>
              <a:ahLst/>
              <a:cxnLst/>
              <a:rect r="r" b="b" t="t" l="l"/>
              <a:pathLst>
                <a:path h="1124839" w="837714">
                  <a:moveTo>
                    <a:pt x="48681" y="0"/>
                  </a:moveTo>
                  <a:lnTo>
                    <a:pt x="789034" y="0"/>
                  </a:lnTo>
                  <a:cubicBezTo>
                    <a:pt x="815919" y="0"/>
                    <a:pt x="837714" y="21795"/>
                    <a:pt x="837714" y="48681"/>
                  </a:cubicBezTo>
                  <a:lnTo>
                    <a:pt x="837714" y="1076158"/>
                  </a:lnTo>
                  <a:cubicBezTo>
                    <a:pt x="837714" y="1089069"/>
                    <a:pt x="832586" y="1101451"/>
                    <a:pt x="823456" y="1110580"/>
                  </a:cubicBezTo>
                  <a:cubicBezTo>
                    <a:pt x="814327" y="1119710"/>
                    <a:pt x="801945" y="1124839"/>
                    <a:pt x="789034" y="1124839"/>
                  </a:cubicBezTo>
                  <a:lnTo>
                    <a:pt x="48681" y="1124839"/>
                  </a:lnTo>
                  <a:cubicBezTo>
                    <a:pt x="21795" y="1124839"/>
                    <a:pt x="0" y="1103044"/>
                    <a:pt x="0" y="1076158"/>
                  </a:cubicBezTo>
                  <a:lnTo>
                    <a:pt x="0" y="48681"/>
                  </a:lnTo>
                  <a:cubicBezTo>
                    <a:pt x="0" y="35770"/>
                    <a:pt x="5129" y="23388"/>
                    <a:pt x="14258" y="14258"/>
                  </a:cubicBezTo>
                  <a:cubicBezTo>
                    <a:pt x="23388" y="5129"/>
                    <a:pt x="35770" y="0"/>
                    <a:pt x="48681" y="0"/>
                  </a:cubicBezTo>
                  <a:close/>
                </a:path>
              </a:pathLst>
            </a:custGeom>
            <a:solidFill>
              <a:srgbClr val="000000"/>
            </a:solidFill>
          </p:spPr>
        </p:sp>
        <p:sp>
          <p:nvSpPr>
            <p:cNvPr name="TextBox 24" id="24"/>
            <p:cNvSpPr txBox="true"/>
            <p:nvPr/>
          </p:nvSpPr>
          <p:spPr>
            <a:xfrm>
              <a:off x="0" y="-47625"/>
              <a:ext cx="837714" cy="1172464"/>
            </a:xfrm>
            <a:prstGeom prst="rect">
              <a:avLst/>
            </a:prstGeom>
          </p:spPr>
          <p:txBody>
            <a:bodyPr anchor="ctr" rtlCol="false" tIns="50800" lIns="50800" bIns="50800" rIns="50800"/>
            <a:lstStyle/>
            <a:p>
              <a:pPr algn="l">
                <a:lnSpc>
                  <a:spcPts val="2800"/>
                </a:lnSpc>
              </a:pPr>
              <a:r>
                <a:rPr lang="en-US" sz="2000">
                  <a:solidFill>
                    <a:srgbClr val="FFFFFF"/>
                  </a:solidFill>
                  <a:latin typeface="Canva Sans"/>
                  <a:ea typeface="Canva Sans"/>
                  <a:cs typeface="Canva Sans"/>
                  <a:sym typeface="Canva Sans"/>
                </a:rPr>
                <a:t>CORS and access-control settings on the backend</a:t>
              </a:r>
            </a:p>
            <a:p>
              <a:pPr algn="l">
                <a:lnSpc>
                  <a:spcPts val="2800"/>
                </a:lnSpc>
              </a:pPr>
              <a:r>
                <a:rPr lang="en-US" sz="2000">
                  <a:solidFill>
                    <a:srgbClr val="FFFFFF"/>
                  </a:solidFill>
                  <a:latin typeface="Canva Sans"/>
                  <a:ea typeface="Canva Sans"/>
                  <a:cs typeface="Canva Sans"/>
                  <a:sym typeface="Canva Sans"/>
                </a:rPr>
                <a:t>using Firebase Admin (SDK verifies tokens; rate limiting, HTTPS via Caddy)</a:t>
              </a:r>
            </a:p>
            <a:p>
              <a:pPr algn="l">
                <a:lnSpc>
                  <a:spcPts val="2800"/>
                </a:lnSpc>
              </a:pPr>
            </a:p>
          </p:txBody>
        </p:sp>
      </p:grpSp>
      <p:sp>
        <p:nvSpPr>
          <p:cNvPr name="TextBox 25" id="25"/>
          <p:cNvSpPr txBox="true"/>
          <p:nvPr/>
        </p:nvSpPr>
        <p:spPr>
          <a:xfrm rot="0">
            <a:off x="15023099" y="2860153"/>
            <a:ext cx="2009356" cy="412751"/>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TT Fors Bold"/>
                <a:ea typeface="TT Fors Bold"/>
                <a:cs typeface="TT Fors Bold"/>
                <a:sym typeface="TT Fors Bold"/>
              </a:rPr>
              <a:t>API Secur</a:t>
            </a:r>
            <a:r>
              <a:rPr lang="en-US" b="true" sz="2499">
                <a:solidFill>
                  <a:srgbClr val="FFFFFF"/>
                </a:solidFill>
                <a:latin typeface="TT Fors Bold"/>
                <a:ea typeface="TT Fors Bold"/>
                <a:cs typeface="TT Fors Bold"/>
                <a:sym typeface="TT Fors Bold"/>
              </a:rPr>
              <a:t>ity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F1216"/>
        </a:solidFill>
      </p:bgPr>
    </p:bg>
    <p:spTree>
      <p:nvGrpSpPr>
        <p:cNvPr id="1" name=""/>
        <p:cNvGrpSpPr/>
        <p:nvPr/>
      </p:nvGrpSpPr>
      <p:grpSpPr>
        <a:xfrm>
          <a:off x="0" y="0"/>
          <a:ext cx="0" cy="0"/>
          <a:chOff x="0" y="0"/>
          <a:chExt cx="0" cy="0"/>
        </a:xfrm>
      </p:grpSpPr>
      <p:grpSp>
        <p:nvGrpSpPr>
          <p:cNvPr name="Group 2" id="2"/>
          <p:cNvGrpSpPr/>
          <p:nvPr/>
        </p:nvGrpSpPr>
        <p:grpSpPr>
          <a:xfrm rot="0">
            <a:off x="1035264" y="486406"/>
            <a:ext cx="16230600" cy="1084587"/>
            <a:chOff x="0" y="0"/>
            <a:chExt cx="4274726" cy="285653"/>
          </a:xfrm>
        </p:grpSpPr>
        <p:sp>
          <p:nvSpPr>
            <p:cNvPr name="Freeform 3" id="3"/>
            <p:cNvSpPr/>
            <p:nvPr/>
          </p:nvSpPr>
          <p:spPr>
            <a:xfrm flipH="false" flipV="false" rot="0">
              <a:off x="0" y="0"/>
              <a:ext cx="4274726" cy="285653"/>
            </a:xfrm>
            <a:custGeom>
              <a:avLst/>
              <a:gdLst/>
              <a:ahLst/>
              <a:cxnLst/>
              <a:rect r="r" b="b" t="t" l="l"/>
              <a:pathLst>
                <a:path h="285653" w="4274726">
                  <a:moveTo>
                    <a:pt x="0" y="0"/>
                  </a:moveTo>
                  <a:lnTo>
                    <a:pt x="4274726" y="0"/>
                  </a:lnTo>
                  <a:lnTo>
                    <a:pt x="4274726" y="285653"/>
                  </a:lnTo>
                  <a:lnTo>
                    <a:pt x="0" y="285653"/>
                  </a:lnTo>
                  <a:close/>
                </a:path>
              </a:pathLst>
            </a:custGeom>
            <a:solidFill>
              <a:srgbClr val="E3E5E5"/>
            </a:solidFill>
          </p:spPr>
        </p:sp>
        <p:sp>
          <p:nvSpPr>
            <p:cNvPr name="TextBox 4" id="4"/>
            <p:cNvSpPr txBox="true"/>
            <p:nvPr/>
          </p:nvSpPr>
          <p:spPr>
            <a:xfrm>
              <a:off x="0" y="-38100"/>
              <a:ext cx="4274726" cy="32375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9047482" y="2504231"/>
            <a:ext cx="9031419" cy="5029999"/>
          </a:xfrm>
          <a:custGeom>
            <a:avLst/>
            <a:gdLst/>
            <a:ahLst/>
            <a:cxnLst/>
            <a:rect r="r" b="b" t="t" l="l"/>
            <a:pathLst>
              <a:path h="5029999" w="9031419">
                <a:moveTo>
                  <a:pt x="0" y="0"/>
                </a:moveTo>
                <a:lnTo>
                  <a:pt x="9031419" y="0"/>
                </a:lnTo>
                <a:lnTo>
                  <a:pt x="9031419" y="5029998"/>
                </a:lnTo>
                <a:lnTo>
                  <a:pt x="0" y="5029998"/>
                </a:lnTo>
                <a:lnTo>
                  <a:pt x="0" y="0"/>
                </a:lnTo>
                <a:close/>
              </a:path>
            </a:pathLst>
          </a:custGeom>
          <a:blipFill>
            <a:blip r:embed="rId2"/>
            <a:stretch>
              <a:fillRect l="0" t="0" r="0" b="0"/>
            </a:stretch>
          </a:blipFill>
        </p:spPr>
      </p:sp>
      <p:sp>
        <p:nvSpPr>
          <p:cNvPr name="TextBox 6" id="6"/>
          <p:cNvSpPr txBox="true"/>
          <p:nvPr/>
        </p:nvSpPr>
        <p:spPr>
          <a:xfrm rot="0">
            <a:off x="752534" y="2294681"/>
            <a:ext cx="7725835" cy="854495"/>
          </a:xfrm>
          <a:prstGeom prst="rect">
            <a:avLst/>
          </a:prstGeom>
        </p:spPr>
        <p:txBody>
          <a:bodyPr anchor="t" rtlCol="false" tIns="0" lIns="0" bIns="0" rIns="0">
            <a:spAutoFit/>
          </a:bodyPr>
          <a:lstStyle/>
          <a:p>
            <a:pPr algn="l" marL="0" indent="0" lvl="0">
              <a:lnSpc>
                <a:spcPts val="5926"/>
              </a:lnSpc>
            </a:pPr>
            <a:r>
              <a:rPr lang="en-US" b="true" sz="4233">
                <a:solidFill>
                  <a:srgbClr val="E3E5E5"/>
                </a:solidFill>
                <a:latin typeface="Cooper Hewitt Bold"/>
                <a:ea typeface="Cooper Hewitt Bold"/>
                <a:cs typeface="Cooper Hewitt Bold"/>
                <a:sym typeface="Cooper Hewitt Bold"/>
              </a:rPr>
              <a:t>Document Checker Developer</a:t>
            </a:r>
          </a:p>
        </p:txBody>
      </p:sp>
      <p:sp>
        <p:nvSpPr>
          <p:cNvPr name="TextBox 7" id="7"/>
          <p:cNvSpPr txBox="true"/>
          <p:nvPr/>
        </p:nvSpPr>
        <p:spPr>
          <a:xfrm rot="0">
            <a:off x="1513039" y="782654"/>
            <a:ext cx="2143676" cy="396911"/>
          </a:xfrm>
          <a:prstGeom prst="rect">
            <a:avLst/>
          </a:prstGeom>
        </p:spPr>
        <p:txBody>
          <a:bodyPr anchor="t" rtlCol="false" tIns="0" lIns="0" bIns="0" rIns="0">
            <a:spAutoFit/>
          </a:bodyPr>
          <a:lstStyle/>
          <a:p>
            <a:pPr algn="l" marL="0" indent="0" lvl="0">
              <a:lnSpc>
                <a:spcPts val="2798"/>
              </a:lnSpc>
            </a:pPr>
            <a:r>
              <a:rPr lang="en-US" b="true" sz="1998">
                <a:solidFill>
                  <a:srgbClr val="000000"/>
                </a:solidFill>
                <a:latin typeface="Cooper Hewitt Bold"/>
                <a:ea typeface="Cooper Hewitt Bold"/>
                <a:cs typeface="Cooper Hewitt Bold"/>
                <a:sym typeface="Cooper Hewitt Bold"/>
              </a:rPr>
              <a:t>ClauseGuard</a:t>
            </a:r>
          </a:p>
        </p:txBody>
      </p:sp>
      <p:sp>
        <p:nvSpPr>
          <p:cNvPr name="TextBox 8" id="8"/>
          <p:cNvSpPr txBox="true"/>
          <p:nvPr/>
        </p:nvSpPr>
        <p:spPr>
          <a:xfrm rot="0">
            <a:off x="556798" y="3388678"/>
            <a:ext cx="7725835" cy="4596801"/>
          </a:xfrm>
          <a:prstGeom prst="rect">
            <a:avLst/>
          </a:prstGeom>
        </p:spPr>
        <p:txBody>
          <a:bodyPr anchor="t" rtlCol="false" tIns="0" lIns="0" bIns="0" rIns="0">
            <a:spAutoFit/>
          </a:bodyPr>
          <a:lstStyle/>
          <a:p>
            <a:pPr algn="l" marL="517854" indent="-258927" lvl="1">
              <a:lnSpc>
                <a:spcPts val="3358"/>
              </a:lnSpc>
              <a:buFont typeface="Arial"/>
              <a:buChar char="•"/>
            </a:pPr>
            <a:r>
              <a:rPr lang="en-US" sz="2398">
                <a:solidFill>
                  <a:srgbClr val="E3E5E5"/>
                </a:solidFill>
                <a:latin typeface="Inter"/>
                <a:ea typeface="Inter"/>
                <a:cs typeface="Inter"/>
                <a:sym typeface="Inter"/>
              </a:rPr>
              <a:t>This week, the schema validators were looked into for capturing important or critical dates within lease agreements or termination notices.</a:t>
            </a:r>
          </a:p>
          <a:p>
            <a:pPr algn="l" marL="517854" indent="-258927" lvl="1">
              <a:lnSpc>
                <a:spcPts val="3358"/>
              </a:lnSpc>
              <a:buFont typeface="Arial"/>
              <a:buChar char="•"/>
            </a:pPr>
            <a:r>
              <a:rPr lang="en-US" sz="2398">
                <a:solidFill>
                  <a:srgbClr val="E3E5E5"/>
                </a:solidFill>
                <a:latin typeface="Inter"/>
                <a:ea typeface="Inter"/>
                <a:cs typeface="Inter"/>
                <a:sym typeface="Inter"/>
              </a:rPr>
              <a:t>Working on an RTB Template Diff Engine that needs to be compared with the official baseline.</a:t>
            </a:r>
          </a:p>
          <a:p>
            <a:pPr algn="l" marL="517854" indent="-258927" lvl="1">
              <a:lnSpc>
                <a:spcPts val="3358"/>
              </a:lnSpc>
              <a:buFont typeface="Arial"/>
              <a:buChar char="•"/>
            </a:pPr>
            <a:r>
              <a:rPr lang="en-US" sz="2398">
                <a:solidFill>
                  <a:srgbClr val="E3E5E5"/>
                </a:solidFill>
                <a:latin typeface="Inter"/>
                <a:ea typeface="Inter"/>
                <a:cs typeface="Inter"/>
                <a:sym typeface="Inter"/>
              </a:rPr>
              <a:t>Working on the redaction of PII data when document being scanned by OCR.</a:t>
            </a:r>
          </a:p>
          <a:p>
            <a:pPr algn="l" marL="517854" indent="-258927" lvl="1">
              <a:lnSpc>
                <a:spcPts val="3358"/>
              </a:lnSpc>
              <a:buFont typeface="Arial"/>
              <a:buChar char="•"/>
            </a:pPr>
            <a:r>
              <a:rPr lang="en-US" sz="2398">
                <a:solidFill>
                  <a:srgbClr val="E3E5E5"/>
                </a:solidFill>
                <a:latin typeface="Inter"/>
                <a:ea typeface="Inter"/>
                <a:cs typeface="Inter"/>
                <a:sym typeface="Inter"/>
              </a:rPr>
              <a:t>Need to work on connecting the ingestion pipeline to the API to automatically run the rule engine.</a:t>
            </a:r>
          </a:p>
          <a:p>
            <a:pPr algn="l" marL="517854" indent="-258927" lvl="1">
              <a:lnSpc>
                <a:spcPts val="3358"/>
              </a:lnSpc>
              <a:buFont typeface="Arial"/>
              <a:buChar char="•"/>
            </a:pPr>
            <a:r>
              <a:rPr lang="en-US" sz="2398">
                <a:solidFill>
                  <a:srgbClr val="E3E5E5"/>
                </a:solidFill>
                <a:latin typeface="Inter"/>
                <a:ea typeface="Inter"/>
                <a:cs typeface="Inter"/>
                <a:sym typeface="Inter"/>
              </a:rPr>
              <a:t>Need to implement the OCR for successful text extraction.</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3F3F5"/>
        </a:solidFill>
      </p:bgPr>
    </p:bg>
    <p:spTree>
      <p:nvGrpSpPr>
        <p:cNvPr id="1" name=""/>
        <p:cNvGrpSpPr/>
        <p:nvPr/>
      </p:nvGrpSpPr>
      <p:grpSpPr>
        <a:xfrm>
          <a:off x="0" y="0"/>
          <a:ext cx="0" cy="0"/>
          <a:chOff x="0" y="0"/>
          <a:chExt cx="0" cy="0"/>
        </a:xfrm>
      </p:grpSpPr>
      <p:grpSp>
        <p:nvGrpSpPr>
          <p:cNvPr name="Group 2" id="2"/>
          <p:cNvGrpSpPr/>
          <p:nvPr/>
        </p:nvGrpSpPr>
        <p:grpSpPr>
          <a:xfrm rot="0">
            <a:off x="2185629" y="2980620"/>
            <a:ext cx="2664393" cy="4287452"/>
            <a:chOff x="0" y="0"/>
            <a:chExt cx="701733" cy="1129205"/>
          </a:xfrm>
        </p:grpSpPr>
        <p:sp>
          <p:nvSpPr>
            <p:cNvPr name="Freeform 3" id="3"/>
            <p:cNvSpPr/>
            <p:nvPr/>
          </p:nvSpPr>
          <p:spPr>
            <a:xfrm flipH="false" flipV="false" rot="0">
              <a:off x="0" y="0"/>
              <a:ext cx="701733" cy="1129205"/>
            </a:xfrm>
            <a:custGeom>
              <a:avLst/>
              <a:gdLst/>
              <a:ahLst/>
              <a:cxnLst/>
              <a:rect r="r" b="b" t="t" l="l"/>
              <a:pathLst>
                <a:path h="1129205" w="701733">
                  <a:moveTo>
                    <a:pt x="58114" y="0"/>
                  </a:moveTo>
                  <a:lnTo>
                    <a:pt x="643619" y="0"/>
                  </a:lnTo>
                  <a:cubicBezTo>
                    <a:pt x="675715" y="0"/>
                    <a:pt x="701733" y="26019"/>
                    <a:pt x="701733" y="58114"/>
                  </a:cubicBezTo>
                  <a:lnTo>
                    <a:pt x="701733" y="1071091"/>
                  </a:lnTo>
                  <a:cubicBezTo>
                    <a:pt x="701733" y="1086504"/>
                    <a:pt x="695610" y="1101286"/>
                    <a:pt x="684712" y="1112184"/>
                  </a:cubicBezTo>
                  <a:cubicBezTo>
                    <a:pt x="673813" y="1123083"/>
                    <a:pt x="659032" y="1129205"/>
                    <a:pt x="643619" y="1129205"/>
                  </a:cubicBezTo>
                  <a:lnTo>
                    <a:pt x="58114" y="1129205"/>
                  </a:lnTo>
                  <a:cubicBezTo>
                    <a:pt x="42701" y="1129205"/>
                    <a:pt x="27920" y="1123083"/>
                    <a:pt x="17021" y="1112184"/>
                  </a:cubicBezTo>
                  <a:cubicBezTo>
                    <a:pt x="6123" y="1101286"/>
                    <a:pt x="0" y="1086504"/>
                    <a:pt x="0" y="1071091"/>
                  </a:cubicBezTo>
                  <a:lnTo>
                    <a:pt x="0" y="58114"/>
                  </a:lnTo>
                  <a:cubicBezTo>
                    <a:pt x="0" y="42701"/>
                    <a:pt x="6123" y="27920"/>
                    <a:pt x="17021" y="17021"/>
                  </a:cubicBezTo>
                  <a:cubicBezTo>
                    <a:pt x="27920" y="6123"/>
                    <a:pt x="42701" y="0"/>
                    <a:pt x="58114" y="0"/>
                  </a:cubicBezTo>
                  <a:close/>
                </a:path>
              </a:pathLst>
            </a:custGeom>
            <a:solidFill>
              <a:srgbClr val="000000"/>
            </a:solidFill>
          </p:spPr>
        </p:sp>
        <p:sp>
          <p:nvSpPr>
            <p:cNvPr name="TextBox 4" id="4"/>
            <p:cNvSpPr txBox="true"/>
            <p:nvPr/>
          </p:nvSpPr>
          <p:spPr>
            <a:xfrm>
              <a:off x="0" y="-9525"/>
              <a:ext cx="701733" cy="1138730"/>
            </a:xfrm>
            <a:prstGeom prst="rect">
              <a:avLst/>
            </a:prstGeom>
          </p:spPr>
          <p:txBody>
            <a:bodyPr anchor="ctr" rtlCol="false" tIns="50800" lIns="50800" bIns="50800" rIns="50800"/>
            <a:lstStyle/>
            <a:p>
              <a:pPr algn="l">
                <a:lnSpc>
                  <a:spcPts val="2419"/>
                </a:lnSpc>
              </a:pPr>
              <a:r>
                <a:rPr lang="en-US" sz="1999">
                  <a:solidFill>
                    <a:srgbClr val="FFFFFF"/>
                  </a:solidFill>
                  <a:latin typeface="Canva Sans"/>
                  <a:ea typeface="Canva Sans"/>
                  <a:cs typeface="Canva Sans"/>
                  <a:sym typeface="Canva Sans"/>
                </a:rPr>
                <a:t>Parse the lease PDF, OCR scans, split into clauses   (yeah, kind of in that order)  </a:t>
              </a:r>
            </a:p>
            <a:p>
              <a:pPr algn="l">
                <a:lnSpc>
                  <a:spcPts val="1694"/>
                </a:lnSpc>
              </a:pPr>
            </a:p>
          </p:txBody>
        </p:sp>
      </p:grpSp>
      <p:grpSp>
        <p:nvGrpSpPr>
          <p:cNvPr name="Group 5" id="5"/>
          <p:cNvGrpSpPr/>
          <p:nvPr/>
        </p:nvGrpSpPr>
        <p:grpSpPr>
          <a:xfrm rot="0">
            <a:off x="5596496" y="3008064"/>
            <a:ext cx="2881042" cy="4287452"/>
            <a:chOff x="0" y="0"/>
            <a:chExt cx="758793" cy="1129205"/>
          </a:xfrm>
        </p:grpSpPr>
        <p:sp>
          <p:nvSpPr>
            <p:cNvPr name="Freeform 6" id="6"/>
            <p:cNvSpPr/>
            <p:nvPr/>
          </p:nvSpPr>
          <p:spPr>
            <a:xfrm flipH="false" flipV="false" rot="0">
              <a:off x="0" y="0"/>
              <a:ext cx="758793" cy="1129205"/>
            </a:xfrm>
            <a:custGeom>
              <a:avLst/>
              <a:gdLst/>
              <a:ahLst/>
              <a:cxnLst/>
              <a:rect r="r" b="b" t="t" l="l"/>
              <a:pathLst>
                <a:path h="1129205" w="758793">
                  <a:moveTo>
                    <a:pt x="53744" y="0"/>
                  </a:moveTo>
                  <a:lnTo>
                    <a:pt x="705049" y="0"/>
                  </a:lnTo>
                  <a:cubicBezTo>
                    <a:pt x="719303" y="0"/>
                    <a:pt x="732973" y="5662"/>
                    <a:pt x="743052" y="15741"/>
                  </a:cubicBezTo>
                  <a:cubicBezTo>
                    <a:pt x="753131" y="25820"/>
                    <a:pt x="758793" y="39490"/>
                    <a:pt x="758793" y="53744"/>
                  </a:cubicBezTo>
                  <a:lnTo>
                    <a:pt x="758793" y="1075461"/>
                  </a:lnTo>
                  <a:cubicBezTo>
                    <a:pt x="758793" y="1089715"/>
                    <a:pt x="753131" y="1103385"/>
                    <a:pt x="743052" y="1113464"/>
                  </a:cubicBezTo>
                  <a:cubicBezTo>
                    <a:pt x="732973" y="1123543"/>
                    <a:pt x="719303" y="1129205"/>
                    <a:pt x="705049" y="1129205"/>
                  </a:cubicBezTo>
                  <a:lnTo>
                    <a:pt x="53744" y="1129205"/>
                  </a:lnTo>
                  <a:cubicBezTo>
                    <a:pt x="39490" y="1129205"/>
                    <a:pt x="25820" y="1123543"/>
                    <a:pt x="15741" y="1113464"/>
                  </a:cubicBezTo>
                  <a:cubicBezTo>
                    <a:pt x="5662" y="1103385"/>
                    <a:pt x="0" y="1089715"/>
                    <a:pt x="0" y="1075461"/>
                  </a:cubicBezTo>
                  <a:lnTo>
                    <a:pt x="0" y="53744"/>
                  </a:lnTo>
                  <a:cubicBezTo>
                    <a:pt x="0" y="39490"/>
                    <a:pt x="5662" y="25820"/>
                    <a:pt x="15741" y="15741"/>
                  </a:cubicBezTo>
                  <a:cubicBezTo>
                    <a:pt x="25820" y="5662"/>
                    <a:pt x="39490" y="0"/>
                    <a:pt x="53744" y="0"/>
                  </a:cubicBezTo>
                  <a:close/>
                </a:path>
              </a:pathLst>
            </a:custGeom>
            <a:solidFill>
              <a:srgbClr val="000000"/>
            </a:solidFill>
          </p:spPr>
        </p:sp>
        <p:sp>
          <p:nvSpPr>
            <p:cNvPr name="TextBox 7" id="7"/>
            <p:cNvSpPr txBox="true"/>
            <p:nvPr/>
          </p:nvSpPr>
          <p:spPr>
            <a:xfrm>
              <a:off x="0" y="-38100"/>
              <a:ext cx="758793" cy="1167305"/>
            </a:xfrm>
            <a:prstGeom prst="rect">
              <a:avLst/>
            </a:prstGeom>
          </p:spPr>
          <p:txBody>
            <a:bodyPr anchor="ctr" rtlCol="false" tIns="50800" lIns="50800" bIns="50800" rIns="50800"/>
            <a:lstStyle/>
            <a:p>
              <a:pPr algn="l">
                <a:lnSpc>
                  <a:spcPts val="2799"/>
                </a:lnSpc>
              </a:pPr>
              <a:r>
                <a:rPr lang="en-US" sz="1999">
                  <a:solidFill>
                    <a:srgbClr val="FFFFFF"/>
                  </a:solidFill>
                  <a:latin typeface="Canva Sans"/>
                  <a:ea typeface="Canva Sans"/>
                  <a:cs typeface="Canva Sans"/>
                  <a:sym typeface="Canva Sans"/>
                </a:rPr>
                <a:t>Fine-tuned Legal-BERT assigns each clause a category</a:t>
              </a:r>
            </a:p>
            <a:p>
              <a:pPr algn="l">
                <a:lnSpc>
                  <a:spcPts val="2799"/>
                </a:lnSpc>
              </a:pPr>
              <a:r>
                <a:rPr lang="en-US" sz="1999">
                  <a:solidFill>
                    <a:srgbClr val="FFFFFF"/>
                  </a:solidFill>
                  <a:latin typeface="Canva Sans"/>
                  <a:ea typeface="Canva Sans"/>
                  <a:cs typeface="Canva Sans"/>
                  <a:sym typeface="Canva Sans"/>
                </a:rPr>
                <a:t>like “liability” or “termination” </a:t>
              </a:r>
            </a:p>
          </p:txBody>
        </p:sp>
      </p:grpSp>
      <p:grpSp>
        <p:nvGrpSpPr>
          <p:cNvPr name="Group 8" id="8"/>
          <p:cNvGrpSpPr/>
          <p:nvPr/>
        </p:nvGrpSpPr>
        <p:grpSpPr>
          <a:xfrm rot="0">
            <a:off x="9370079" y="3008064"/>
            <a:ext cx="3180697" cy="4270872"/>
            <a:chOff x="0" y="0"/>
            <a:chExt cx="837714" cy="1124839"/>
          </a:xfrm>
        </p:grpSpPr>
        <p:sp>
          <p:nvSpPr>
            <p:cNvPr name="Freeform 9" id="9"/>
            <p:cNvSpPr/>
            <p:nvPr/>
          </p:nvSpPr>
          <p:spPr>
            <a:xfrm flipH="false" flipV="false" rot="0">
              <a:off x="0" y="0"/>
              <a:ext cx="837714" cy="1124839"/>
            </a:xfrm>
            <a:custGeom>
              <a:avLst/>
              <a:gdLst/>
              <a:ahLst/>
              <a:cxnLst/>
              <a:rect r="r" b="b" t="t" l="l"/>
              <a:pathLst>
                <a:path h="1124839" w="837714">
                  <a:moveTo>
                    <a:pt x="48681" y="0"/>
                  </a:moveTo>
                  <a:lnTo>
                    <a:pt x="789034" y="0"/>
                  </a:lnTo>
                  <a:cubicBezTo>
                    <a:pt x="815919" y="0"/>
                    <a:pt x="837714" y="21795"/>
                    <a:pt x="837714" y="48681"/>
                  </a:cubicBezTo>
                  <a:lnTo>
                    <a:pt x="837714" y="1076158"/>
                  </a:lnTo>
                  <a:cubicBezTo>
                    <a:pt x="837714" y="1089069"/>
                    <a:pt x="832586" y="1101451"/>
                    <a:pt x="823456" y="1110580"/>
                  </a:cubicBezTo>
                  <a:cubicBezTo>
                    <a:pt x="814327" y="1119710"/>
                    <a:pt x="801945" y="1124839"/>
                    <a:pt x="789034" y="1124839"/>
                  </a:cubicBezTo>
                  <a:lnTo>
                    <a:pt x="48681" y="1124839"/>
                  </a:lnTo>
                  <a:cubicBezTo>
                    <a:pt x="21795" y="1124839"/>
                    <a:pt x="0" y="1103044"/>
                    <a:pt x="0" y="1076158"/>
                  </a:cubicBezTo>
                  <a:lnTo>
                    <a:pt x="0" y="48681"/>
                  </a:lnTo>
                  <a:cubicBezTo>
                    <a:pt x="0" y="35770"/>
                    <a:pt x="5129" y="23388"/>
                    <a:pt x="14258" y="14258"/>
                  </a:cubicBezTo>
                  <a:cubicBezTo>
                    <a:pt x="23388" y="5129"/>
                    <a:pt x="35770" y="0"/>
                    <a:pt x="48681" y="0"/>
                  </a:cubicBezTo>
                  <a:close/>
                </a:path>
              </a:pathLst>
            </a:custGeom>
            <a:solidFill>
              <a:srgbClr val="000000"/>
            </a:solidFill>
          </p:spPr>
        </p:sp>
        <p:sp>
          <p:nvSpPr>
            <p:cNvPr name="TextBox 10" id="10"/>
            <p:cNvSpPr txBox="true"/>
            <p:nvPr/>
          </p:nvSpPr>
          <p:spPr>
            <a:xfrm>
              <a:off x="0" y="-47625"/>
              <a:ext cx="837714" cy="1172464"/>
            </a:xfrm>
            <a:prstGeom prst="rect">
              <a:avLst/>
            </a:prstGeom>
          </p:spPr>
          <p:txBody>
            <a:bodyPr anchor="ctr" rtlCol="false" tIns="50800" lIns="50800" bIns="50800" rIns="50800"/>
            <a:lstStyle/>
            <a:p>
              <a:pPr algn="l">
                <a:lnSpc>
                  <a:spcPts val="2800"/>
                </a:lnSpc>
              </a:pPr>
              <a:r>
                <a:rPr lang="en-US" sz="2000">
                  <a:solidFill>
                    <a:srgbClr val="FFFFFF"/>
                  </a:solidFill>
                  <a:latin typeface="Canva Sans"/>
                  <a:ea typeface="Canva Sans"/>
                  <a:cs typeface="Canva Sans"/>
                  <a:sym typeface="Canva Sans"/>
                </a:rPr>
                <a:t>Rules engine for numeric tests, retrieval for interpretive clauses, sort of “read this like a human”  </a:t>
              </a:r>
            </a:p>
          </p:txBody>
        </p:sp>
      </p:grpSp>
      <p:grpSp>
        <p:nvGrpSpPr>
          <p:cNvPr name="Group 11" id="11"/>
          <p:cNvGrpSpPr/>
          <p:nvPr/>
        </p:nvGrpSpPr>
        <p:grpSpPr>
          <a:xfrm rot="0">
            <a:off x="2185629" y="3008064"/>
            <a:ext cx="711200" cy="711200"/>
            <a:chOff x="0" y="0"/>
            <a:chExt cx="948267" cy="948267"/>
          </a:xfrm>
        </p:grpSpPr>
        <p:grpSp>
          <p:nvGrpSpPr>
            <p:cNvPr name="Group 12" id="12"/>
            <p:cNvGrpSpPr/>
            <p:nvPr/>
          </p:nvGrpSpPr>
          <p:grpSpPr>
            <a:xfrm rot="0">
              <a:off x="0" y="0"/>
              <a:ext cx="948267" cy="94826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F3F5"/>
              </a:solidFill>
              <a:ln cap="sq">
                <a:noFill/>
                <a:prstDash val="solid"/>
                <a:miter/>
              </a:ln>
            </p:spPr>
          </p:sp>
          <p:sp>
            <p:nvSpPr>
              <p:cNvPr name="TextBox 14" id="14"/>
              <p:cNvSpPr txBox="true"/>
              <p:nvPr/>
            </p:nvSpPr>
            <p:spPr>
              <a:xfrm>
                <a:off x="76200" y="47625"/>
                <a:ext cx="660400" cy="688975"/>
              </a:xfrm>
              <a:prstGeom prst="rect">
                <a:avLst/>
              </a:prstGeom>
            </p:spPr>
            <p:txBody>
              <a:bodyPr anchor="ctr" rtlCol="false" tIns="38443" lIns="38443" bIns="38443" rIns="38443"/>
              <a:lstStyle/>
              <a:p>
                <a:pPr algn="ctr" marL="0" indent="0" lvl="0">
                  <a:lnSpc>
                    <a:spcPts val="1960"/>
                  </a:lnSpc>
                  <a:spcBef>
                    <a:spcPct val="0"/>
                  </a:spcBef>
                </a:pPr>
              </a:p>
            </p:txBody>
          </p:sp>
        </p:grpSp>
        <p:sp>
          <p:nvSpPr>
            <p:cNvPr name="TextBox 15" id="15"/>
            <p:cNvSpPr txBox="true"/>
            <p:nvPr/>
          </p:nvSpPr>
          <p:spPr>
            <a:xfrm rot="0">
              <a:off x="0" y="72234"/>
              <a:ext cx="948267" cy="656421"/>
            </a:xfrm>
            <a:prstGeom prst="rect">
              <a:avLst/>
            </a:prstGeom>
          </p:spPr>
          <p:txBody>
            <a:bodyPr anchor="t" rtlCol="false" tIns="0" lIns="0" bIns="0" rIns="0">
              <a:spAutoFit/>
            </a:bodyPr>
            <a:lstStyle/>
            <a:p>
              <a:pPr algn="ctr">
                <a:lnSpc>
                  <a:spcPts val="4395"/>
                </a:lnSpc>
              </a:pPr>
              <a:r>
                <a:rPr lang="en-US" b="true" sz="2799">
                  <a:solidFill>
                    <a:srgbClr val="000000"/>
                  </a:solidFill>
                  <a:latin typeface="Canva Sans Bold"/>
                  <a:ea typeface="Canva Sans Bold"/>
                  <a:cs typeface="Canva Sans Bold"/>
                  <a:sym typeface="Canva Sans Bold"/>
                </a:rPr>
                <a:t>1</a:t>
              </a:r>
            </a:p>
          </p:txBody>
        </p:sp>
      </p:grpSp>
      <p:grpSp>
        <p:nvGrpSpPr>
          <p:cNvPr name="Group 16" id="16"/>
          <p:cNvGrpSpPr/>
          <p:nvPr/>
        </p:nvGrpSpPr>
        <p:grpSpPr>
          <a:xfrm rot="0">
            <a:off x="5596496" y="3008064"/>
            <a:ext cx="711200" cy="711200"/>
            <a:chOff x="0" y="0"/>
            <a:chExt cx="948267" cy="948267"/>
          </a:xfrm>
        </p:grpSpPr>
        <p:grpSp>
          <p:nvGrpSpPr>
            <p:cNvPr name="Group 17" id="17"/>
            <p:cNvGrpSpPr/>
            <p:nvPr/>
          </p:nvGrpSpPr>
          <p:grpSpPr>
            <a:xfrm rot="0">
              <a:off x="0" y="0"/>
              <a:ext cx="948267" cy="94826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F3F5"/>
              </a:solidFill>
              <a:ln cap="sq">
                <a:noFill/>
                <a:prstDash val="solid"/>
                <a:miter/>
              </a:ln>
            </p:spPr>
          </p:sp>
          <p:sp>
            <p:nvSpPr>
              <p:cNvPr name="TextBox 19" id="19"/>
              <p:cNvSpPr txBox="true"/>
              <p:nvPr/>
            </p:nvSpPr>
            <p:spPr>
              <a:xfrm>
                <a:off x="76200" y="47625"/>
                <a:ext cx="660400" cy="688975"/>
              </a:xfrm>
              <a:prstGeom prst="rect">
                <a:avLst/>
              </a:prstGeom>
            </p:spPr>
            <p:txBody>
              <a:bodyPr anchor="ctr" rtlCol="false" tIns="38443" lIns="38443" bIns="38443" rIns="38443"/>
              <a:lstStyle/>
              <a:p>
                <a:pPr algn="ctr" marL="0" indent="0" lvl="0">
                  <a:lnSpc>
                    <a:spcPts val="1960"/>
                  </a:lnSpc>
                  <a:spcBef>
                    <a:spcPct val="0"/>
                  </a:spcBef>
                </a:pPr>
              </a:p>
            </p:txBody>
          </p:sp>
        </p:grpSp>
        <p:sp>
          <p:nvSpPr>
            <p:cNvPr name="TextBox 20" id="20"/>
            <p:cNvSpPr txBox="true"/>
            <p:nvPr/>
          </p:nvSpPr>
          <p:spPr>
            <a:xfrm rot="0">
              <a:off x="0" y="72234"/>
              <a:ext cx="948267" cy="656421"/>
            </a:xfrm>
            <a:prstGeom prst="rect">
              <a:avLst/>
            </a:prstGeom>
          </p:spPr>
          <p:txBody>
            <a:bodyPr anchor="t" rtlCol="false" tIns="0" lIns="0" bIns="0" rIns="0">
              <a:spAutoFit/>
            </a:bodyPr>
            <a:lstStyle/>
            <a:p>
              <a:pPr algn="ctr">
                <a:lnSpc>
                  <a:spcPts val="4395"/>
                </a:lnSpc>
              </a:pPr>
              <a:r>
                <a:rPr lang="en-US" b="true" sz="2799">
                  <a:solidFill>
                    <a:srgbClr val="000000"/>
                  </a:solidFill>
                  <a:latin typeface="Canva Sans Bold"/>
                  <a:ea typeface="Canva Sans Bold"/>
                  <a:cs typeface="Canva Sans Bold"/>
                  <a:sym typeface="Canva Sans Bold"/>
                </a:rPr>
                <a:t>2</a:t>
              </a:r>
            </a:p>
          </p:txBody>
        </p:sp>
      </p:grpSp>
      <p:grpSp>
        <p:nvGrpSpPr>
          <p:cNvPr name="Group 21" id="21"/>
          <p:cNvGrpSpPr/>
          <p:nvPr/>
        </p:nvGrpSpPr>
        <p:grpSpPr>
          <a:xfrm rot="0">
            <a:off x="9370079" y="3008064"/>
            <a:ext cx="711200" cy="711200"/>
            <a:chOff x="0" y="0"/>
            <a:chExt cx="948267" cy="948267"/>
          </a:xfrm>
        </p:grpSpPr>
        <p:grpSp>
          <p:nvGrpSpPr>
            <p:cNvPr name="Group 22" id="22"/>
            <p:cNvGrpSpPr/>
            <p:nvPr/>
          </p:nvGrpSpPr>
          <p:grpSpPr>
            <a:xfrm rot="0">
              <a:off x="0" y="0"/>
              <a:ext cx="948267" cy="94826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F3F5"/>
              </a:solidFill>
              <a:ln cap="sq">
                <a:noFill/>
                <a:prstDash val="solid"/>
                <a:miter/>
              </a:ln>
            </p:spPr>
          </p:sp>
          <p:sp>
            <p:nvSpPr>
              <p:cNvPr name="TextBox 24" id="24"/>
              <p:cNvSpPr txBox="true"/>
              <p:nvPr/>
            </p:nvSpPr>
            <p:spPr>
              <a:xfrm>
                <a:off x="76200" y="47625"/>
                <a:ext cx="660400" cy="688975"/>
              </a:xfrm>
              <a:prstGeom prst="rect">
                <a:avLst/>
              </a:prstGeom>
            </p:spPr>
            <p:txBody>
              <a:bodyPr anchor="ctr" rtlCol="false" tIns="38443" lIns="38443" bIns="38443" rIns="38443"/>
              <a:lstStyle/>
              <a:p>
                <a:pPr algn="ctr" marL="0" indent="0" lvl="0">
                  <a:lnSpc>
                    <a:spcPts val="1960"/>
                  </a:lnSpc>
                  <a:spcBef>
                    <a:spcPct val="0"/>
                  </a:spcBef>
                </a:pPr>
              </a:p>
            </p:txBody>
          </p:sp>
        </p:grpSp>
        <p:sp>
          <p:nvSpPr>
            <p:cNvPr name="TextBox 25" id="25"/>
            <p:cNvSpPr txBox="true"/>
            <p:nvPr/>
          </p:nvSpPr>
          <p:spPr>
            <a:xfrm rot="0">
              <a:off x="0" y="72234"/>
              <a:ext cx="948267" cy="656421"/>
            </a:xfrm>
            <a:prstGeom prst="rect">
              <a:avLst/>
            </a:prstGeom>
          </p:spPr>
          <p:txBody>
            <a:bodyPr anchor="t" rtlCol="false" tIns="0" lIns="0" bIns="0" rIns="0">
              <a:spAutoFit/>
            </a:bodyPr>
            <a:lstStyle/>
            <a:p>
              <a:pPr algn="ctr">
                <a:lnSpc>
                  <a:spcPts val="4395"/>
                </a:lnSpc>
              </a:pPr>
              <a:r>
                <a:rPr lang="en-US" b="true" sz="2799">
                  <a:solidFill>
                    <a:srgbClr val="000000"/>
                  </a:solidFill>
                  <a:latin typeface="Canva Sans Bold"/>
                  <a:ea typeface="Canva Sans Bold"/>
                  <a:cs typeface="Canva Sans Bold"/>
                  <a:sym typeface="Canva Sans Bold"/>
                </a:rPr>
                <a:t>3</a:t>
              </a:r>
            </a:p>
          </p:txBody>
        </p:sp>
      </p:grpSp>
      <p:sp>
        <p:nvSpPr>
          <p:cNvPr name="TextBox 26" id="26"/>
          <p:cNvSpPr txBox="true"/>
          <p:nvPr/>
        </p:nvSpPr>
        <p:spPr>
          <a:xfrm rot="0">
            <a:off x="1083555" y="8006715"/>
            <a:ext cx="15750320" cy="1251585"/>
          </a:xfrm>
          <a:prstGeom prst="rect">
            <a:avLst/>
          </a:prstGeom>
        </p:spPr>
        <p:txBody>
          <a:bodyPr anchor="t" rtlCol="false" tIns="0" lIns="0" bIns="0" rIns="0">
            <a:spAutoFit/>
          </a:bodyPr>
          <a:lstStyle/>
          <a:p>
            <a:pPr algn="l">
              <a:lnSpc>
                <a:spcPts val="5040"/>
              </a:lnSpc>
            </a:pPr>
            <a:r>
              <a:rPr lang="en-US" sz="3600">
                <a:solidFill>
                  <a:srgbClr val="1C1F1B"/>
                </a:solidFill>
                <a:latin typeface="Canva Sans"/>
                <a:ea typeface="Canva Sans"/>
                <a:cs typeface="Canva Sans"/>
                <a:sym typeface="Canva Sans"/>
              </a:rPr>
              <a:t>Pretrained models for retrieval, one fine-tuned classifier, and the rules engine makes every legal decision.</a:t>
            </a:r>
          </a:p>
        </p:txBody>
      </p:sp>
      <p:sp>
        <p:nvSpPr>
          <p:cNvPr name="TextBox 27" id="27"/>
          <p:cNvSpPr txBox="true"/>
          <p:nvPr/>
        </p:nvSpPr>
        <p:spPr>
          <a:xfrm rot="0">
            <a:off x="12589755" y="8644890"/>
            <a:ext cx="4614691" cy="613410"/>
          </a:xfrm>
          <a:prstGeom prst="rect">
            <a:avLst/>
          </a:prstGeom>
        </p:spPr>
        <p:txBody>
          <a:bodyPr anchor="t" rtlCol="false" tIns="0" lIns="0" bIns="0" rIns="0">
            <a:spAutoFit/>
          </a:bodyPr>
          <a:lstStyle/>
          <a:p>
            <a:pPr algn="l">
              <a:lnSpc>
                <a:spcPts val="5040"/>
              </a:lnSpc>
            </a:pPr>
            <a:r>
              <a:rPr lang="en-US" sz="3600">
                <a:solidFill>
                  <a:srgbClr val="F3F3F5"/>
                </a:solidFill>
                <a:latin typeface="Canva Sans"/>
                <a:ea typeface="Canva Sans"/>
                <a:cs typeface="Canva Sans"/>
                <a:sym typeface="Canva Sans"/>
              </a:rPr>
              <a:t>Agenda point 3</a:t>
            </a:r>
          </a:p>
        </p:txBody>
      </p:sp>
      <p:sp>
        <p:nvSpPr>
          <p:cNvPr name="TextBox 28" id="28"/>
          <p:cNvSpPr txBox="true"/>
          <p:nvPr/>
        </p:nvSpPr>
        <p:spPr>
          <a:xfrm rot="0">
            <a:off x="2984530" y="1415807"/>
            <a:ext cx="11948368" cy="609600"/>
          </a:xfrm>
          <a:prstGeom prst="rect">
            <a:avLst/>
          </a:prstGeom>
        </p:spPr>
        <p:txBody>
          <a:bodyPr anchor="t" rtlCol="false" tIns="0" lIns="0" bIns="0" rIns="0">
            <a:spAutoFit/>
          </a:bodyPr>
          <a:lstStyle/>
          <a:p>
            <a:pPr algn="ctr" marL="0" indent="0" lvl="0">
              <a:lnSpc>
                <a:spcPts val="4858"/>
              </a:lnSpc>
              <a:spcBef>
                <a:spcPct val="0"/>
              </a:spcBef>
            </a:pPr>
            <a:r>
              <a:rPr lang="en-US" b="true" sz="4048">
                <a:solidFill>
                  <a:srgbClr val="000000"/>
                </a:solidFill>
                <a:latin typeface="Canva Sans Bold"/>
                <a:ea typeface="Canva Sans Bold"/>
                <a:cs typeface="Canva Sans Bold"/>
                <a:sym typeface="Canva Sans Bold"/>
              </a:rPr>
              <a:t> Claus</a:t>
            </a:r>
            <a:r>
              <a:rPr lang="en-US" b="true" sz="4048">
                <a:solidFill>
                  <a:srgbClr val="000000"/>
                </a:solidFill>
                <a:latin typeface="Canva Sans Bold"/>
                <a:ea typeface="Canva Sans Bold"/>
                <a:cs typeface="Canva Sans Bold"/>
                <a:sym typeface="Canva Sans Bold"/>
              </a:rPr>
              <a:t>eGuard: from lease pdf to cited verdict</a:t>
            </a:r>
          </a:p>
        </p:txBody>
      </p:sp>
      <p:grpSp>
        <p:nvGrpSpPr>
          <p:cNvPr name="Group 29" id="29"/>
          <p:cNvGrpSpPr/>
          <p:nvPr/>
        </p:nvGrpSpPr>
        <p:grpSpPr>
          <a:xfrm rot="0">
            <a:off x="13443318" y="2997200"/>
            <a:ext cx="3180697" cy="4270872"/>
            <a:chOff x="0" y="0"/>
            <a:chExt cx="837714" cy="1124839"/>
          </a:xfrm>
        </p:grpSpPr>
        <p:sp>
          <p:nvSpPr>
            <p:cNvPr name="Freeform 30" id="30"/>
            <p:cNvSpPr/>
            <p:nvPr/>
          </p:nvSpPr>
          <p:spPr>
            <a:xfrm flipH="false" flipV="false" rot="0">
              <a:off x="0" y="0"/>
              <a:ext cx="837714" cy="1124839"/>
            </a:xfrm>
            <a:custGeom>
              <a:avLst/>
              <a:gdLst/>
              <a:ahLst/>
              <a:cxnLst/>
              <a:rect r="r" b="b" t="t" l="l"/>
              <a:pathLst>
                <a:path h="1124839" w="837714">
                  <a:moveTo>
                    <a:pt x="48681" y="0"/>
                  </a:moveTo>
                  <a:lnTo>
                    <a:pt x="789034" y="0"/>
                  </a:lnTo>
                  <a:cubicBezTo>
                    <a:pt x="815919" y="0"/>
                    <a:pt x="837714" y="21795"/>
                    <a:pt x="837714" y="48681"/>
                  </a:cubicBezTo>
                  <a:lnTo>
                    <a:pt x="837714" y="1076158"/>
                  </a:lnTo>
                  <a:cubicBezTo>
                    <a:pt x="837714" y="1089069"/>
                    <a:pt x="832586" y="1101451"/>
                    <a:pt x="823456" y="1110580"/>
                  </a:cubicBezTo>
                  <a:cubicBezTo>
                    <a:pt x="814327" y="1119710"/>
                    <a:pt x="801945" y="1124839"/>
                    <a:pt x="789034" y="1124839"/>
                  </a:cubicBezTo>
                  <a:lnTo>
                    <a:pt x="48681" y="1124839"/>
                  </a:lnTo>
                  <a:cubicBezTo>
                    <a:pt x="21795" y="1124839"/>
                    <a:pt x="0" y="1103044"/>
                    <a:pt x="0" y="1076158"/>
                  </a:cubicBezTo>
                  <a:lnTo>
                    <a:pt x="0" y="48681"/>
                  </a:lnTo>
                  <a:cubicBezTo>
                    <a:pt x="0" y="35770"/>
                    <a:pt x="5129" y="23388"/>
                    <a:pt x="14258" y="14258"/>
                  </a:cubicBezTo>
                  <a:cubicBezTo>
                    <a:pt x="23388" y="5129"/>
                    <a:pt x="35770" y="0"/>
                    <a:pt x="48681" y="0"/>
                  </a:cubicBezTo>
                  <a:close/>
                </a:path>
              </a:pathLst>
            </a:custGeom>
            <a:solidFill>
              <a:srgbClr val="000000"/>
            </a:solidFill>
          </p:spPr>
        </p:sp>
        <p:sp>
          <p:nvSpPr>
            <p:cNvPr name="TextBox 31" id="31"/>
            <p:cNvSpPr txBox="true"/>
            <p:nvPr/>
          </p:nvSpPr>
          <p:spPr>
            <a:xfrm>
              <a:off x="0" y="-47625"/>
              <a:ext cx="837714" cy="1172464"/>
            </a:xfrm>
            <a:prstGeom prst="rect">
              <a:avLst/>
            </a:prstGeom>
          </p:spPr>
          <p:txBody>
            <a:bodyPr anchor="ctr" rtlCol="false" tIns="50800" lIns="50800" bIns="50800" rIns="50800"/>
            <a:lstStyle/>
            <a:p>
              <a:pPr algn="l">
                <a:lnSpc>
                  <a:spcPts val="2800"/>
                </a:lnSpc>
              </a:pPr>
              <a:r>
                <a:rPr lang="en-US" sz="2000">
                  <a:solidFill>
                    <a:srgbClr val="FFFFFF"/>
                  </a:solidFill>
                  <a:latin typeface="Canva Sans"/>
                  <a:ea typeface="Canva Sans"/>
                  <a:cs typeface="Canva Sans"/>
                  <a:sym typeface="Canva Sans"/>
                </a:rPr>
                <a:t>Check citations and say “needs review” when unsure, because sometimes the source isn’t clear  </a:t>
              </a:r>
            </a:p>
          </p:txBody>
        </p:sp>
      </p:grpSp>
      <p:grpSp>
        <p:nvGrpSpPr>
          <p:cNvPr name="Group 32" id="32"/>
          <p:cNvGrpSpPr/>
          <p:nvPr/>
        </p:nvGrpSpPr>
        <p:grpSpPr>
          <a:xfrm rot="0">
            <a:off x="13446127" y="3008064"/>
            <a:ext cx="711200" cy="711200"/>
            <a:chOff x="0" y="0"/>
            <a:chExt cx="948267" cy="948267"/>
          </a:xfrm>
        </p:grpSpPr>
        <p:grpSp>
          <p:nvGrpSpPr>
            <p:cNvPr name="Group 33" id="33"/>
            <p:cNvGrpSpPr/>
            <p:nvPr/>
          </p:nvGrpSpPr>
          <p:grpSpPr>
            <a:xfrm rot="0">
              <a:off x="0" y="0"/>
              <a:ext cx="948267" cy="948267"/>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F3F5"/>
              </a:solidFill>
              <a:ln cap="sq">
                <a:noFill/>
                <a:prstDash val="solid"/>
                <a:miter/>
              </a:ln>
            </p:spPr>
          </p:sp>
          <p:sp>
            <p:nvSpPr>
              <p:cNvPr name="TextBox 35" id="35"/>
              <p:cNvSpPr txBox="true"/>
              <p:nvPr/>
            </p:nvSpPr>
            <p:spPr>
              <a:xfrm>
                <a:off x="76200" y="47625"/>
                <a:ext cx="660400" cy="688975"/>
              </a:xfrm>
              <a:prstGeom prst="rect">
                <a:avLst/>
              </a:prstGeom>
            </p:spPr>
            <p:txBody>
              <a:bodyPr anchor="ctr" rtlCol="false" tIns="38443" lIns="38443" bIns="38443" rIns="38443"/>
              <a:lstStyle/>
              <a:p>
                <a:pPr algn="ctr" marL="0" indent="0" lvl="0">
                  <a:lnSpc>
                    <a:spcPts val="1960"/>
                  </a:lnSpc>
                  <a:spcBef>
                    <a:spcPct val="0"/>
                  </a:spcBef>
                </a:pPr>
              </a:p>
            </p:txBody>
          </p:sp>
        </p:grpSp>
        <p:sp>
          <p:nvSpPr>
            <p:cNvPr name="TextBox 36" id="36"/>
            <p:cNvSpPr txBox="true"/>
            <p:nvPr/>
          </p:nvSpPr>
          <p:spPr>
            <a:xfrm rot="0">
              <a:off x="0" y="72234"/>
              <a:ext cx="948267" cy="656421"/>
            </a:xfrm>
            <a:prstGeom prst="rect">
              <a:avLst/>
            </a:prstGeom>
          </p:spPr>
          <p:txBody>
            <a:bodyPr anchor="t" rtlCol="false" tIns="0" lIns="0" bIns="0" rIns="0">
              <a:spAutoFit/>
            </a:bodyPr>
            <a:lstStyle/>
            <a:p>
              <a:pPr algn="ctr">
                <a:lnSpc>
                  <a:spcPts val="4395"/>
                </a:lnSpc>
              </a:pPr>
              <a:r>
                <a:rPr lang="en-US" b="true" sz="2799">
                  <a:solidFill>
                    <a:srgbClr val="000000"/>
                  </a:solidFill>
                  <a:latin typeface="Canva Sans Bold"/>
                  <a:ea typeface="Canva Sans Bold"/>
                  <a:cs typeface="Canva Sans Bold"/>
                  <a:sym typeface="Canva Sans Bold"/>
                </a:rPr>
                <a:t>4</a:t>
              </a:r>
            </a:p>
          </p:txBody>
        </p:sp>
      </p:grpSp>
      <p:sp>
        <p:nvSpPr>
          <p:cNvPr name="TextBox 37" id="37"/>
          <p:cNvSpPr txBox="true"/>
          <p:nvPr/>
        </p:nvSpPr>
        <p:spPr>
          <a:xfrm rot="0">
            <a:off x="2691790" y="3138239"/>
            <a:ext cx="2009356" cy="412751"/>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TT Fors Bold"/>
                <a:ea typeface="TT Fors Bold"/>
                <a:cs typeface="TT Fors Bold"/>
                <a:sym typeface="TT Fors Bold"/>
              </a:rPr>
              <a:t>Ext</a:t>
            </a:r>
            <a:r>
              <a:rPr lang="en-US" b="true" sz="2499">
                <a:solidFill>
                  <a:srgbClr val="FFFFFF"/>
                </a:solidFill>
                <a:latin typeface="TT Fors Bold"/>
                <a:ea typeface="TT Fors Bold"/>
                <a:cs typeface="TT Fors Bold"/>
                <a:sym typeface="TT Fors Bold"/>
              </a:rPr>
              <a:t>ract  </a:t>
            </a:r>
          </a:p>
        </p:txBody>
      </p:sp>
      <p:sp>
        <p:nvSpPr>
          <p:cNvPr name="TextBox 38" id="38"/>
          <p:cNvSpPr txBox="true"/>
          <p:nvPr/>
        </p:nvSpPr>
        <p:spPr>
          <a:xfrm rot="0">
            <a:off x="6307696" y="3138239"/>
            <a:ext cx="2009356" cy="412751"/>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TT Fors Bold"/>
                <a:ea typeface="TT Fors Bold"/>
                <a:cs typeface="TT Fors Bold"/>
                <a:sym typeface="TT Fors Bold"/>
              </a:rPr>
              <a:t>Cl</a:t>
            </a:r>
            <a:r>
              <a:rPr lang="en-US" b="true" sz="2499">
                <a:solidFill>
                  <a:srgbClr val="FFFFFF"/>
                </a:solidFill>
                <a:latin typeface="TT Fors Bold"/>
                <a:ea typeface="TT Fors Bold"/>
                <a:cs typeface="TT Fors Bold"/>
                <a:sym typeface="TT Fors Bold"/>
              </a:rPr>
              <a:t>assify  </a:t>
            </a:r>
          </a:p>
        </p:txBody>
      </p:sp>
      <p:sp>
        <p:nvSpPr>
          <p:cNvPr name="TextBox 39" id="39"/>
          <p:cNvSpPr txBox="true"/>
          <p:nvPr/>
        </p:nvSpPr>
        <p:spPr>
          <a:xfrm rot="0">
            <a:off x="10081279" y="3138239"/>
            <a:ext cx="2009356" cy="412751"/>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TT Fors Bold"/>
                <a:ea typeface="TT Fors Bold"/>
                <a:cs typeface="TT Fors Bold"/>
                <a:sym typeface="TT Fors Bold"/>
              </a:rPr>
              <a:t>Dec</a:t>
            </a:r>
            <a:r>
              <a:rPr lang="en-US" b="true" sz="2499">
                <a:solidFill>
                  <a:srgbClr val="FFFFFF"/>
                </a:solidFill>
                <a:latin typeface="TT Fors Bold"/>
                <a:ea typeface="TT Fors Bold"/>
                <a:cs typeface="TT Fors Bold"/>
                <a:sym typeface="TT Fors Bold"/>
              </a:rPr>
              <a:t>ide  </a:t>
            </a:r>
          </a:p>
        </p:txBody>
      </p:sp>
      <p:sp>
        <p:nvSpPr>
          <p:cNvPr name="TextBox 40" id="40"/>
          <p:cNvSpPr txBox="true"/>
          <p:nvPr/>
        </p:nvSpPr>
        <p:spPr>
          <a:xfrm rot="0">
            <a:off x="14157327" y="3138239"/>
            <a:ext cx="2009356" cy="412751"/>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TT Fors Bold"/>
                <a:ea typeface="TT Fors Bold"/>
                <a:cs typeface="TT Fors Bold"/>
                <a:sym typeface="TT Fors Bold"/>
              </a:rPr>
              <a:t>Ver</a:t>
            </a:r>
            <a:r>
              <a:rPr lang="en-US" b="true" sz="2499">
                <a:solidFill>
                  <a:srgbClr val="FFFFFF"/>
                </a:solidFill>
                <a:latin typeface="TT Fors Bold"/>
                <a:ea typeface="TT Fors Bold"/>
                <a:cs typeface="TT Fors Bold"/>
                <a:sym typeface="TT Fors Bold"/>
              </a:rPr>
              <a:t>ify  </a:t>
            </a:r>
          </a:p>
        </p:txBody>
      </p:sp>
      <p:sp>
        <p:nvSpPr>
          <p:cNvPr name="TextBox 41" id="41"/>
          <p:cNvSpPr txBox="true"/>
          <p:nvPr/>
        </p:nvSpPr>
        <p:spPr>
          <a:xfrm rot="0">
            <a:off x="1513039" y="782654"/>
            <a:ext cx="2143676" cy="396911"/>
          </a:xfrm>
          <a:prstGeom prst="rect">
            <a:avLst/>
          </a:prstGeom>
        </p:spPr>
        <p:txBody>
          <a:bodyPr anchor="t" rtlCol="false" tIns="0" lIns="0" bIns="0" rIns="0">
            <a:spAutoFit/>
          </a:bodyPr>
          <a:lstStyle/>
          <a:p>
            <a:pPr algn="l" marL="0" indent="0" lvl="0">
              <a:lnSpc>
                <a:spcPts val="2798"/>
              </a:lnSpc>
            </a:pPr>
            <a:r>
              <a:rPr lang="en-US" b="true" sz="1998">
                <a:solidFill>
                  <a:srgbClr val="000000"/>
                </a:solidFill>
                <a:latin typeface="Cooper Hewitt Bold"/>
                <a:ea typeface="Cooper Hewitt Bold"/>
                <a:cs typeface="Cooper Hewitt Bold"/>
                <a:sym typeface="Cooper Hewitt Bold"/>
              </a:rPr>
              <a:t>ClauseGuard</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2332499"/>
            <a:ext cx="16325088" cy="661035"/>
          </a:xfrm>
          <a:prstGeom prst="rect">
            <a:avLst/>
          </a:prstGeom>
        </p:spPr>
        <p:txBody>
          <a:bodyPr anchor="t" rtlCol="false" tIns="0" lIns="0" bIns="0" rIns="0">
            <a:spAutoFit/>
          </a:bodyPr>
          <a:lstStyle/>
          <a:p>
            <a:pPr algn="l">
              <a:lnSpc>
                <a:spcPts val="5280"/>
              </a:lnSpc>
            </a:pPr>
            <a:r>
              <a:rPr lang="en-US" sz="4800" b="true">
                <a:solidFill>
                  <a:srgbClr val="1B2233"/>
                </a:solidFill>
                <a:latin typeface="Segoe UI Bold"/>
                <a:ea typeface="Segoe UI Bold"/>
                <a:cs typeface="Segoe UI Bold"/>
                <a:sym typeface="Segoe UI Bold"/>
              </a:rPr>
              <a:t>What we use and what we train</a:t>
            </a:r>
          </a:p>
        </p:txBody>
      </p:sp>
      <p:grpSp>
        <p:nvGrpSpPr>
          <p:cNvPr name="Group 3" id="3"/>
          <p:cNvGrpSpPr/>
          <p:nvPr/>
        </p:nvGrpSpPr>
        <p:grpSpPr>
          <a:xfrm rot="0">
            <a:off x="1219200" y="4084320"/>
            <a:ext cx="15849600" cy="1268730"/>
            <a:chOff x="0" y="0"/>
            <a:chExt cx="21132800" cy="1691640"/>
          </a:xfrm>
        </p:grpSpPr>
        <p:sp>
          <p:nvSpPr>
            <p:cNvPr name="Freeform 4" id="4"/>
            <p:cNvSpPr/>
            <p:nvPr/>
          </p:nvSpPr>
          <p:spPr>
            <a:xfrm flipH="false" flipV="false" rot="0">
              <a:off x="0" y="0"/>
              <a:ext cx="21132800" cy="1691640"/>
            </a:xfrm>
            <a:custGeom>
              <a:avLst/>
              <a:gdLst/>
              <a:ahLst/>
              <a:cxnLst/>
              <a:rect r="r" b="b" t="t" l="l"/>
              <a:pathLst>
                <a:path h="1691640" w="21132800">
                  <a:moveTo>
                    <a:pt x="0" y="198374"/>
                  </a:moveTo>
                  <a:cubicBezTo>
                    <a:pt x="0" y="88773"/>
                    <a:pt x="88773" y="0"/>
                    <a:pt x="198374" y="0"/>
                  </a:cubicBezTo>
                  <a:lnTo>
                    <a:pt x="20934426" y="0"/>
                  </a:lnTo>
                  <a:cubicBezTo>
                    <a:pt x="21044027" y="0"/>
                    <a:pt x="21132800" y="88773"/>
                    <a:pt x="21132800" y="198374"/>
                  </a:cubicBezTo>
                  <a:lnTo>
                    <a:pt x="21132800" y="1493266"/>
                  </a:lnTo>
                  <a:cubicBezTo>
                    <a:pt x="21132800" y="1602867"/>
                    <a:pt x="21044027" y="1691640"/>
                    <a:pt x="20934426" y="1691640"/>
                  </a:cubicBezTo>
                  <a:lnTo>
                    <a:pt x="198374" y="1691640"/>
                  </a:lnTo>
                  <a:cubicBezTo>
                    <a:pt x="88773" y="1691640"/>
                    <a:pt x="0" y="1602867"/>
                    <a:pt x="0" y="1493266"/>
                  </a:cubicBezTo>
                  <a:close/>
                </a:path>
              </a:pathLst>
            </a:custGeom>
            <a:solidFill>
              <a:srgbClr val="FFFFFF"/>
            </a:solidFill>
            <a:ln w="9525" cap="sq">
              <a:solidFill>
                <a:srgbClr val="DCD9CF"/>
              </a:solidFill>
              <a:prstDash val="solid"/>
              <a:miter/>
            </a:ln>
          </p:spPr>
        </p:sp>
      </p:grpSp>
      <p:sp>
        <p:nvSpPr>
          <p:cNvPr name="TextBox 5" id="5"/>
          <p:cNvSpPr txBox="true"/>
          <p:nvPr/>
        </p:nvSpPr>
        <p:spPr>
          <a:xfrm rot="0">
            <a:off x="1569720" y="4524375"/>
            <a:ext cx="4120515" cy="426720"/>
          </a:xfrm>
          <a:prstGeom prst="rect">
            <a:avLst/>
          </a:prstGeom>
        </p:spPr>
        <p:txBody>
          <a:bodyPr anchor="t" rtlCol="false" tIns="0" lIns="0" bIns="0" rIns="0">
            <a:spAutoFit/>
          </a:bodyPr>
          <a:lstStyle/>
          <a:p>
            <a:pPr algn="l">
              <a:lnSpc>
                <a:spcPts val="3060"/>
              </a:lnSpc>
            </a:pPr>
            <a:r>
              <a:rPr lang="en-US" sz="2550" b="true">
                <a:solidFill>
                  <a:srgbClr val="1B2233"/>
                </a:solidFill>
                <a:latin typeface="Segoe UI Bold"/>
                <a:ea typeface="Segoe UI Bold"/>
                <a:cs typeface="Segoe UI Bold"/>
                <a:sym typeface="Segoe UI Bold"/>
              </a:rPr>
              <a:t>Embeddings and reranker</a:t>
            </a:r>
          </a:p>
        </p:txBody>
      </p:sp>
      <p:sp>
        <p:nvSpPr>
          <p:cNvPr name="TextBox 6" id="6"/>
          <p:cNvSpPr txBox="true"/>
          <p:nvPr/>
        </p:nvSpPr>
        <p:spPr>
          <a:xfrm rot="0">
            <a:off x="5875020" y="4330065"/>
            <a:ext cx="8500034" cy="786765"/>
          </a:xfrm>
          <a:prstGeom prst="rect">
            <a:avLst/>
          </a:prstGeom>
        </p:spPr>
        <p:txBody>
          <a:bodyPr anchor="t" rtlCol="false" tIns="0" lIns="0" bIns="0" rIns="0">
            <a:spAutoFit/>
          </a:bodyPr>
          <a:lstStyle/>
          <a:p>
            <a:pPr algn="l">
              <a:lnSpc>
                <a:spcPts val="2835"/>
              </a:lnSpc>
            </a:pPr>
            <a:r>
              <a:rPr lang="en-US" sz="2100">
                <a:solidFill>
                  <a:srgbClr val="5B6475"/>
                </a:solidFill>
                <a:latin typeface="Segoe UI"/>
                <a:ea typeface="Segoe UI"/>
                <a:cs typeface="Segoe UI"/>
                <a:sym typeface="Segoe UI"/>
              </a:rPr>
              <a:t>Pretrained sentence-transformers models, tested on our clause-to-law pairs</a:t>
            </a:r>
          </a:p>
        </p:txBody>
      </p:sp>
      <p:grpSp>
        <p:nvGrpSpPr>
          <p:cNvPr name="Group 7" id="7"/>
          <p:cNvGrpSpPr/>
          <p:nvPr/>
        </p:nvGrpSpPr>
        <p:grpSpPr>
          <a:xfrm rot="0">
            <a:off x="1219200" y="5543550"/>
            <a:ext cx="15849600" cy="937260"/>
            <a:chOff x="0" y="0"/>
            <a:chExt cx="21132800" cy="1249680"/>
          </a:xfrm>
        </p:grpSpPr>
        <p:sp>
          <p:nvSpPr>
            <p:cNvPr name="Freeform 8" id="8"/>
            <p:cNvSpPr/>
            <p:nvPr/>
          </p:nvSpPr>
          <p:spPr>
            <a:xfrm flipH="false" flipV="false" rot="0">
              <a:off x="0" y="0"/>
              <a:ext cx="21132800" cy="1249680"/>
            </a:xfrm>
            <a:custGeom>
              <a:avLst/>
              <a:gdLst/>
              <a:ahLst/>
              <a:cxnLst/>
              <a:rect r="r" b="b" t="t" l="l"/>
              <a:pathLst>
                <a:path h="1249680" w="21132800">
                  <a:moveTo>
                    <a:pt x="0" y="198882"/>
                  </a:moveTo>
                  <a:cubicBezTo>
                    <a:pt x="0" y="89027"/>
                    <a:pt x="89027" y="0"/>
                    <a:pt x="198882" y="0"/>
                  </a:cubicBezTo>
                  <a:lnTo>
                    <a:pt x="20933918" y="0"/>
                  </a:lnTo>
                  <a:cubicBezTo>
                    <a:pt x="21043773" y="0"/>
                    <a:pt x="21132800" y="89027"/>
                    <a:pt x="21132800" y="198882"/>
                  </a:cubicBezTo>
                  <a:lnTo>
                    <a:pt x="21132800" y="1050798"/>
                  </a:lnTo>
                  <a:cubicBezTo>
                    <a:pt x="21132800" y="1160653"/>
                    <a:pt x="21043773" y="1249680"/>
                    <a:pt x="20933918" y="1249680"/>
                  </a:cubicBezTo>
                  <a:lnTo>
                    <a:pt x="198882" y="1249680"/>
                  </a:lnTo>
                  <a:cubicBezTo>
                    <a:pt x="89027" y="1249680"/>
                    <a:pt x="0" y="1160653"/>
                    <a:pt x="0" y="1050798"/>
                  </a:cubicBezTo>
                  <a:close/>
                </a:path>
              </a:pathLst>
            </a:custGeom>
            <a:solidFill>
              <a:srgbClr val="E9E6FB"/>
            </a:solidFill>
            <a:ln w="9525" cap="sq">
              <a:solidFill>
                <a:srgbClr val="5B4BC4"/>
              </a:solidFill>
              <a:prstDash val="solid"/>
              <a:miter/>
            </a:ln>
          </p:spPr>
        </p:sp>
      </p:grpSp>
      <p:sp>
        <p:nvSpPr>
          <p:cNvPr name="TextBox 9" id="9"/>
          <p:cNvSpPr txBox="true"/>
          <p:nvPr/>
        </p:nvSpPr>
        <p:spPr>
          <a:xfrm rot="0">
            <a:off x="1569720" y="5817870"/>
            <a:ext cx="4120515" cy="426720"/>
          </a:xfrm>
          <a:prstGeom prst="rect">
            <a:avLst/>
          </a:prstGeom>
        </p:spPr>
        <p:txBody>
          <a:bodyPr anchor="t" rtlCol="false" tIns="0" lIns="0" bIns="0" rIns="0">
            <a:spAutoFit/>
          </a:bodyPr>
          <a:lstStyle/>
          <a:p>
            <a:pPr algn="l">
              <a:lnSpc>
                <a:spcPts val="3060"/>
              </a:lnSpc>
            </a:pPr>
            <a:r>
              <a:rPr lang="en-US" sz="2550" b="true">
                <a:solidFill>
                  <a:srgbClr val="3A2F8F"/>
                </a:solidFill>
                <a:latin typeface="Segoe UI Bold"/>
                <a:ea typeface="Segoe UI Bold"/>
                <a:cs typeface="Segoe UI Bold"/>
                <a:sym typeface="Segoe UI Bold"/>
              </a:rPr>
              <a:t>Clause classifier</a:t>
            </a:r>
          </a:p>
        </p:txBody>
      </p:sp>
      <p:sp>
        <p:nvSpPr>
          <p:cNvPr name="TextBox 10" id="10"/>
          <p:cNvSpPr txBox="true"/>
          <p:nvPr/>
        </p:nvSpPr>
        <p:spPr>
          <a:xfrm rot="0">
            <a:off x="5875020" y="5803583"/>
            <a:ext cx="8500034" cy="426720"/>
          </a:xfrm>
          <a:prstGeom prst="rect">
            <a:avLst/>
          </a:prstGeom>
        </p:spPr>
        <p:txBody>
          <a:bodyPr anchor="t" rtlCol="false" tIns="0" lIns="0" bIns="0" rIns="0">
            <a:spAutoFit/>
          </a:bodyPr>
          <a:lstStyle/>
          <a:p>
            <a:pPr algn="l">
              <a:lnSpc>
                <a:spcPts val="2835"/>
              </a:lnSpc>
            </a:pPr>
            <a:r>
              <a:rPr lang="en-US" sz="2100">
                <a:solidFill>
                  <a:srgbClr val="3A2F8F"/>
                </a:solidFill>
                <a:latin typeface="Segoe UI"/>
                <a:ea typeface="Segoe UI"/>
                <a:cs typeface="Segoe UI"/>
                <a:sym typeface="Segoe UI"/>
              </a:rPr>
              <a:t>Legal-BERT (contracts variant) fine-tuned on our labelled clauses</a:t>
            </a:r>
          </a:p>
        </p:txBody>
      </p:sp>
      <p:grpSp>
        <p:nvGrpSpPr>
          <p:cNvPr name="Group 11" id="11"/>
          <p:cNvGrpSpPr/>
          <p:nvPr/>
        </p:nvGrpSpPr>
        <p:grpSpPr>
          <a:xfrm rot="0">
            <a:off x="1219200" y="6671310"/>
            <a:ext cx="15849600" cy="1268730"/>
            <a:chOff x="0" y="0"/>
            <a:chExt cx="21132800" cy="1691640"/>
          </a:xfrm>
        </p:grpSpPr>
        <p:sp>
          <p:nvSpPr>
            <p:cNvPr name="Freeform 12" id="12"/>
            <p:cNvSpPr/>
            <p:nvPr/>
          </p:nvSpPr>
          <p:spPr>
            <a:xfrm flipH="false" flipV="false" rot="0">
              <a:off x="0" y="0"/>
              <a:ext cx="21132800" cy="1691640"/>
            </a:xfrm>
            <a:custGeom>
              <a:avLst/>
              <a:gdLst/>
              <a:ahLst/>
              <a:cxnLst/>
              <a:rect r="r" b="b" t="t" l="l"/>
              <a:pathLst>
                <a:path h="1691640" w="21132800">
                  <a:moveTo>
                    <a:pt x="0" y="198374"/>
                  </a:moveTo>
                  <a:cubicBezTo>
                    <a:pt x="0" y="88773"/>
                    <a:pt x="88773" y="0"/>
                    <a:pt x="198374" y="0"/>
                  </a:cubicBezTo>
                  <a:lnTo>
                    <a:pt x="20934426" y="0"/>
                  </a:lnTo>
                  <a:cubicBezTo>
                    <a:pt x="21044027" y="0"/>
                    <a:pt x="21132800" y="88773"/>
                    <a:pt x="21132800" y="198374"/>
                  </a:cubicBezTo>
                  <a:lnTo>
                    <a:pt x="21132800" y="1493266"/>
                  </a:lnTo>
                  <a:cubicBezTo>
                    <a:pt x="21132800" y="1602867"/>
                    <a:pt x="21044027" y="1691640"/>
                    <a:pt x="20934426" y="1691640"/>
                  </a:cubicBezTo>
                  <a:lnTo>
                    <a:pt x="198374" y="1691640"/>
                  </a:lnTo>
                  <a:cubicBezTo>
                    <a:pt x="88773" y="1691640"/>
                    <a:pt x="0" y="1602867"/>
                    <a:pt x="0" y="1493266"/>
                  </a:cubicBezTo>
                  <a:close/>
                </a:path>
              </a:pathLst>
            </a:custGeom>
            <a:solidFill>
              <a:srgbClr val="FFFFFF"/>
            </a:solidFill>
            <a:ln w="9525" cap="sq">
              <a:solidFill>
                <a:srgbClr val="DCD9CF"/>
              </a:solidFill>
              <a:prstDash val="solid"/>
              <a:miter/>
            </a:ln>
          </p:spPr>
        </p:sp>
      </p:grpSp>
      <p:sp>
        <p:nvSpPr>
          <p:cNvPr name="TextBox 13" id="13"/>
          <p:cNvSpPr txBox="true"/>
          <p:nvPr/>
        </p:nvSpPr>
        <p:spPr>
          <a:xfrm rot="0">
            <a:off x="1569720" y="7111365"/>
            <a:ext cx="4120515" cy="426720"/>
          </a:xfrm>
          <a:prstGeom prst="rect">
            <a:avLst/>
          </a:prstGeom>
        </p:spPr>
        <p:txBody>
          <a:bodyPr anchor="t" rtlCol="false" tIns="0" lIns="0" bIns="0" rIns="0">
            <a:spAutoFit/>
          </a:bodyPr>
          <a:lstStyle/>
          <a:p>
            <a:pPr algn="l">
              <a:lnSpc>
                <a:spcPts val="3060"/>
              </a:lnSpc>
            </a:pPr>
            <a:r>
              <a:rPr lang="en-US" sz="2550" b="true">
                <a:solidFill>
                  <a:srgbClr val="1B2233"/>
                </a:solidFill>
                <a:latin typeface="Segoe UI Bold"/>
                <a:ea typeface="Segoe UI Bold"/>
                <a:cs typeface="Segoe UI Bold"/>
                <a:sym typeface="Segoe UI Bold"/>
              </a:rPr>
              <a:t>Rules engine</a:t>
            </a:r>
          </a:p>
        </p:txBody>
      </p:sp>
      <p:sp>
        <p:nvSpPr>
          <p:cNvPr name="TextBox 14" id="14"/>
          <p:cNvSpPr txBox="true"/>
          <p:nvPr/>
        </p:nvSpPr>
        <p:spPr>
          <a:xfrm rot="0">
            <a:off x="5875020" y="6917055"/>
            <a:ext cx="8500034" cy="786765"/>
          </a:xfrm>
          <a:prstGeom prst="rect">
            <a:avLst/>
          </a:prstGeom>
        </p:spPr>
        <p:txBody>
          <a:bodyPr anchor="t" rtlCol="false" tIns="0" lIns="0" bIns="0" rIns="0">
            <a:spAutoFit/>
          </a:bodyPr>
          <a:lstStyle/>
          <a:p>
            <a:pPr algn="l">
              <a:lnSpc>
                <a:spcPts val="2835"/>
              </a:lnSpc>
            </a:pPr>
            <a:r>
              <a:rPr lang="en-US" sz="2100">
                <a:solidFill>
                  <a:srgbClr val="5B6475"/>
                </a:solidFill>
                <a:latin typeface="Segoe UI"/>
                <a:ea typeface="Segoe UI"/>
                <a:cs typeface="Segoe UI"/>
                <a:sym typeface="Segoe UI"/>
              </a:rPr>
              <a:t>OpenFisca with dated statutory rules makes every compliance decision</a:t>
            </a:r>
          </a:p>
        </p:txBody>
      </p:sp>
      <p:grpSp>
        <p:nvGrpSpPr>
          <p:cNvPr name="Group 15" id="15"/>
          <p:cNvGrpSpPr/>
          <p:nvPr/>
        </p:nvGrpSpPr>
        <p:grpSpPr>
          <a:xfrm rot="0">
            <a:off x="1219200" y="8130540"/>
            <a:ext cx="15849600" cy="937260"/>
            <a:chOff x="0" y="0"/>
            <a:chExt cx="21132800" cy="1249680"/>
          </a:xfrm>
        </p:grpSpPr>
        <p:sp>
          <p:nvSpPr>
            <p:cNvPr name="Freeform 16" id="16"/>
            <p:cNvSpPr/>
            <p:nvPr/>
          </p:nvSpPr>
          <p:spPr>
            <a:xfrm flipH="false" flipV="false" rot="0">
              <a:off x="0" y="0"/>
              <a:ext cx="21132800" cy="1249680"/>
            </a:xfrm>
            <a:custGeom>
              <a:avLst/>
              <a:gdLst/>
              <a:ahLst/>
              <a:cxnLst/>
              <a:rect r="r" b="b" t="t" l="l"/>
              <a:pathLst>
                <a:path h="1249680" w="21132800">
                  <a:moveTo>
                    <a:pt x="0" y="198882"/>
                  </a:moveTo>
                  <a:cubicBezTo>
                    <a:pt x="0" y="89027"/>
                    <a:pt x="89027" y="0"/>
                    <a:pt x="198882" y="0"/>
                  </a:cubicBezTo>
                  <a:lnTo>
                    <a:pt x="20933918" y="0"/>
                  </a:lnTo>
                  <a:cubicBezTo>
                    <a:pt x="21043773" y="0"/>
                    <a:pt x="21132800" y="89027"/>
                    <a:pt x="21132800" y="198882"/>
                  </a:cubicBezTo>
                  <a:lnTo>
                    <a:pt x="21132800" y="1050798"/>
                  </a:lnTo>
                  <a:cubicBezTo>
                    <a:pt x="21132800" y="1160653"/>
                    <a:pt x="21043773" y="1249680"/>
                    <a:pt x="20933918" y="1249680"/>
                  </a:cubicBezTo>
                  <a:lnTo>
                    <a:pt x="198882" y="1249680"/>
                  </a:lnTo>
                  <a:cubicBezTo>
                    <a:pt x="89027" y="1249680"/>
                    <a:pt x="0" y="1160653"/>
                    <a:pt x="0" y="1050798"/>
                  </a:cubicBezTo>
                  <a:close/>
                </a:path>
              </a:pathLst>
            </a:custGeom>
            <a:solidFill>
              <a:srgbClr val="FFFFFF"/>
            </a:solidFill>
            <a:ln w="9525" cap="sq">
              <a:solidFill>
                <a:srgbClr val="DCD9CF"/>
              </a:solidFill>
              <a:prstDash val="solid"/>
              <a:miter/>
            </a:ln>
          </p:spPr>
        </p:sp>
      </p:grpSp>
      <p:sp>
        <p:nvSpPr>
          <p:cNvPr name="TextBox 17" id="17"/>
          <p:cNvSpPr txBox="true"/>
          <p:nvPr/>
        </p:nvSpPr>
        <p:spPr>
          <a:xfrm rot="0">
            <a:off x="1569720" y="8404860"/>
            <a:ext cx="4120515" cy="426720"/>
          </a:xfrm>
          <a:prstGeom prst="rect">
            <a:avLst/>
          </a:prstGeom>
        </p:spPr>
        <p:txBody>
          <a:bodyPr anchor="t" rtlCol="false" tIns="0" lIns="0" bIns="0" rIns="0">
            <a:spAutoFit/>
          </a:bodyPr>
          <a:lstStyle/>
          <a:p>
            <a:pPr algn="l">
              <a:lnSpc>
                <a:spcPts val="3060"/>
              </a:lnSpc>
            </a:pPr>
            <a:r>
              <a:rPr lang="en-US" sz="2550" b="true">
                <a:solidFill>
                  <a:srgbClr val="1B2233"/>
                </a:solidFill>
                <a:latin typeface="Segoe UI Bold"/>
                <a:ea typeface="Segoe UI Bold"/>
                <a:cs typeface="Segoe UI Bold"/>
                <a:sym typeface="Segoe UI Bold"/>
              </a:rPr>
              <a:t>Abstention</a:t>
            </a:r>
          </a:p>
        </p:txBody>
      </p:sp>
      <p:sp>
        <p:nvSpPr>
          <p:cNvPr name="TextBox 18" id="18"/>
          <p:cNvSpPr txBox="true"/>
          <p:nvPr/>
        </p:nvSpPr>
        <p:spPr>
          <a:xfrm rot="0">
            <a:off x="5875020" y="8390573"/>
            <a:ext cx="8500034" cy="426720"/>
          </a:xfrm>
          <a:prstGeom prst="rect">
            <a:avLst/>
          </a:prstGeom>
        </p:spPr>
        <p:txBody>
          <a:bodyPr anchor="t" rtlCol="false" tIns="0" lIns="0" bIns="0" rIns="0">
            <a:spAutoFit/>
          </a:bodyPr>
          <a:lstStyle/>
          <a:p>
            <a:pPr algn="l">
              <a:lnSpc>
                <a:spcPts val="2835"/>
              </a:lnSpc>
            </a:pPr>
            <a:r>
              <a:rPr lang="en-US" sz="2100">
                <a:solidFill>
                  <a:srgbClr val="5B6475"/>
                </a:solidFill>
                <a:latin typeface="Segoe UI"/>
                <a:ea typeface="Segoe UI"/>
                <a:cs typeface="Segoe UI"/>
                <a:sym typeface="Segoe UI"/>
              </a:rPr>
              <a:t>Conformal calibration on a held-out set flags "needs review"</a:t>
            </a:r>
          </a:p>
        </p:txBody>
      </p:sp>
      <p:sp>
        <p:nvSpPr>
          <p:cNvPr name="TextBox 19" id="19"/>
          <p:cNvSpPr txBox="true"/>
          <p:nvPr/>
        </p:nvSpPr>
        <p:spPr>
          <a:xfrm rot="0">
            <a:off x="1513039" y="782654"/>
            <a:ext cx="2143676" cy="396911"/>
          </a:xfrm>
          <a:prstGeom prst="rect">
            <a:avLst/>
          </a:prstGeom>
        </p:spPr>
        <p:txBody>
          <a:bodyPr anchor="t" rtlCol="false" tIns="0" lIns="0" bIns="0" rIns="0">
            <a:spAutoFit/>
          </a:bodyPr>
          <a:lstStyle/>
          <a:p>
            <a:pPr algn="l" marL="0" indent="0" lvl="0">
              <a:lnSpc>
                <a:spcPts val="2798"/>
              </a:lnSpc>
            </a:pPr>
            <a:r>
              <a:rPr lang="en-US" b="true" sz="1998">
                <a:solidFill>
                  <a:srgbClr val="000000"/>
                </a:solidFill>
                <a:latin typeface="Cooper Hewitt Bold"/>
                <a:ea typeface="Cooper Hewitt Bold"/>
                <a:cs typeface="Cooper Hewitt Bold"/>
                <a:sym typeface="Cooper Hewitt Bold"/>
              </a:rPr>
              <a:t>ClauseGuard</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B2233"/>
        </a:solidFill>
      </p:bgPr>
    </p:bg>
    <p:spTree>
      <p:nvGrpSpPr>
        <p:cNvPr id="1" name=""/>
        <p:cNvGrpSpPr/>
        <p:nvPr/>
      </p:nvGrpSpPr>
      <p:grpSpPr>
        <a:xfrm>
          <a:off x="0" y="0"/>
          <a:ext cx="0" cy="0"/>
          <a:chOff x="0" y="0"/>
          <a:chExt cx="0" cy="0"/>
        </a:xfrm>
      </p:grpSpPr>
      <p:sp>
        <p:nvSpPr>
          <p:cNvPr name="TextBox 2" id="2"/>
          <p:cNvSpPr txBox="true"/>
          <p:nvPr/>
        </p:nvSpPr>
        <p:spPr>
          <a:xfrm rot="0">
            <a:off x="1219200" y="2332499"/>
            <a:ext cx="16325088" cy="661035"/>
          </a:xfrm>
          <a:prstGeom prst="rect">
            <a:avLst/>
          </a:prstGeom>
        </p:spPr>
        <p:txBody>
          <a:bodyPr anchor="t" rtlCol="false" tIns="0" lIns="0" bIns="0" rIns="0">
            <a:spAutoFit/>
          </a:bodyPr>
          <a:lstStyle/>
          <a:p>
            <a:pPr algn="l">
              <a:lnSpc>
                <a:spcPts val="5280"/>
              </a:lnSpc>
            </a:pPr>
            <a:r>
              <a:rPr lang="en-US" sz="4800" b="true">
                <a:solidFill>
                  <a:srgbClr val="F2EFE8"/>
                </a:solidFill>
                <a:latin typeface="Segoe UI Bold"/>
                <a:ea typeface="Segoe UI Bold"/>
                <a:cs typeface="Segoe UI Bold"/>
                <a:sym typeface="Segoe UI Bold"/>
              </a:rPr>
              <a:t>Data, labelling and evaluation</a:t>
            </a:r>
          </a:p>
        </p:txBody>
      </p:sp>
      <p:grpSp>
        <p:nvGrpSpPr>
          <p:cNvPr name="Group 3" id="3"/>
          <p:cNvGrpSpPr/>
          <p:nvPr/>
        </p:nvGrpSpPr>
        <p:grpSpPr>
          <a:xfrm rot="0">
            <a:off x="1116755" y="4747260"/>
            <a:ext cx="5079921" cy="3977640"/>
            <a:chOff x="0" y="0"/>
            <a:chExt cx="6773228" cy="5303520"/>
          </a:xfrm>
        </p:grpSpPr>
        <p:sp>
          <p:nvSpPr>
            <p:cNvPr name="Freeform 4" id="4"/>
            <p:cNvSpPr/>
            <p:nvPr/>
          </p:nvSpPr>
          <p:spPr>
            <a:xfrm flipH="false" flipV="false" rot="0">
              <a:off x="0" y="0"/>
              <a:ext cx="6773291" cy="5303520"/>
            </a:xfrm>
            <a:custGeom>
              <a:avLst/>
              <a:gdLst/>
              <a:ahLst/>
              <a:cxnLst/>
              <a:rect r="r" b="b" t="t" l="l"/>
              <a:pathLst>
                <a:path h="5303520" w="6773291">
                  <a:moveTo>
                    <a:pt x="0" y="203200"/>
                  </a:moveTo>
                  <a:cubicBezTo>
                    <a:pt x="0" y="90932"/>
                    <a:pt x="90932" y="0"/>
                    <a:pt x="203200" y="0"/>
                  </a:cubicBezTo>
                  <a:lnTo>
                    <a:pt x="6570091" y="0"/>
                  </a:lnTo>
                  <a:cubicBezTo>
                    <a:pt x="6682360" y="0"/>
                    <a:pt x="6773291" y="90932"/>
                    <a:pt x="6773291" y="203200"/>
                  </a:cubicBezTo>
                  <a:lnTo>
                    <a:pt x="6773291" y="5100320"/>
                  </a:lnTo>
                  <a:cubicBezTo>
                    <a:pt x="6773291" y="5212588"/>
                    <a:pt x="6682360" y="5303520"/>
                    <a:pt x="6570091" y="5303520"/>
                  </a:cubicBezTo>
                  <a:lnTo>
                    <a:pt x="203200" y="5303520"/>
                  </a:lnTo>
                  <a:cubicBezTo>
                    <a:pt x="90932" y="5303520"/>
                    <a:pt x="0" y="5212588"/>
                    <a:pt x="0" y="5100320"/>
                  </a:cubicBezTo>
                  <a:close/>
                </a:path>
              </a:pathLst>
            </a:custGeom>
            <a:solidFill>
              <a:srgbClr val="262F45"/>
            </a:solidFill>
          </p:spPr>
        </p:sp>
      </p:grpSp>
      <p:sp>
        <p:nvSpPr>
          <p:cNvPr name="TextBox 5" id="5"/>
          <p:cNvSpPr txBox="true"/>
          <p:nvPr/>
        </p:nvSpPr>
        <p:spPr>
          <a:xfrm rot="0">
            <a:off x="1600200" y="5471160"/>
            <a:ext cx="4447461" cy="449580"/>
          </a:xfrm>
          <a:prstGeom prst="rect">
            <a:avLst/>
          </a:prstGeom>
        </p:spPr>
        <p:txBody>
          <a:bodyPr anchor="t" rtlCol="false" tIns="0" lIns="0" bIns="0" rIns="0">
            <a:spAutoFit/>
          </a:bodyPr>
          <a:lstStyle/>
          <a:p>
            <a:pPr algn="l">
              <a:lnSpc>
                <a:spcPts val="3240"/>
              </a:lnSpc>
            </a:pPr>
            <a:r>
              <a:rPr lang="en-US" sz="2700" b="true">
                <a:solidFill>
                  <a:srgbClr val="B9B0F5"/>
                </a:solidFill>
                <a:latin typeface="Segoe UI Bold"/>
                <a:ea typeface="Segoe UI Bold"/>
                <a:cs typeface="Segoe UI Bold"/>
                <a:sym typeface="Segoe UI Bold"/>
              </a:rPr>
              <a:t>What we label</a:t>
            </a:r>
          </a:p>
        </p:txBody>
      </p:sp>
      <p:sp>
        <p:nvSpPr>
          <p:cNvPr name="TextBox 6" id="6"/>
          <p:cNvSpPr txBox="true"/>
          <p:nvPr/>
        </p:nvSpPr>
        <p:spPr>
          <a:xfrm rot="0">
            <a:off x="1708023" y="6035040"/>
            <a:ext cx="4328208" cy="1943100"/>
          </a:xfrm>
          <a:prstGeom prst="rect">
            <a:avLst/>
          </a:prstGeom>
        </p:spPr>
        <p:txBody>
          <a:bodyPr anchor="t" rtlCol="false" tIns="0" lIns="0" bIns="0" rIns="0">
            <a:spAutoFit/>
          </a:bodyPr>
          <a:lstStyle/>
          <a:p>
            <a:pPr algn="l" marL="380048" indent="-190024" lvl="1">
              <a:lnSpc>
                <a:spcPts val="2940"/>
              </a:lnSpc>
              <a:buFont typeface="Arial"/>
              <a:buChar char="•"/>
            </a:pPr>
            <a:r>
              <a:rPr lang="en-US" sz="2100">
                <a:solidFill>
                  <a:srgbClr val="F2EFE8"/>
                </a:solidFill>
                <a:latin typeface="Segoe UI"/>
                <a:ea typeface="Segoe UI"/>
                <a:cs typeface="Segoe UI"/>
                <a:sym typeface="Segoe UI"/>
              </a:rPr>
              <a:t>Clause boundaries</a:t>
            </a:r>
          </a:p>
          <a:p>
            <a:pPr algn="l" marL="380048" indent="-190024" lvl="1">
              <a:lnSpc>
                <a:spcPts val="2940"/>
              </a:lnSpc>
              <a:buFont typeface="Arial"/>
              <a:buChar char="•"/>
            </a:pPr>
            <a:r>
              <a:rPr lang="en-US" sz="2100">
                <a:solidFill>
                  <a:srgbClr val="F2EFE8"/>
                </a:solidFill>
                <a:latin typeface="Segoe UI"/>
                <a:ea typeface="Segoe UI"/>
                <a:cs typeface="Segoe UI"/>
                <a:sym typeface="Segoe UI"/>
              </a:rPr>
              <a:t>Category and extracted values</a:t>
            </a:r>
          </a:p>
          <a:p>
            <a:pPr algn="l" marL="380048" indent="-190024" lvl="1">
              <a:lnSpc>
                <a:spcPts val="2940"/>
              </a:lnSpc>
              <a:buFont typeface="Arial"/>
              <a:buChar char="•"/>
            </a:pPr>
            <a:r>
              <a:rPr lang="en-US" sz="2100">
                <a:solidFill>
                  <a:srgbClr val="F2EFE8"/>
                </a:solidFill>
                <a:latin typeface="Segoe UI"/>
                <a:ea typeface="Segoe UI"/>
                <a:cs typeface="Segoe UI"/>
                <a:sym typeface="Segoe UI"/>
              </a:rPr>
              <a:t>Verdict: compliant, non-compliant or needs review</a:t>
            </a:r>
          </a:p>
          <a:p>
            <a:pPr algn="l" marL="380048" indent="-190024" lvl="1">
              <a:lnSpc>
                <a:spcPts val="2940"/>
              </a:lnSpc>
              <a:buFont typeface="Arial"/>
              <a:buChar char="•"/>
            </a:pPr>
            <a:r>
              <a:rPr lang="en-US" sz="2100">
                <a:solidFill>
                  <a:srgbClr val="F2EFE8"/>
                </a:solidFill>
                <a:latin typeface="Segoe UI"/>
                <a:ea typeface="Segoe UI"/>
                <a:cs typeface="Segoe UI"/>
                <a:sym typeface="Segoe UI"/>
              </a:rPr>
              <a:t>Supporting Act section</a:t>
            </a:r>
          </a:p>
        </p:txBody>
      </p:sp>
      <p:grpSp>
        <p:nvGrpSpPr>
          <p:cNvPr name="Group 7" id="7"/>
          <p:cNvGrpSpPr/>
          <p:nvPr/>
        </p:nvGrpSpPr>
        <p:grpSpPr>
          <a:xfrm rot="0">
            <a:off x="6603983" y="4747260"/>
            <a:ext cx="5080035" cy="3977640"/>
            <a:chOff x="0" y="0"/>
            <a:chExt cx="6773380" cy="5303520"/>
          </a:xfrm>
        </p:grpSpPr>
        <p:sp>
          <p:nvSpPr>
            <p:cNvPr name="Freeform 8" id="8"/>
            <p:cNvSpPr/>
            <p:nvPr/>
          </p:nvSpPr>
          <p:spPr>
            <a:xfrm flipH="false" flipV="false" rot="0">
              <a:off x="0" y="0"/>
              <a:ext cx="6773418" cy="5303520"/>
            </a:xfrm>
            <a:custGeom>
              <a:avLst/>
              <a:gdLst/>
              <a:ahLst/>
              <a:cxnLst/>
              <a:rect r="r" b="b" t="t" l="l"/>
              <a:pathLst>
                <a:path h="5303520" w="6773418">
                  <a:moveTo>
                    <a:pt x="0" y="203200"/>
                  </a:moveTo>
                  <a:cubicBezTo>
                    <a:pt x="0" y="90932"/>
                    <a:pt x="90932" y="0"/>
                    <a:pt x="203200" y="0"/>
                  </a:cubicBezTo>
                  <a:lnTo>
                    <a:pt x="6570218" y="0"/>
                  </a:lnTo>
                  <a:cubicBezTo>
                    <a:pt x="6682487" y="0"/>
                    <a:pt x="6773418" y="90932"/>
                    <a:pt x="6773418" y="203200"/>
                  </a:cubicBezTo>
                  <a:lnTo>
                    <a:pt x="6773418" y="5100320"/>
                  </a:lnTo>
                  <a:cubicBezTo>
                    <a:pt x="6773418" y="5212588"/>
                    <a:pt x="6682487" y="5303520"/>
                    <a:pt x="6570218" y="5303520"/>
                  </a:cubicBezTo>
                  <a:lnTo>
                    <a:pt x="203200" y="5303520"/>
                  </a:lnTo>
                  <a:cubicBezTo>
                    <a:pt x="90932" y="5303520"/>
                    <a:pt x="0" y="5212588"/>
                    <a:pt x="0" y="5100320"/>
                  </a:cubicBezTo>
                  <a:close/>
                </a:path>
              </a:pathLst>
            </a:custGeom>
            <a:solidFill>
              <a:srgbClr val="262F45"/>
            </a:solidFill>
          </p:spPr>
        </p:sp>
      </p:grpSp>
      <p:sp>
        <p:nvSpPr>
          <p:cNvPr name="TextBox 9" id="9"/>
          <p:cNvSpPr txBox="true"/>
          <p:nvPr/>
        </p:nvSpPr>
        <p:spPr>
          <a:xfrm rot="0">
            <a:off x="6984921" y="5471160"/>
            <a:ext cx="4447584" cy="449580"/>
          </a:xfrm>
          <a:prstGeom prst="rect">
            <a:avLst/>
          </a:prstGeom>
        </p:spPr>
        <p:txBody>
          <a:bodyPr anchor="t" rtlCol="false" tIns="0" lIns="0" bIns="0" rIns="0">
            <a:spAutoFit/>
          </a:bodyPr>
          <a:lstStyle/>
          <a:p>
            <a:pPr algn="l">
              <a:lnSpc>
                <a:spcPts val="3240"/>
              </a:lnSpc>
            </a:pPr>
            <a:r>
              <a:rPr lang="en-US" sz="2700" b="true">
                <a:solidFill>
                  <a:srgbClr val="B9B0F5"/>
                </a:solidFill>
                <a:latin typeface="Segoe UI Bold"/>
                <a:ea typeface="Segoe UI Bold"/>
                <a:cs typeface="Segoe UI Bold"/>
                <a:sym typeface="Segoe UI Bold"/>
              </a:rPr>
              <a:t>How we label</a:t>
            </a:r>
          </a:p>
        </p:txBody>
      </p:sp>
      <p:sp>
        <p:nvSpPr>
          <p:cNvPr name="TextBox 10" id="10"/>
          <p:cNvSpPr txBox="true"/>
          <p:nvPr/>
        </p:nvSpPr>
        <p:spPr>
          <a:xfrm rot="0">
            <a:off x="7092744" y="6035040"/>
            <a:ext cx="4328331" cy="2585085"/>
          </a:xfrm>
          <a:prstGeom prst="rect">
            <a:avLst/>
          </a:prstGeom>
        </p:spPr>
        <p:txBody>
          <a:bodyPr anchor="t" rtlCol="false" tIns="0" lIns="0" bIns="0" rIns="0">
            <a:spAutoFit/>
          </a:bodyPr>
          <a:lstStyle/>
          <a:p>
            <a:pPr algn="l" marL="380048" indent="-190024" lvl="1">
              <a:lnSpc>
                <a:spcPts val="2940"/>
              </a:lnSpc>
              <a:buFont typeface="Arial"/>
              <a:buChar char="•"/>
            </a:pPr>
            <a:r>
              <a:rPr lang="en-US" sz="2100">
                <a:solidFill>
                  <a:srgbClr val="F2EFE8"/>
                </a:solidFill>
                <a:latin typeface="Segoe UI"/>
                <a:ea typeface="Segoe UI"/>
                <a:cs typeface="Segoe UI"/>
                <a:sym typeface="Segoe UI"/>
              </a:rPr>
              <a:t>Written guide, using the law in force on the tenancy start date</a:t>
            </a:r>
          </a:p>
          <a:p>
            <a:pPr algn="l" marL="380048" indent="-190024" lvl="1">
              <a:lnSpc>
                <a:spcPts val="2940"/>
              </a:lnSpc>
              <a:buFont typeface="Arial"/>
              <a:buChar char="•"/>
            </a:pPr>
            <a:r>
              <a:rPr lang="en-US" sz="2100">
                <a:solidFill>
                  <a:srgbClr val="F2EFE8"/>
                </a:solidFill>
                <a:latin typeface="Segoe UI"/>
                <a:ea typeface="Segoe UI"/>
                <a:cs typeface="Segoe UI"/>
                <a:sym typeface="Segoe UI"/>
              </a:rPr>
              <a:t>Pilot round, then agreement check </a:t>
            </a:r>
          </a:p>
          <a:p>
            <a:pPr algn="l" marL="380048" indent="-190024" lvl="1">
              <a:lnSpc>
                <a:spcPts val="2940"/>
              </a:lnSpc>
              <a:buFont typeface="Arial"/>
              <a:buChar char="•"/>
            </a:pPr>
            <a:r>
              <a:rPr lang="en-US" sz="2100">
                <a:solidFill>
                  <a:srgbClr val="F2EFE8"/>
                </a:solidFill>
                <a:latin typeface="Segoe UI"/>
                <a:ea typeface="Segoe UI"/>
                <a:cs typeface="Segoe UI"/>
                <a:sym typeface="Segoe UI"/>
              </a:rPr>
              <a:t>Second annotator and adjudication</a:t>
            </a:r>
          </a:p>
          <a:p>
            <a:pPr algn="l" marL="380048" indent="-190024" lvl="1">
              <a:lnSpc>
                <a:spcPts val="2940"/>
              </a:lnSpc>
              <a:buFont typeface="Arial"/>
              <a:buChar char="•"/>
            </a:pPr>
            <a:r>
              <a:rPr lang="en-US" sz="2100">
                <a:solidFill>
                  <a:srgbClr val="F2EFE8"/>
                </a:solidFill>
                <a:latin typeface="Segoe UI"/>
                <a:ea typeface="Segoe UI"/>
                <a:cs typeface="Segoe UI"/>
                <a:sym typeface="Segoe UI"/>
              </a:rPr>
              <a:t>Test set frozen, split by lease</a:t>
            </a:r>
          </a:p>
        </p:txBody>
      </p:sp>
      <p:grpSp>
        <p:nvGrpSpPr>
          <p:cNvPr name="Group 11" id="11"/>
          <p:cNvGrpSpPr/>
          <p:nvPr/>
        </p:nvGrpSpPr>
        <p:grpSpPr>
          <a:xfrm rot="0">
            <a:off x="12053540" y="4747260"/>
            <a:ext cx="5080035" cy="3977640"/>
            <a:chOff x="0" y="0"/>
            <a:chExt cx="6773380" cy="5303520"/>
          </a:xfrm>
        </p:grpSpPr>
        <p:sp>
          <p:nvSpPr>
            <p:cNvPr name="Freeform 12" id="12"/>
            <p:cNvSpPr/>
            <p:nvPr/>
          </p:nvSpPr>
          <p:spPr>
            <a:xfrm flipH="false" flipV="false" rot="0">
              <a:off x="0" y="0"/>
              <a:ext cx="6773418" cy="5303520"/>
            </a:xfrm>
            <a:custGeom>
              <a:avLst/>
              <a:gdLst/>
              <a:ahLst/>
              <a:cxnLst/>
              <a:rect r="r" b="b" t="t" l="l"/>
              <a:pathLst>
                <a:path h="5303520" w="6773418">
                  <a:moveTo>
                    <a:pt x="0" y="203200"/>
                  </a:moveTo>
                  <a:cubicBezTo>
                    <a:pt x="0" y="90932"/>
                    <a:pt x="90932" y="0"/>
                    <a:pt x="203200" y="0"/>
                  </a:cubicBezTo>
                  <a:lnTo>
                    <a:pt x="6570218" y="0"/>
                  </a:lnTo>
                  <a:cubicBezTo>
                    <a:pt x="6682487" y="0"/>
                    <a:pt x="6773418" y="90932"/>
                    <a:pt x="6773418" y="203200"/>
                  </a:cubicBezTo>
                  <a:lnTo>
                    <a:pt x="6773418" y="5100320"/>
                  </a:lnTo>
                  <a:cubicBezTo>
                    <a:pt x="6773418" y="5212588"/>
                    <a:pt x="6682487" y="5303520"/>
                    <a:pt x="6570218" y="5303520"/>
                  </a:cubicBezTo>
                  <a:lnTo>
                    <a:pt x="203200" y="5303520"/>
                  </a:lnTo>
                  <a:cubicBezTo>
                    <a:pt x="90932" y="5303520"/>
                    <a:pt x="0" y="5212588"/>
                    <a:pt x="0" y="5100320"/>
                  </a:cubicBezTo>
                  <a:close/>
                </a:path>
              </a:pathLst>
            </a:custGeom>
            <a:solidFill>
              <a:srgbClr val="262F45"/>
            </a:solidFill>
          </p:spPr>
        </p:sp>
      </p:grpSp>
      <p:sp>
        <p:nvSpPr>
          <p:cNvPr name="TextBox 13" id="13"/>
          <p:cNvSpPr txBox="true"/>
          <p:nvPr/>
        </p:nvSpPr>
        <p:spPr>
          <a:xfrm rot="0">
            <a:off x="12369765" y="5471160"/>
            <a:ext cx="4447584" cy="449580"/>
          </a:xfrm>
          <a:prstGeom prst="rect">
            <a:avLst/>
          </a:prstGeom>
        </p:spPr>
        <p:txBody>
          <a:bodyPr anchor="t" rtlCol="false" tIns="0" lIns="0" bIns="0" rIns="0">
            <a:spAutoFit/>
          </a:bodyPr>
          <a:lstStyle/>
          <a:p>
            <a:pPr algn="l">
              <a:lnSpc>
                <a:spcPts val="3240"/>
              </a:lnSpc>
            </a:pPr>
            <a:r>
              <a:rPr lang="en-US" sz="2700" b="true">
                <a:solidFill>
                  <a:srgbClr val="B9B0F5"/>
                </a:solidFill>
                <a:latin typeface="Segoe UI Bold"/>
                <a:ea typeface="Segoe UI Bold"/>
                <a:cs typeface="Segoe UI Bold"/>
                <a:sym typeface="Segoe UI Bold"/>
              </a:rPr>
              <a:t>How we judge</a:t>
            </a:r>
          </a:p>
        </p:txBody>
      </p:sp>
      <p:sp>
        <p:nvSpPr>
          <p:cNvPr name="TextBox 14" id="14"/>
          <p:cNvSpPr txBox="true"/>
          <p:nvPr/>
        </p:nvSpPr>
        <p:spPr>
          <a:xfrm rot="0">
            <a:off x="12477588" y="6035040"/>
            <a:ext cx="4328331" cy="2689860"/>
          </a:xfrm>
          <a:prstGeom prst="rect">
            <a:avLst/>
          </a:prstGeom>
        </p:spPr>
        <p:txBody>
          <a:bodyPr anchor="t" rtlCol="false" tIns="0" lIns="0" bIns="0" rIns="0">
            <a:spAutoFit/>
          </a:bodyPr>
          <a:lstStyle/>
          <a:p>
            <a:pPr algn="l" marL="380048" indent="-190024" lvl="1">
              <a:lnSpc>
                <a:spcPts val="2940"/>
              </a:lnSpc>
              <a:buFont typeface="Arial"/>
              <a:buChar char="•"/>
            </a:pPr>
            <a:r>
              <a:rPr lang="en-US" sz="2100">
                <a:solidFill>
                  <a:srgbClr val="F2EFE8"/>
                </a:solidFill>
                <a:latin typeface="Segoe UI"/>
                <a:ea typeface="Segoe UI"/>
                <a:cs typeface="Segoe UI"/>
                <a:sym typeface="Segoe UI"/>
              </a:rPr>
              <a:t>Per-class F1 with bootstrapped confidence intervals</a:t>
            </a:r>
          </a:p>
          <a:p>
            <a:pPr algn="l" marL="380048" indent="-190024" lvl="1">
              <a:lnSpc>
                <a:spcPts val="2940"/>
              </a:lnSpc>
              <a:buFont typeface="Arial"/>
              <a:buChar char="•"/>
            </a:pPr>
            <a:r>
              <a:rPr lang="en-US" sz="2100">
                <a:solidFill>
                  <a:srgbClr val="F2EFE8"/>
                </a:solidFill>
                <a:latin typeface="Segoe UI"/>
                <a:ea typeface="Segoe UI"/>
                <a:cs typeface="Segoe UI"/>
                <a:sym typeface="Segoe UI"/>
              </a:rPr>
              <a:t>False-green rate: violations marked compliant</a:t>
            </a:r>
          </a:p>
          <a:p>
            <a:pPr algn="l" marL="380048" indent="-190024" lvl="1">
              <a:lnSpc>
                <a:spcPts val="2940"/>
              </a:lnSpc>
              <a:buFont typeface="Arial"/>
              <a:buChar char="•"/>
            </a:pPr>
            <a:r>
              <a:rPr lang="en-US" sz="2100">
                <a:solidFill>
                  <a:srgbClr val="F2EFE8"/>
                </a:solidFill>
                <a:latin typeface="Segoe UI"/>
                <a:ea typeface="Segoe UI"/>
                <a:cs typeface="Segoe UI"/>
                <a:sym typeface="Segoe UI"/>
              </a:rPr>
              <a:t>Citation validity and faithfulness</a:t>
            </a:r>
          </a:p>
          <a:p>
            <a:pPr algn="l" marL="380048" indent="-190024" lvl="1">
              <a:lnSpc>
                <a:spcPts val="2940"/>
              </a:lnSpc>
              <a:buFont typeface="Arial"/>
              <a:buChar char="•"/>
            </a:pPr>
            <a:r>
              <a:rPr lang="en-US" sz="2100">
                <a:solidFill>
                  <a:srgbClr val="F2EFE8"/>
                </a:solidFill>
                <a:latin typeface="Segoe UI"/>
                <a:ea typeface="Segoe UI"/>
                <a:cs typeface="Segoe UI"/>
                <a:sym typeface="Segoe UI"/>
              </a:rPr>
              <a:t>Four systems compared on the same test set</a:t>
            </a:r>
          </a:p>
        </p:txBody>
      </p:sp>
      <p:grpSp>
        <p:nvGrpSpPr>
          <p:cNvPr name="Group 15" id="15"/>
          <p:cNvGrpSpPr/>
          <p:nvPr/>
        </p:nvGrpSpPr>
        <p:grpSpPr>
          <a:xfrm rot="0">
            <a:off x="1035264" y="486406"/>
            <a:ext cx="16230600" cy="1084587"/>
            <a:chOff x="0" y="0"/>
            <a:chExt cx="4274726" cy="285653"/>
          </a:xfrm>
        </p:grpSpPr>
        <p:sp>
          <p:nvSpPr>
            <p:cNvPr name="Freeform 16" id="16"/>
            <p:cNvSpPr/>
            <p:nvPr/>
          </p:nvSpPr>
          <p:spPr>
            <a:xfrm flipH="false" flipV="false" rot="0">
              <a:off x="0" y="0"/>
              <a:ext cx="4274726" cy="285653"/>
            </a:xfrm>
            <a:custGeom>
              <a:avLst/>
              <a:gdLst/>
              <a:ahLst/>
              <a:cxnLst/>
              <a:rect r="r" b="b" t="t" l="l"/>
              <a:pathLst>
                <a:path h="285653" w="4274726">
                  <a:moveTo>
                    <a:pt x="0" y="0"/>
                  </a:moveTo>
                  <a:lnTo>
                    <a:pt x="4274726" y="0"/>
                  </a:lnTo>
                  <a:lnTo>
                    <a:pt x="4274726" y="285653"/>
                  </a:lnTo>
                  <a:lnTo>
                    <a:pt x="0" y="285653"/>
                  </a:lnTo>
                  <a:close/>
                </a:path>
              </a:pathLst>
            </a:custGeom>
            <a:solidFill>
              <a:srgbClr val="E3E5E5"/>
            </a:solidFill>
          </p:spPr>
        </p:sp>
        <p:sp>
          <p:nvSpPr>
            <p:cNvPr name="TextBox 17" id="17"/>
            <p:cNvSpPr txBox="true"/>
            <p:nvPr/>
          </p:nvSpPr>
          <p:spPr>
            <a:xfrm>
              <a:off x="0" y="-38100"/>
              <a:ext cx="4274726" cy="32375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8" id="18"/>
          <p:cNvSpPr txBox="true"/>
          <p:nvPr/>
        </p:nvSpPr>
        <p:spPr>
          <a:xfrm rot="0">
            <a:off x="1513039" y="782654"/>
            <a:ext cx="2143676" cy="396911"/>
          </a:xfrm>
          <a:prstGeom prst="rect">
            <a:avLst/>
          </a:prstGeom>
        </p:spPr>
        <p:txBody>
          <a:bodyPr anchor="t" rtlCol="false" tIns="0" lIns="0" bIns="0" rIns="0">
            <a:spAutoFit/>
          </a:bodyPr>
          <a:lstStyle/>
          <a:p>
            <a:pPr algn="l" marL="0" indent="0" lvl="0">
              <a:lnSpc>
                <a:spcPts val="2798"/>
              </a:lnSpc>
            </a:pPr>
            <a:r>
              <a:rPr lang="en-US" b="true" sz="1998">
                <a:solidFill>
                  <a:srgbClr val="000000"/>
                </a:solidFill>
                <a:latin typeface="Cooper Hewitt Bold"/>
                <a:ea typeface="Cooper Hewitt Bold"/>
                <a:cs typeface="Cooper Hewitt Bold"/>
                <a:sym typeface="Cooper Hewitt Bold"/>
              </a:rPr>
              <a:t>ClauseGuard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B2233"/>
        </a:solidFill>
      </p:bgPr>
    </p:bg>
    <p:spTree>
      <p:nvGrpSpPr>
        <p:cNvPr id="1" name=""/>
        <p:cNvGrpSpPr/>
        <p:nvPr/>
      </p:nvGrpSpPr>
      <p:grpSpPr>
        <a:xfrm>
          <a:off x="0" y="0"/>
          <a:ext cx="0" cy="0"/>
          <a:chOff x="0" y="0"/>
          <a:chExt cx="0" cy="0"/>
        </a:xfrm>
      </p:grpSpPr>
      <p:sp>
        <p:nvSpPr>
          <p:cNvPr name="Freeform 2" id="2"/>
          <p:cNvSpPr/>
          <p:nvPr/>
        </p:nvSpPr>
        <p:spPr>
          <a:xfrm flipH="false" flipV="false" rot="0">
            <a:off x="1904594" y="214671"/>
            <a:ext cx="14478811" cy="9857657"/>
          </a:xfrm>
          <a:custGeom>
            <a:avLst/>
            <a:gdLst/>
            <a:ahLst/>
            <a:cxnLst/>
            <a:rect r="r" b="b" t="t" l="l"/>
            <a:pathLst>
              <a:path h="9857657" w="14478811">
                <a:moveTo>
                  <a:pt x="0" y="0"/>
                </a:moveTo>
                <a:lnTo>
                  <a:pt x="14478812" y="0"/>
                </a:lnTo>
                <a:lnTo>
                  <a:pt x="14478812" y="9857658"/>
                </a:lnTo>
                <a:lnTo>
                  <a:pt x="0" y="9857658"/>
                </a:lnTo>
                <a:lnTo>
                  <a:pt x="0" y="0"/>
                </a:lnTo>
                <a:close/>
              </a:path>
            </a:pathLst>
          </a:custGeom>
          <a:blipFill>
            <a:blip r:embed="rId2"/>
            <a:stretch>
              <a:fillRect l="0" t="0" r="0" b="0"/>
            </a:stretch>
          </a:blipFill>
        </p:spPr>
      </p:sp>
      <p:sp>
        <p:nvSpPr>
          <p:cNvPr name="TextBox 3" id="3"/>
          <p:cNvSpPr txBox="true"/>
          <p:nvPr/>
        </p:nvSpPr>
        <p:spPr>
          <a:xfrm rot="0">
            <a:off x="9620998" y="1076325"/>
            <a:ext cx="2960489" cy="680085"/>
          </a:xfrm>
          <a:prstGeom prst="rect">
            <a:avLst/>
          </a:prstGeom>
        </p:spPr>
        <p:txBody>
          <a:bodyPr anchor="t" rtlCol="false" tIns="0" lIns="0" bIns="0" rIns="0">
            <a:spAutoFit/>
          </a:bodyPr>
          <a:lstStyle/>
          <a:p>
            <a:pPr algn="l">
              <a:lnSpc>
                <a:spcPts val="5280"/>
              </a:lnSpc>
            </a:pPr>
            <a:r>
              <a:rPr lang="en-US" sz="4800" b="true">
                <a:solidFill>
                  <a:srgbClr val="000000"/>
                </a:solidFill>
                <a:latin typeface="Segoe UI Bold"/>
                <a:ea typeface="Segoe UI Bold"/>
                <a:cs typeface="Segoe UI Bold"/>
                <a:sym typeface="Segoe UI Bold"/>
              </a:rPr>
              <a:t>Mind Map</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B2233"/>
        </a:solidFill>
      </p:bgPr>
    </p:bg>
    <p:spTree>
      <p:nvGrpSpPr>
        <p:cNvPr id="1" name=""/>
        <p:cNvGrpSpPr/>
        <p:nvPr/>
      </p:nvGrpSpPr>
      <p:grpSpPr>
        <a:xfrm>
          <a:off x="0" y="0"/>
          <a:ext cx="0" cy="0"/>
          <a:chOff x="0" y="0"/>
          <a:chExt cx="0" cy="0"/>
        </a:xfrm>
      </p:grpSpPr>
      <p:sp>
        <p:nvSpPr>
          <p:cNvPr name="Freeform 2" id="2"/>
          <p:cNvSpPr/>
          <p:nvPr/>
        </p:nvSpPr>
        <p:spPr>
          <a:xfrm flipH="false" flipV="false" rot="0">
            <a:off x="1343978" y="2283780"/>
            <a:ext cx="15600044" cy="6974520"/>
          </a:xfrm>
          <a:custGeom>
            <a:avLst/>
            <a:gdLst/>
            <a:ahLst/>
            <a:cxnLst/>
            <a:rect r="r" b="b" t="t" l="l"/>
            <a:pathLst>
              <a:path h="6974520" w="15600044">
                <a:moveTo>
                  <a:pt x="0" y="0"/>
                </a:moveTo>
                <a:lnTo>
                  <a:pt x="15600044" y="0"/>
                </a:lnTo>
                <a:lnTo>
                  <a:pt x="15600044" y="6974520"/>
                </a:lnTo>
                <a:lnTo>
                  <a:pt x="0" y="6974520"/>
                </a:lnTo>
                <a:lnTo>
                  <a:pt x="0" y="0"/>
                </a:lnTo>
                <a:close/>
              </a:path>
            </a:pathLst>
          </a:custGeom>
          <a:blipFill>
            <a:blip r:embed="rId2"/>
            <a:stretch>
              <a:fillRect l="0" t="0" r="0" b="0"/>
            </a:stretch>
          </a:blipFill>
        </p:spPr>
      </p:sp>
      <p:sp>
        <p:nvSpPr>
          <p:cNvPr name="TextBox 3" id="3"/>
          <p:cNvSpPr txBox="true"/>
          <p:nvPr/>
        </p:nvSpPr>
        <p:spPr>
          <a:xfrm rot="0">
            <a:off x="1219200" y="1266825"/>
            <a:ext cx="5786735" cy="680085"/>
          </a:xfrm>
          <a:prstGeom prst="rect">
            <a:avLst/>
          </a:prstGeom>
        </p:spPr>
        <p:txBody>
          <a:bodyPr anchor="t" rtlCol="false" tIns="0" lIns="0" bIns="0" rIns="0">
            <a:spAutoFit/>
          </a:bodyPr>
          <a:lstStyle/>
          <a:p>
            <a:pPr algn="l">
              <a:lnSpc>
                <a:spcPts val="5280"/>
              </a:lnSpc>
            </a:pPr>
            <a:r>
              <a:rPr lang="en-US" sz="4800" b="true">
                <a:solidFill>
                  <a:srgbClr val="F2EFE8"/>
                </a:solidFill>
                <a:latin typeface="Segoe UI Bold"/>
                <a:ea typeface="Segoe UI Bold"/>
                <a:cs typeface="Segoe UI Bold"/>
                <a:sym typeface="Segoe UI Bold"/>
              </a:rPr>
              <a:t>Competitor Analysis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B2233"/>
        </a:solidFill>
      </p:bgPr>
    </p:bg>
    <p:spTree>
      <p:nvGrpSpPr>
        <p:cNvPr id="1" name=""/>
        <p:cNvGrpSpPr/>
        <p:nvPr/>
      </p:nvGrpSpPr>
      <p:grpSpPr>
        <a:xfrm>
          <a:off x="0" y="0"/>
          <a:ext cx="0" cy="0"/>
          <a:chOff x="0" y="0"/>
          <a:chExt cx="0" cy="0"/>
        </a:xfrm>
      </p:grpSpPr>
      <p:sp>
        <p:nvSpPr>
          <p:cNvPr name="Freeform 2" id="2"/>
          <p:cNvSpPr/>
          <p:nvPr/>
        </p:nvSpPr>
        <p:spPr>
          <a:xfrm flipH="false" flipV="false" rot="0">
            <a:off x="2620863" y="709422"/>
            <a:ext cx="12748776" cy="8665932"/>
          </a:xfrm>
          <a:custGeom>
            <a:avLst/>
            <a:gdLst/>
            <a:ahLst/>
            <a:cxnLst/>
            <a:rect r="r" b="b" t="t" l="l"/>
            <a:pathLst>
              <a:path h="8665932" w="12748776">
                <a:moveTo>
                  <a:pt x="0" y="0"/>
                </a:moveTo>
                <a:lnTo>
                  <a:pt x="12748776" y="0"/>
                </a:lnTo>
                <a:lnTo>
                  <a:pt x="12748776" y="8665933"/>
                </a:lnTo>
                <a:lnTo>
                  <a:pt x="0" y="8665933"/>
                </a:lnTo>
                <a:lnTo>
                  <a:pt x="0" y="0"/>
                </a:lnTo>
                <a:close/>
              </a:path>
            </a:pathLst>
          </a:custGeom>
          <a:blipFill>
            <a:blip r:embed="rId2"/>
            <a:stretch>
              <a:fillRect l="0" t="0" r="0" b="-101066"/>
            </a:stretch>
          </a:blipFill>
        </p:spPr>
      </p:sp>
      <p:sp>
        <p:nvSpPr>
          <p:cNvPr name="TextBox 3" id="3"/>
          <p:cNvSpPr txBox="true"/>
          <p:nvPr/>
        </p:nvSpPr>
        <p:spPr>
          <a:xfrm rot="0">
            <a:off x="194590" y="47625"/>
            <a:ext cx="2803327" cy="680085"/>
          </a:xfrm>
          <a:prstGeom prst="rect">
            <a:avLst/>
          </a:prstGeom>
        </p:spPr>
        <p:txBody>
          <a:bodyPr anchor="t" rtlCol="false" tIns="0" lIns="0" bIns="0" rIns="0">
            <a:spAutoFit/>
          </a:bodyPr>
          <a:lstStyle/>
          <a:p>
            <a:pPr algn="l">
              <a:lnSpc>
                <a:spcPts val="5280"/>
              </a:lnSpc>
            </a:pPr>
            <a:r>
              <a:rPr lang="en-US" sz="4800" b="true">
                <a:solidFill>
                  <a:srgbClr val="F2EFE8"/>
                </a:solidFill>
                <a:latin typeface="Segoe UI Bold"/>
                <a:ea typeface="Segoe UI Bold"/>
                <a:cs typeface="Segoe UI Bold"/>
                <a:sym typeface="Segoe UI Bold"/>
              </a:rPr>
              <a:t>Persona 1</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B2233"/>
        </a:solidFill>
      </p:bgPr>
    </p:bg>
    <p:spTree>
      <p:nvGrpSpPr>
        <p:cNvPr id="1" name=""/>
        <p:cNvGrpSpPr/>
        <p:nvPr/>
      </p:nvGrpSpPr>
      <p:grpSpPr>
        <a:xfrm>
          <a:off x="0" y="0"/>
          <a:ext cx="0" cy="0"/>
          <a:chOff x="0" y="0"/>
          <a:chExt cx="0" cy="0"/>
        </a:xfrm>
      </p:grpSpPr>
      <p:sp>
        <p:nvSpPr>
          <p:cNvPr name="Freeform 2" id="2"/>
          <p:cNvSpPr/>
          <p:nvPr/>
        </p:nvSpPr>
        <p:spPr>
          <a:xfrm flipH="false" flipV="false" rot="0">
            <a:off x="2650723" y="727710"/>
            <a:ext cx="13134142" cy="8931948"/>
          </a:xfrm>
          <a:custGeom>
            <a:avLst/>
            <a:gdLst/>
            <a:ahLst/>
            <a:cxnLst/>
            <a:rect r="r" b="b" t="t" l="l"/>
            <a:pathLst>
              <a:path h="8931948" w="13134142">
                <a:moveTo>
                  <a:pt x="0" y="0"/>
                </a:moveTo>
                <a:lnTo>
                  <a:pt x="13134142" y="0"/>
                </a:lnTo>
                <a:lnTo>
                  <a:pt x="13134142" y="8931948"/>
                </a:lnTo>
                <a:lnTo>
                  <a:pt x="0" y="8931948"/>
                </a:lnTo>
                <a:lnTo>
                  <a:pt x="0" y="0"/>
                </a:lnTo>
                <a:close/>
              </a:path>
            </a:pathLst>
          </a:custGeom>
          <a:blipFill>
            <a:blip r:embed="rId2"/>
            <a:stretch>
              <a:fillRect l="0" t="-100975" r="0" b="0"/>
            </a:stretch>
          </a:blipFill>
        </p:spPr>
      </p:sp>
      <p:sp>
        <p:nvSpPr>
          <p:cNvPr name="TextBox 3" id="3"/>
          <p:cNvSpPr txBox="true"/>
          <p:nvPr/>
        </p:nvSpPr>
        <p:spPr>
          <a:xfrm rot="0">
            <a:off x="194590" y="47625"/>
            <a:ext cx="2803327" cy="680085"/>
          </a:xfrm>
          <a:prstGeom prst="rect">
            <a:avLst/>
          </a:prstGeom>
        </p:spPr>
        <p:txBody>
          <a:bodyPr anchor="t" rtlCol="false" tIns="0" lIns="0" bIns="0" rIns="0">
            <a:spAutoFit/>
          </a:bodyPr>
          <a:lstStyle/>
          <a:p>
            <a:pPr algn="l">
              <a:lnSpc>
                <a:spcPts val="5280"/>
              </a:lnSpc>
            </a:pPr>
            <a:r>
              <a:rPr lang="en-US" sz="4800" b="true">
                <a:solidFill>
                  <a:srgbClr val="F2EFE8"/>
                </a:solidFill>
                <a:latin typeface="Segoe UI Bold"/>
                <a:ea typeface="Segoe UI Bold"/>
                <a:cs typeface="Segoe UI Bold"/>
                <a:sym typeface="Segoe UI Bold"/>
              </a:rPr>
              <a:t>Persona 2</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B2233"/>
        </a:solidFill>
      </p:bgPr>
    </p:bg>
    <p:spTree>
      <p:nvGrpSpPr>
        <p:cNvPr id="1" name=""/>
        <p:cNvGrpSpPr/>
        <p:nvPr/>
      </p:nvGrpSpPr>
      <p:grpSpPr>
        <a:xfrm>
          <a:off x="0" y="0"/>
          <a:ext cx="0" cy="0"/>
          <a:chOff x="0" y="0"/>
          <a:chExt cx="0" cy="0"/>
        </a:xfrm>
      </p:grpSpPr>
      <p:sp>
        <p:nvSpPr>
          <p:cNvPr name="Freeform 2" id="2"/>
          <p:cNvSpPr/>
          <p:nvPr/>
        </p:nvSpPr>
        <p:spPr>
          <a:xfrm flipH="false" flipV="false" rot="0">
            <a:off x="2584813" y="1028700"/>
            <a:ext cx="14047329" cy="8812365"/>
          </a:xfrm>
          <a:custGeom>
            <a:avLst/>
            <a:gdLst/>
            <a:ahLst/>
            <a:cxnLst/>
            <a:rect r="r" b="b" t="t" l="l"/>
            <a:pathLst>
              <a:path h="8812365" w="14047329">
                <a:moveTo>
                  <a:pt x="0" y="0"/>
                </a:moveTo>
                <a:lnTo>
                  <a:pt x="14047329" y="0"/>
                </a:lnTo>
                <a:lnTo>
                  <a:pt x="14047329" y="8812365"/>
                </a:lnTo>
                <a:lnTo>
                  <a:pt x="0" y="8812365"/>
                </a:lnTo>
                <a:lnTo>
                  <a:pt x="0" y="0"/>
                </a:lnTo>
                <a:close/>
              </a:path>
            </a:pathLst>
          </a:custGeom>
          <a:blipFill>
            <a:blip r:embed="rId2"/>
            <a:stretch>
              <a:fillRect l="0" t="0" r="0" b="0"/>
            </a:stretch>
          </a:blipFill>
        </p:spPr>
      </p:sp>
      <p:sp>
        <p:nvSpPr>
          <p:cNvPr name="TextBox 3" id="3"/>
          <p:cNvSpPr txBox="true"/>
          <p:nvPr/>
        </p:nvSpPr>
        <p:spPr>
          <a:xfrm rot="0">
            <a:off x="194590" y="47625"/>
            <a:ext cx="3050679" cy="680085"/>
          </a:xfrm>
          <a:prstGeom prst="rect">
            <a:avLst/>
          </a:prstGeom>
        </p:spPr>
        <p:txBody>
          <a:bodyPr anchor="t" rtlCol="false" tIns="0" lIns="0" bIns="0" rIns="0">
            <a:spAutoFit/>
          </a:bodyPr>
          <a:lstStyle/>
          <a:p>
            <a:pPr algn="l">
              <a:lnSpc>
                <a:spcPts val="5280"/>
              </a:lnSpc>
            </a:pPr>
            <a:r>
              <a:rPr lang="en-US" sz="4800" b="true">
                <a:solidFill>
                  <a:srgbClr val="F2EFE8"/>
                </a:solidFill>
                <a:latin typeface="Segoe UI Bold"/>
                <a:ea typeface="Segoe UI Bold"/>
                <a:cs typeface="Segoe UI Bold"/>
                <a:sym typeface="Segoe UI Bold"/>
              </a:rPr>
              <a:t>Wireframe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B2233"/>
        </a:solidFill>
      </p:bgPr>
    </p:bg>
    <p:spTree>
      <p:nvGrpSpPr>
        <p:cNvPr id="1" name=""/>
        <p:cNvGrpSpPr/>
        <p:nvPr/>
      </p:nvGrpSpPr>
      <p:grpSpPr>
        <a:xfrm>
          <a:off x="0" y="0"/>
          <a:ext cx="0" cy="0"/>
          <a:chOff x="0" y="0"/>
          <a:chExt cx="0" cy="0"/>
        </a:xfrm>
      </p:grpSpPr>
      <p:sp>
        <p:nvSpPr>
          <p:cNvPr name="Freeform 2" id="2"/>
          <p:cNvSpPr/>
          <p:nvPr/>
        </p:nvSpPr>
        <p:spPr>
          <a:xfrm flipH="false" flipV="false" rot="0">
            <a:off x="2544321" y="1028700"/>
            <a:ext cx="14035268" cy="8750777"/>
          </a:xfrm>
          <a:custGeom>
            <a:avLst/>
            <a:gdLst/>
            <a:ahLst/>
            <a:cxnLst/>
            <a:rect r="r" b="b" t="t" l="l"/>
            <a:pathLst>
              <a:path h="8750777" w="14035268">
                <a:moveTo>
                  <a:pt x="0" y="0"/>
                </a:moveTo>
                <a:lnTo>
                  <a:pt x="14035268" y="0"/>
                </a:lnTo>
                <a:lnTo>
                  <a:pt x="14035268" y="8750777"/>
                </a:lnTo>
                <a:lnTo>
                  <a:pt x="0" y="8750777"/>
                </a:lnTo>
                <a:lnTo>
                  <a:pt x="0" y="0"/>
                </a:lnTo>
                <a:close/>
              </a:path>
            </a:pathLst>
          </a:custGeom>
          <a:blipFill>
            <a:blip r:embed="rId2"/>
            <a:stretch>
              <a:fillRect l="0" t="0" r="0" b="0"/>
            </a:stretch>
          </a:blipFill>
        </p:spPr>
      </p:sp>
      <p:sp>
        <p:nvSpPr>
          <p:cNvPr name="TextBox 3" id="3"/>
          <p:cNvSpPr txBox="true"/>
          <p:nvPr/>
        </p:nvSpPr>
        <p:spPr>
          <a:xfrm rot="0">
            <a:off x="194590" y="47625"/>
            <a:ext cx="3050679" cy="680085"/>
          </a:xfrm>
          <a:prstGeom prst="rect">
            <a:avLst/>
          </a:prstGeom>
        </p:spPr>
        <p:txBody>
          <a:bodyPr anchor="t" rtlCol="false" tIns="0" lIns="0" bIns="0" rIns="0">
            <a:spAutoFit/>
          </a:bodyPr>
          <a:lstStyle/>
          <a:p>
            <a:pPr algn="l">
              <a:lnSpc>
                <a:spcPts val="5280"/>
              </a:lnSpc>
            </a:pPr>
            <a:r>
              <a:rPr lang="en-US" sz="4800" b="true">
                <a:solidFill>
                  <a:srgbClr val="F2EFE8"/>
                </a:solidFill>
                <a:latin typeface="Segoe UI Bold"/>
                <a:ea typeface="Segoe UI Bold"/>
                <a:cs typeface="Segoe UI Bold"/>
                <a:sym typeface="Segoe UI Bold"/>
              </a:rPr>
              <a:t>Wireframe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B2233"/>
        </a:solidFill>
      </p:bgPr>
    </p:bg>
    <p:spTree>
      <p:nvGrpSpPr>
        <p:cNvPr id="1" name=""/>
        <p:cNvGrpSpPr/>
        <p:nvPr/>
      </p:nvGrpSpPr>
      <p:grpSpPr>
        <a:xfrm>
          <a:off x="0" y="0"/>
          <a:ext cx="0" cy="0"/>
          <a:chOff x="0" y="0"/>
          <a:chExt cx="0" cy="0"/>
        </a:xfrm>
      </p:grpSpPr>
      <p:sp>
        <p:nvSpPr>
          <p:cNvPr name="Freeform 2" id="2"/>
          <p:cNvSpPr/>
          <p:nvPr/>
        </p:nvSpPr>
        <p:spPr>
          <a:xfrm flipH="false" flipV="false" rot="0">
            <a:off x="2917791" y="1299816"/>
            <a:ext cx="13507907" cy="8338962"/>
          </a:xfrm>
          <a:custGeom>
            <a:avLst/>
            <a:gdLst/>
            <a:ahLst/>
            <a:cxnLst/>
            <a:rect r="r" b="b" t="t" l="l"/>
            <a:pathLst>
              <a:path h="8338962" w="13507907">
                <a:moveTo>
                  <a:pt x="0" y="0"/>
                </a:moveTo>
                <a:lnTo>
                  <a:pt x="13507907" y="0"/>
                </a:lnTo>
                <a:lnTo>
                  <a:pt x="13507907" y="8338963"/>
                </a:lnTo>
                <a:lnTo>
                  <a:pt x="0" y="8338963"/>
                </a:lnTo>
                <a:lnTo>
                  <a:pt x="0" y="0"/>
                </a:lnTo>
                <a:close/>
              </a:path>
            </a:pathLst>
          </a:custGeom>
          <a:blipFill>
            <a:blip r:embed="rId2"/>
            <a:stretch>
              <a:fillRect l="0" t="0" r="0" b="0"/>
            </a:stretch>
          </a:blipFill>
        </p:spPr>
      </p:sp>
      <p:sp>
        <p:nvSpPr>
          <p:cNvPr name="TextBox 3" id="3"/>
          <p:cNvSpPr txBox="true"/>
          <p:nvPr/>
        </p:nvSpPr>
        <p:spPr>
          <a:xfrm rot="0">
            <a:off x="194590" y="47625"/>
            <a:ext cx="3050679" cy="680085"/>
          </a:xfrm>
          <a:prstGeom prst="rect">
            <a:avLst/>
          </a:prstGeom>
        </p:spPr>
        <p:txBody>
          <a:bodyPr anchor="t" rtlCol="false" tIns="0" lIns="0" bIns="0" rIns="0">
            <a:spAutoFit/>
          </a:bodyPr>
          <a:lstStyle/>
          <a:p>
            <a:pPr algn="l">
              <a:lnSpc>
                <a:spcPts val="5280"/>
              </a:lnSpc>
            </a:pPr>
            <a:r>
              <a:rPr lang="en-US" sz="4800" b="true">
                <a:solidFill>
                  <a:srgbClr val="F2EFE8"/>
                </a:solidFill>
                <a:latin typeface="Segoe UI Bold"/>
                <a:ea typeface="Segoe UI Bold"/>
                <a:cs typeface="Segoe UI Bold"/>
                <a:sym typeface="Segoe UI Bold"/>
              </a:rPr>
              <a:t>Wireframe</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1B2233"/>
        </a:solidFill>
      </p:bgPr>
    </p:bg>
    <p:spTree>
      <p:nvGrpSpPr>
        <p:cNvPr id="1" name=""/>
        <p:cNvGrpSpPr/>
        <p:nvPr/>
      </p:nvGrpSpPr>
      <p:grpSpPr>
        <a:xfrm>
          <a:off x="0" y="0"/>
          <a:ext cx="0" cy="0"/>
          <a:chOff x="0" y="0"/>
          <a:chExt cx="0" cy="0"/>
        </a:xfrm>
      </p:grpSpPr>
      <p:grpSp>
        <p:nvGrpSpPr>
          <p:cNvPr name="Group 2" id="2"/>
          <p:cNvGrpSpPr/>
          <p:nvPr/>
        </p:nvGrpSpPr>
        <p:grpSpPr>
          <a:xfrm rot="0">
            <a:off x="1035264" y="486406"/>
            <a:ext cx="16230600" cy="1084587"/>
            <a:chOff x="0" y="0"/>
            <a:chExt cx="4274726" cy="285653"/>
          </a:xfrm>
        </p:grpSpPr>
        <p:sp>
          <p:nvSpPr>
            <p:cNvPr name="Freeform 3" id="3"/>
            <p:cNvSpPr/>
            <p:nvPr/>
          </p:nvSpPr>
          <p:spPr>
            <a:xfrm flipH="false" flipV="false" rot="0">
              <a:off x="0" y="0"/>
              <a:ext cx="4274726" cy="285653"/>
            </a:xfrm>
            <a:custGeom>
              <a:avLst/>
              <a:gdLst/>
              <a:ahLst/>
              <a:cxnLst/>
              <a:rect r="r" b="b" t="t" l="l"/>
              <a:pathLst>
                <a:path h="285653" w="4274726">
                  <a:moveTo>
                    <a:pt x="0" y="0"/>
                  </a:moveTo>
                  <a:lnTo>
                    <a:pt x="4274726" y="0"/>
                  </a:lnTo>
                  <a:lnTo>
                    <a:pt x="4274726" y="285653"/>
                  </a:lnTo>
                  <a:lnTo>
                    <a:pt x="0" y="285653"/>
                  </a:lnTo>
                  <a:close/>
                </a:path>
              </a:pathLst>
            </a:custGeom>
            <a:solidFill>
              <a:srgbClr val="E3E5E5"/>
            </a:solidFill>
          </p:spPr>
        </p:sp>
        <p:sp>
          <p:nvSpPr>
            <p:cNvPr name="TextBox 4" id="4"/>
            <p:cNvSpPr txBox="true"/>
            <p:nvPr/>
          </p:nvSpPr>
          <p:spPr>
            <a:xfrm>
              <a:off x="0" y="-38100"/>
              <a:ext cx="4274726" cy="32375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513039" y="782654"/>
            <a:ext cx="2143676" cy="396911"/>
          </a:xfrm>
          <a:prstGeom prst="rect">
            <a:avLst/>
          </a:prstGeom>
        </p:spPr>
        <p:txBody>
          <a:bodyPr anchor="t" rtlCol="false" tIns="0" lIns="0" bIns="0" rIns="0">
            <a:spAutoFit/>
          </a:bodyPr>
          <a:lstStyle/>
          <a:p>
            <a:pPr algn="l" marL="0" indent="0" lvl="0">
              <a:lnSpc>
                <a:spcPts val="2798"/>
              </a:lnSpc>
            </a:pPr>
            <a:r>
              <a:rPr lang="en-US" b="true" sz="1998">
                <a:solidFill>
                  <a:srgbClr val="000000"/>
                </a:solidFill>
                <a:latin typeface="Cooper Hewitt Bold"/>
                <a:ea typeface="Cooper Hewitt Bold"/>
                <a:cs typeface="Cooper Hewitt Bold"/>
                <a:sym typeface="Cooper Hewitt Bold"/>
              </a:rPr>
              <a:t>ClauseGuard</a:t>
            </a:r>
          </a:p>
        </p:txBody>
      </p:sp>
      <p:sp>
        <p:nvSpPr>
          <p:cNvPr name="TextBox 6" id="6"/>
          <p:cNvSpPr txBox="true"/>
          <p:nvPr/>
        </p:nvSpPr>
        <p:spPr>
          <a:xfrm rot="0">
            <a:off x="1219200" y="2332499"/>
            <a:ext cx="4897041" cy="680085"/>
          </a:xfrm>
          <a:prstGeom prst="rect">
            <a:avLst/>
          </a:prstGeom>
        </p:spPr>
        <p:txBody>
          <a:bodyPr anchor="t" rtlCol="false" tIns="0" lIns="0" bIns="0" rIns="0">
            <a:spAutoFit/>
          </a:bodyPr>
          <a:lstStyle/>
          <a:p>
            <a:pPr algn="l">
              <a:lnSpc>
                <a:spcPts val="5280"/>
              </a:lnSpc>
            </a:pPr>
            <a:r>
              <a:rPr lang="en-US" sz="4800" b="true">
                <a:solidFill>
                  <a:srgbClr val="F2EFE8"/>
                </a:solidFill>
                <a:latin typeface="Segoe UI Bold"/>
                <a:ea typeface="Segoe UI Bold"/>
                <a:cs typeface="Segoe UI Bold"/>
                <a:sym typeface="Segoe UI Bold"/>
              </a:rPr>
              <a:t>Next Week Tasks</a:t>
            </a:r>
          </a:p>
        </p:txBody>
      </p:sp>
      <p:sp>
        <p:nvSpPr>
          <p:cNvPr name="TextBox 7" id="7"/>
          <p:cNvSpPr txBox="true"/>
          <p:nvPr/>
        </p:nvSpPr>
        <p:spPr>
          <a:xfrm rot="0">
            <a:off x="556798" y="3388678"/>
            <a:ext cx="15729264" cy="3639221"/>
          </a:xfrm>
          <a:prstGeom prst="rect">
            <a:avLst/>
          </a:prstGeom>
        </p:spPr>
        <p:txBody>
          <a:bodyPr anchor="t" rtlCol="false" tIns="0" lIns="0" bIns="0" rIns="0">
            <a:spAutoFit/>
          </a:bodyPr>
          <a:lstStyle/>
          <a:p>
            <a:pPr algn="l" marL="561033" indent="-280516" lvl="1">
              <a:lnSpc>
                <a:spcPts val="3638"/>
              </a:lnSpc>
              <a:buFont typeface="Arial"/>
              <a:buChar char="•"/>
            </a:pPr>
            <a:r>
              <a:rPr lang="en-US" sz="2598">
                <a:solidFill>
                  <a:srgbClr val="E3E5E5"/>
                </a:solidFill>
                <a:latin typeface="Inter"/>
                <a:ea typeface="Inter"/>
                <a:cs typeface="Inter"/>
                <a:sym typeface="Inter"/>
              </a:rPr>
              <a:t>Complete the SQL TenancyEvent schema and make the initial migrations.</a:t>
            </a:r>
          </a:p>
          <a:p>
            <a:pPr algn="l" marL="561033" indent="-280516" lvl="1">
              <a:lnSpc>
                <a:spcPts val="3638"/>
              </a:lnSpc>
              <a:buFont typeface="Arial"/>
              <a:buChar char="•"/>
            </a:pPr>
            <a:r>
              <a:rPr lang="en-US" sz="2598">
                <a:solidFill>
                  <a:srgbClr val="E3E5E5"/>
                </a:solidFill>
                <a:latin typeface="Inter"/>
                <a:ea typeface="Inter"/>
                <a:cs typeface="Inter"/>
                <a:sym typeface="Inter"/>
              </a:rPr>
              <a:t>Use Tesseract to extract text blocks and extract the "Service Date" and "Proposed Termination Date" field values.</a:t>
            </a:r>
          </a:p>
          <a:p>
            <a:pPr algn="l" marL="561033" indent="-280516" lvl="1">
              <a:lnSpc>
                <a:spcPts val="3638"/>
              </a:lnSpc>
              <a:buFont typeface="Arial"/>
              <a:buChar char="•"/>
            </a:pPr>
            <a:r>
              <a:rPr lang="en-US" sz="2598">
                <a:solidFill>
                  <a:srgbClr val="E3E5E5"/>
                </a:solidFill>
                <a:latin typeface="Inter"/>
                <a:ea typeface="Inter"/>
                <a:cs typeface="Inter"/>
                <a:sym typeface="Inter"/>
              </a:rPr>
              <a:t>Take the dates from the OCR and arrange them in a standardized JSON schema which the Rules Engine can consume.</a:t>
            </a:r>
          </a:p>
          <a:p>
            <a:pPr algn="l" marL="561033" indent="-280516" lvl="1">
              <a:lnSpc>
                <a:spcPts val="3638"/>
              </a:lnSpc>
              <a:buFont typeface="Arial"/>
              <a:buChar char="•"/>
            </a:pPr>
            <a:r>
              <a:rPr lang="en-US" sz="2598">
                <a:solidFill>
                  <a:srgbClr val="E3E5E5"/>
                </a:solidFill>
                <a:latin typeface="Inter"/>
                <a:ea typeface="Inter"/>
                <a:cs typeface="Inter"/>
                <a:sym typeface="Inter"/>
              </a:rPr>
              <a:t>Implement controls and sequence-number validations to ensure event writes are not conflicted with one other.</a:t>
            </a:r>
          </a:p>
          <a:p>
            <a:pPr algn="l" marL="561033" indent="-280516" lvl="1">
              <a:lnSpc>
                <a:spcPts val="3638"/>
              </a:lnSpc>
              <a:buFont typeface="Arial"/>
              <a:buChar char="•"/>
            </a:pPr>
            <a:r>
              <a:rPr lang="en-US" sz="2598">
                <a:solidFill>
                  <a:srgbClr val="E3E5E5"/>
                </a:solidFill>
                <a:latin typeface="Inter"/>
                <a:ea typeface="Inter"/>
                <a:cs typeface="Inter"/>
                <a:sym typeface="Inter"/>
              </a:rPr>
              <a:t>Have to have a working demo so that we can test the integrations.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DAHWyoLyQ9M</dc:identifier>
  <dcterms:modified xsi:type="dcterms:W3CDTF">2011-08-01T06:04:30Z</dcterms:modified>
  <cp:revision>1</cp:revision>
  <dc:title>Signup and Login</dc:title>
</cp:coreProperties>
</file>