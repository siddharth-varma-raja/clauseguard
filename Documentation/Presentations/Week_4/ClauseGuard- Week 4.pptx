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Aileron Bold" panose="020B0604020202020204" charset="0"/>
      <p:regular r:id="rId19"/>
    </p:embeddedFont>
    <p:embeddedFont>
      <p:font typeface="Alata" panose="020B0604020202020204" charset="0"/>
      <p:regular r:id="rId20"/>
    </p:embeddedFont>
    <p:embeddedFont>
      <p:font typeface="DM Sans" pitchFamily="2" charset="0"/>
      <p:regular r:id="rId21"/>
    </p:embeddedFont>
    <p:embeddedFont>
      <p:font typeface="DM Sans 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773"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555" b="-555"/>
            </a:stretch>
          </a:blipFill>
        </p:spPr>
      </p:sp>
      <p:sp>
        <p:nvSpPr>
          <p:cNvPr id="3" name="TextBox 3"/>
          <p:cNvSpPr txBox="1"/>
          <p:nvPr/>
        </p:nvSpPr>
        <p:spPr>
          <a:xfrm>
            <a:off x="0" y="-200025"/>
            <a:ext cx="8057538" cy="3542256"/>
          </a:xfrm>
          <a:prstGeom prst="rect">
            <a:avLst/>
          </a:prstGeom>
        </p:spPr>
        <p:txBody>
          <a:bodyPr lIns="0" tIns="0" rIns="0" bIns="0" rtlCol="0" anchor="t">
            <a:spAutoFit/>
          </a:bodyPr>
          <a:lstStyle/>
          <a:p>
            <a:pPr marL="0" lvl="0" indent="0" algn="ctr">
              <a:lnSpc>
                <a:spcPts val="14232"/>
              </a:lnSpc>
            </a:pPr>
            <a:r>
              <a:rPr lang="en-US" sz="10166" b="1">
                <a:solidFill>
                  <a:srgbClr val="FFFFFF"/>
                </a:solidFill>
                <a:latin typeface="Aileron Bold"/>
                <a:ea typeface="Aileron Bold"/>
                <a:cs typeface="Aileron Bold"/>
                <a:sym typeface="Aileron Bold"/>
              </a:rPr>
              <a:t>ClauseGuard</a:t>
            </a:r>
          </a:p>
          <a:p>
            <a:pPr marL="0" lvl="0" indent="0" algn="ctr">
              <a:lnSpc>
                <a:spcPts val="14232"/>
              </a:lnSpc>
            </a:pPr>
            <a:r>
              <a:rPr lang="en-US" sz="10166" b="1">
                <a:solidFill>
                  <a:srgbClr val="FFFFFF"/>
                </a:solidFill>
                <a:latin typeface="Aileron Bold"/>
                <a:ea typeface="Aileron Bold"/>
                <a:cs typeface="Aileron Bold"/>
                <a:sym typeface="Aileron Bold"/>
              </a:rPr>
              <a:t>Updates</a:t>
            </a:r>
          </a:p>
        </p:txBody>
      </p:sp>
      <p:grpSp>
        <p:nvGrpSpPr>
          <p:cNvPr id="4" name="Group 4"/>
          <p:cNvGrpSpPr/>
          <p:nvPr/>
        </p:nvGrpSpPr>
        <p:grpSpPr>
          <a:xfrm rot="-10800000">
            <a:off x="-2588158" y="6670142"/>
            <a:ext cx="5176315" cy="5176315"/>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45B">
                    <a:alpha val="100000"/>
                  </a:srgbClr>
                </a:gs>
                <a:gs pos="100000">
                  <a:srgbClr val="A1529C">
                    <a:alpha val="100000"/>
                  </a:srgbClr>
                </a:gs>
              </a:gsLst>
              <a:lin ang="5400000"/>
            </a:gradFill>
          </p:spPr>
        </p:sp>
        <p:sp>
          <p:nvSpPr>
            <p:cNvPr id="6" name="TextBox 6"/>
            <p:cNvSpPr txBox="1"/>
            <p:nvPr/>
          </p:nvSpPr>
          <p:spPr>
            <a:xfrm>
              <a:off x="76200" y="28575"/>
              <a:ext cx="660400" cy="708025"/>
            </a:xfrm>
            <a:prstGeom prst="rect">
              <a:avLst/>
            </a:prstGeom>
          </p:spPr>
          <p:txBody>
            <a:bodyPr lIns="50800" tIns="50800" rIns="50800" bIns="50800" rtlCol="0" anchor="ctr"/>
            <a:lstStyle/>
            <a:p>
              <a:pPr marL="0" lvl="0" indent="0" algn="ctr">
                <a:lnSpc>
                  <a:spcPts val="3740"/>
                </a:lnSpc>
              </a:pPr>
              <a:endParaRPr/>
            </a:p>
          </p:txBody>
        </p:sp>
      </p:grpSp>
      <p:grpSp>
        <p:nvGrpSpPr>
          <p:cNvPr id="7" name="Group 7"/>
          <p:cNvGrpSpPr/>
          <p:nvPr/>
        </p:nvGrpSpPr>
        <p:grpSpPr>
          <a:xfrm rot="-10800000">
            <a:off x="15983152" y="1903941"/>
            <a:ext cx="3692928" cy="369292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45B">
                    <a:alpha val="100000"/>
                  </a:srgbClr>
                </a:gs>
                <a:gs pos="100000">
                  <a:srgbClr val="A1529C">
                    <a:alpha val="100000"/>
                  </a:srgbClr>
                </a:gs>
              </a:gsLst>
              <a:lin ang="5400000"/>
            </a:gradFill>
          </p:spPr>
        </p:sp>
        <p:sp>
          <p:nvSpPr>
            <p:cNvPr id="9" name="TextBox 9"/>
            <p:cNvSpPr txBox="1"/>
            <p:nvPr/>
          </p:nvSpPr>
          <p:spPr>
            <a:xfrm>
              <a:off x="76200" y="28575"/>
              <a:ext cx="660400" cy="708025"/>
            </a:xfrm>
            <a:prstGeom prst="rect">
              <a:avLst/>
            </a:prstGeom>
          </p:spPr>
          <p:txBody>
            <a:bodyPr lIns="50800" tIns="50800" rIns="50800" bIns="50800" rtlCol="0" anchor="ctr"/>
            <a:lstStyle/>
            <a:p>
              <a:pPr marL="0" lvl="0" indent="0" algn="ctr">
                <a:lnSpc>
                  <a:spcPts val="3740"/>
                </a:lnSpc>
              </a:pPr>
              <a:endParaRPr/>
            </a:p>
          </p:txBody>
        </p:sp>
      </p:grpSp>
      <p:sp>
        <p:nvSpPr>
          <p:cNvPr id="10" name="TextBox 10"/>
          <p:cNvSpPr txBox="1"/>
          <p:nvPr/>
        </p:nvSpPr>
        <p:spPr>
          <a:xfrm>
            <a:off x="6866942" y="9220200"/>
            <a:ext cx="11276640" cy="656624"/>
          </a:xfrm>
          <a:prstGeom prst="rect">
            <a:avLst/>
          </a:prstGeom>
        </p:spPr>
        <p:txBody>
          <a:bodyPr lIns="0" tIns="0" rIns="0" bIns="0" rtlCol="0" anchor="t">
            <a:spAutoFit/>
          </a:bodyPr>
          <a:lstStyle/>
          <a:p>
            <a:pPr marL="0" lvl="0" indent="0" algn="just">
              <a:lnSpc>
                <a:spcPts val="2658"/>
              </a:lnSpc>
            </a:pPr>
            <a:r>
              <a:rPr lang="en-US" sz="1898">
                <a:solidFill>
                  <a:srgbClr val="FFFFFF"/>
                </a:solidFill>
                <a:latin typeface="Alata"/>
                <a:ea typeface="Alata"/>
                <a:cs typeface="Alata"/>
                <a:sym typeface="Alata"/>
              </a:rPr>
              <a:t>A platform that helps tenants manage tenancy records and follow Irish rental rules, keeping everyone on the same page.</a:t>
            </a:r>
          </a:p>
        </p:txBody>
      </p:sp>
      <p:sp>
        <p:nvSpPr>
          <p:cNvPr id="11" name="TextBox 11"/>
          <p:cNvSpPr txBox="1"/>
          <p:nvPr/>
        </p:nvSpPr>
        <p:spPr>
          <a:xfrm>
            <a:off x="760209" y="3674204"/>
            <a:ext cx="5958602" cy="3128730"/>
          </a:xfrm>
          <a:prstGeom prst="rect">
            <a:avLst/>
          </a:prstGeom>
        </p:spPr>
        <p:txBody>
          <a:bodyPr lIns="0" tIns="0" rIns="0" bIns="0" rtlCol="0" anchor="t">
            <a:spAutoFit/>
          </a:bodyPr>
          <a:lstStyle/>
          <a:p>
            <a:pPr algn="ctr">
              <a:lnSpc>
                <a:spcPts val="5000"/>
              </a:lnSpc>
            </a:pPr>
            <a:r>
              <a:rPr lang="en-US" sz="3571">
                <a:solidFill>
                  <a:srgbClr val="FFFFFF"/>
                </a:solidFill>
                <a:latin typeface="Alata"/>
                <a:ea typeface="Alata"/>
                <a:cs typeface="Alata"/>
                <a:sym typeface="Alata"/>
              </a:rPr>
              <a:t>SHUBHAM(A00047193)</a:t>
            </a:r>
          </a:p>
          <a:p>
            <a:pPr algn="ctr">
              <a:lnSpc>
                <a:spcPts val="5000"/>
              </a:lnSpc>
            </a:pPr>
            <a:r>
              <a:rPr lang="en-US" sz="3571">
                <a:solidFill>
                  <a:srgbClr val="FFFFFF"/>
                </a:solidFill>
                <a:latin typeface="Alata"/>
                <a:ea typeface="Alata"/>
                <a:cs typeface="Alata"/>
                <a:sym typeface="Alata"/>
              </a:rPr>
              <a:t>SIDDHARTH(A00047237)</a:t>
            </a:r>
          </a:p>
          <a:p>
            <a:pPr algn="ctr">
              <a:lnSpc>
                <a:spcPts val="5000"/>
              </a:lnSpc>
            </a:pPr>
            <a:r>
              <a:rPr lang="en-US" sz="3571">
                <a:solidFill>
                  <a:srgbClr val="FFFFFF"/>
                </a:solidFill>
                <a:latin typeface="Alata"/>
                <a:ea typeface="Alata"/>
                <a:cs typeface="Alata"/>
                <a:sym typeface="Alata"/>
              </a:rPr>
              <a:t>PRASAD(A00047190)</a:t>
            </a:r>
          </a:p>
          <a:p>
            <a:pPr algn="ctr">
              <a:lnSpc>
                <a:spcPts val="5000"/>
              </a:lnSpc>
              <a:spcBef>
                <a:spcPct val="0"/>
              </a:spcBef>
            </a:pPr>
            <a:r>
              <a:rPr lang="en-US" sz="3571">
                <a:solidFill>
                  <a:srgbClr val="FFFFFF"/>
                </a:solidFill>
                <a:latin typeface="Alata"/>
                <a:ea typeface="Alata"/>
                <a:cs typeface="Alata"/>
                <a:sym typeface="Alata"/>
              </a:rPr>
              <a:t>JUDE (A00046791)</a:t>
            </a:r>
          </a:p>
          <a:p>
            <a:pPr algn="ctr">
              <a:lnSpc>
                <a:spcPts val="5000"/>
              </a:lnSpc>
              <a:spcBef>
                <a:spcPct val="0"/>
              </a:spcBef>
            </a:pPr>
            <a:r>
              <a:rPr lang="en-US" sz="3571">
                <a:solidFill>
                  <a:srgbClr val="FFFFFF"/>
                </a:solidFill>
                <a:latin typeface="Alata"/>
                <a:ea typeface="Alata"/>
                <a:cs typeface="Alata"/>
                <a:sym typeface="Alata"/>
              </a:rPr>
              <a:t>KARTHIK (A00046404)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38602" y="-4034957"/>
            <a:ext cx="9178457" cy="917845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45B">
                    <a:alpha val="100000"/>
                  </a:srgbClr>
                </a:gs>
                <a:gs pos="100000">
                  <a:srgbClr val="A1529C">
                    <a:alpha val="100000"/>
                  </a:srgbClr>
                </a:gs>
              </a:gsLst>
              <a:lin ang="5400000"/>
            </a:gradFill>
          </p:spPr>
        </p:sp>
        <p:sp>
          <p:nvSpPr>
            <p:cNvPr id="4" name="TextBox 4"/>
            <p:cNvSpPr txBox="1"/>
            <p:nvPr/>
          </p:nvSpPr>
          <p:spPr>
            <a:xfrm>
              <a:off x="76200" y="28575"/>
              <a:ext cx="660400" cy="708025"/>
            </a:xfrm>
            <a:prstGeom prst="rect">
              <a:avLst/>
            </a:prstGeom>
          </p:spPr>
          <p:txBody>
            <a:bodyPr lIns="50800" tIns="50800" rIns="50800" bIns="50800" rtlCol="0" anchor="ctr"/>
            <a:lstStyle/>
            <a:p>
              <a:pPr marL="0" lvl="0" indent="0" algn="ctr">
                <a:lnSpc>
                  <a:spcPts val="3740"/>
                </a:lnSpc>
              </a:pPr>
              <a:endParaRPr/>
            </a:p>
          </p:txBody>
        </p:sp>
      </p:grpSp>
      <p:grpSp>
        <p:nvGrpSpPr>
          <p:cNvPr id="5" name="Group 5"/>
          <p:cNvGrpSpPr/>
          <p:nvPr/>
        </p:nvGrpSpPr>
        <p:grpSpPr>
          <a:xfrm>
            <a:off x="13889524" y="-2721179"/>
            <a:ext cx="6550901" cy="655090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7" name="TextBox 7"/>
            <p:cNvSpPr txBox="1"/>
            <p:nvPr/>
          </p:nvSpPr>
          <p:spPr>
            <a:xfrm>
              <a:off x="76200" y="28575"/>
              <a:ext cx="660400" cy="708025"/>
            </a:xfrm>
            <a:prstGeom prst="rect">
              <a:avLst/>
            </a:prstGeom>
          </p:spPr>
          <p:txBody>
            <a:bodyPr lIns="50800" tIns="50800" rIns="50800" bIns="50800" rtlCol="0" anchor="ctr"/>
            <a:lstStyle/>
            <a:p>
              <a:pPr marL="0" lvl="0" indent="0" algn="ctr">
                <a:lnSpc>
                  <a:spcPts val="3740"/>
                </a:lnSpc>
              </a:pPr>
              <a:endParaRPr/>
            </a:p>
          </p:txBody>
        </p:sp>
      </p:grpSp>
      <p:grpSp>
        <p:nvGrpSpPr>
          <p:cNvPr id="8" name="Group 8"/>
          <p:cNvGrpSpPr/>
          <p:nvPr/>
        </p:nvGrpSpPr>
        <p:grpSpPr>
          <a:xfrm rot="-10800000">
            <a:off x="-2321705" y="-1138758"/>
            <a:ext cx="7123084" cy="7123084"/>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45B">
                    <a:alpha val="37000"/>
                  </a:srgbClr>
                </a:gs>
                <a:gs pos="100000">
                  <a:srgbClr val="A1529C">
                    <a:alpha val="37000"/>
                  </a:srgbClr>
                </a:gs>
              </a:gsLst>
              <a:lin ang="5400000"/>
            </a:gradFill>
            <a:ln cap="sq">
              <a:noFill/>
              <a:prstDash val="solid"/>
              <a:miter/>
            </a:ln>
          </p:spPr>
        </p:sp>
        <p:sp>
          <p:nvSpPr>
            <p:cNvPr id="10" name="TextBox 10"/>
            <p:cNvSpPr txBox="1"/>
            <p:nvPr/>
          </p:nvSpPr>
          <p:spPr>
            <a:xfrm>
              <a:off x="76200" y="28575"/>
              <a:ext cx="660400" cy="708025"/>
            </a:xfrm>
            <a:prstGeom prst="rect">
              <a:avLst/>
            </a:prstGeom>
          </p:spPr>
          <p:txBody>
            <a:bodyPr lIns="50800" tIns="50800" rIns="50800" bIns="50800" rtlCol="0" anchor="ctr"/>
            <a:lstStyle/>
            <a:p>
              <a:pPr marL="0" lvl="0" indent="0" algn="ctr">
                <a:lnSpc>
                  <a:spcPts val="3740"/>
                </a:lnSpc>
                <a:spcBef>
                  <a:spcPct val="0"/>
                </a:spcBef>
              </a:pPr>
              <a:endParaRPr/>
            </a:p>
          </p:txBody>
        </p:sp>
      </p:grpSp>
      <p:sp>
        <p:nvSpPr>
          <p:cNvPr id="11" name="TextBox 11"/>
          <p:cNvSpPr txBox="1"/>
          <p:nvPr/>
        </p:nvSpPr>
        <p:spPr>
          <a:xfrm>
            <a:off x="0" y="2979135"/>
            <a:ext cx="8858107" cy="6179127"/>
          </a:xfrm>
          <a:prstGeom prst="rect">
            <a:avLst/>
          </a:prstGeom>
        </p:spPr>
        <p:txBody>
          <a:bodyPr lIns="0" tIns="0" rIns="0" bIns="0" rtlCol="0" anchor="t">
            <a:spAutoFit/>
          </a:bodyPr>
          <a:lstStyle/>
          <a:p>
            <a:pPr marL="588822" lvl="1" indent="-294411" algn="l">
              <a:lnSpc>
                <a:spcPts val="3818"/>
              </a:lnSpc>
              <a:buFont typeface="Arial"/>
              <a:buChar char="•"/>
            </a:pPr>
            <a:r>
              <a:rPr lang="en-US" sz="2727" dirty="0">
                <a:solidFill>
                  <a:srgbClr val="000000"/>
                </a:solidFill>
                <a:latin typeface="Alata"/>
                <a:ea typeface="Alata"/>
                <a:cs typeface="Alata"/>
                <a:sym typeface="Alata"/>
              </a:rPr>
              <a:t>For the core engine, the focus was on the PII Sanitization layer. The redactor.py implemented is a middleware that combines Irish-specific Regex for PPS and phone numbers, and </a:t>
            </a:r>
            <a:r>
              <a:rPr lang="en-US" sz="2727" dirty="0" err="1">
                <a:solidFill>
                  <a:srgbClr val="000000"/>
                </a:solidFill>
                <a:latin typeface="Alata"/>
                <a:ea typeface="Alata"/>
                <a:cs typeface="Alata"/>
                <a:sym typeface="Alata"/>
              </a:rPr>
              <a:t>spaCy</a:t>
            </a:r>
            <a:r>
              <a:rPr lang="en-US" sz="2727" dirty="0">
                <a:solidFill>
                  <a:srgbClr val="000000"/>
                </a:solidFill>
                <a:latin typeface="Alata"/>
                <a:ea typeface="Alata"/>
                <a:cs typeface="Alata"/>
                <a:sym typeface="Alata"/>
              </a:rPr>
              <a:t> NER for names and addresses. This cleans the data before it is passed on to the </a:t>
            </a:r>
            <a:r>
              <a:rPr lang="en-US" sz="2727" dirty="0" err="1">
                <a:solidFill>
                  <a:srgbClr val="000000"/>
                </a:solidFill>
                <a:latin typeface="Alata"/>
                <a:ea typeface="Alata"/>
                <a:cs typeface="Alata"/>
                <a:sym typeface="Alata"/>
              </a:rPr>
              <a:t>diff_engine</a:t>
            </a:r>
            <a:r>
              <a:rPr lang="en-US" sz="2727" dirty="0">
                <a:solidFill>
                  <a:srgbClr val="000000"/>
                </a:solidFill>
                <a:latin typeface="Alata"/>
                <a:ea typeface="Alata"/>
                <a:cs typeface="Alata"/>
                <a:sym typeface="Alata"/>
              </a:rPr>
              <a:t> and model, giving absolute privacy.</a:t>
            </a:r>
          </a:p>
          <a:p>
            <a:pPr algn="l">
              <a:lnSpc>
                <a:spcPts val="3818"/>
              </a:lnSpc>
            </a:pPr>
            <a:endParaRPr lang="en-US" sz="2727" dirty="0">
              <a:solidFill>
                <a:srgbClr val="000000"/>
              </a:solidFill>
              <a:latin typeface="Alata"/>
              <a:ea typeface="Alata"/>
              <a:cs typeface="Alata"/>
              <a:sym typeface="Alata"/>
            </a:endParaRPr>
          </a:p>
          <a:p>
            <a:pPr marL="588822" lvl="1" indent="-294411" algn="l">
              <a:lnSpc>
                <a:spcPts val="3818"/>
              </a:lnSpc>
              <a:buFont typeface="Arial"/>
              <a:buChar char="•"/>
            </a:pPr>
            <a:r>
              <a:rPr lang="en-US" sz="2727" dirty="0">
                <a:solidFill>
                  <a:srgbClr val="000000"/>
                </a:solidFill>
                <a:latin typeface="Alata"/>
                <a:ea typeface="Alata"/>
                <a:cs typeface="Alata"/>
                <a:sym typeface="Alata"/>
              </a:rPr>
              <a:t>Also to enforce the privacy, the Ephemeral S3 storage was looked into. After the redactor sanitizes the text, the original unredacted text is immediately overwritten by the code. The raw PII is destroyed, and cannot be retrieved.</a:t>
            </a:r>
          </a:p>
        </p:txBody>
      </p:sp>
      <p:sp>
        <p:nvSpPr>
          <p:cNvPr id="12" name="Freeform 12"/>
          <p:cNvSpPr/>
          <p:nvPr/>
        </p:nvSpPr>
        <p:spPr>
          <a:xfrm>
            <a:off x="6826163" y="8878694"/>
            <a:ext cx="11424878" cy="1251296"/>
          </a:xfrm>
          <a:custGeom>
            <a:avLst/>
            <a:gdLst/>
            <a:ahLst/>
            <a:cxnLst/>
            <a:rect l="l" t="t" r="r" b="b"/>
            <a:pathLst>
              <a:path w="11424878" h="1251296">
                <a:moveTo>
                  <a:pt x="0" y="0"/>
                </a:moveTo>
                <a:lnTo>
                  <a:pt x="11424878" y="0"/>
                </a:lnTo>
                <a:lnTo>
                  <a:pt x="11424878" y="1251296"/>
                </a:lnTo>
                <a:lnTo>
                  <a:pt x="0" y="1251296"/>
                </a:lnTo>
                <a:lnTo>
                  <a:pt x="0" y="0"/>
                </a:lnTo>
                <a:close/>
              </a:path>
            </a:pathLst>
          </a:custGeom>
          <a:blipFill>
            <a:blip r:embed="rId2"/>
            <a:stretch>
              <a:fillRect/>
            </a:stretch>
          </a:blipFill>
        </p:spPr>
      </p:sp>
      <p:sp>
        <p:nvSpPr>
          <p:cNvPr id="13" name="Freeform 13"/>
          <p:cNvSpPr/>
          <p:nvPr/>
        </p:nvSpPr>
        <p:spPr>
          <a:xfrm>
            <a:off x="8858107" y="3519337"/>
            <a:ext cx="9392934" cy="3248327"/>
          </a:xfrm>
          <a:custGeom>
            <a:avLst/>
            <a:gdLst/>
            <a:ahLst/>
            <a:cxnLst/>
            <a:rect l="l" t="t" r="r" b="b"/>
            <a:pathLst>
              <a:path w="9392934" h="3248327">
                <a:moveTo>
                  <a:pt x="0" y="0"/>
                </a:moveTo>
                <a:lnTo>
                  <a:pt x="9392934" y="0"/>
                </a:lnTo>
                <a:lnTo>
                  <a:pt x="9392934" y="3248326"/>
                </a:lnTo>
                <a:lnTo>
                  <a:pt x="0" y="3248326"/>
                </a:lnTo>
                <a:lnTo>
                  <a:pt x="0" y="0"/>
                </a:lnTo>
                <a:close/>
              </a:path>
            </a:pathLst>
          </a:custGeom>
          <a:blipFill>
            <a:blip r:embed="rId3"/>
            <a:stretch>
              <a:fillRect l="-4959"/>
            </a:stretch>
          </a:blipFill>
        </p:spPr>
      </p:sp>
      <p:sp>
        <p:nvSpPr>
          <p:cNvPr id="14" name="TextBox 14"/>
          <p:cNvSpPr txBox="1"/>
          <p:nvPr/>
        </p:nvSpPr>
        <p:spPr>
          <a:xfrm>
            <a:off x="4298442" y="550350"/>
            <a:ext cx="7819811" cy="1101968"/>
          </a:xfrm>
          <a:prstGeom prst="rect">
            <a:avLst/>
          </a:prstGeom>
        </p:spPr>
        <p:txBody>
          <a:bodyPr lIns="0" tIns="0" rIns="0" bIns="0" rtlCol="0" anchor="t">
            <a:spAutoFit/>
          </a:bodyPr>
          <a:lstStyle/>
          <a:p>
            <a:pPr marL="0" lvl="0" indent="0" algn="ctr">
              <a:lnSpc>
                <a:spcPts val="9393"/>
              </a:lnSpc>
            </a:pPr>
            <a:r>
              <a:rPr lang="en-US" sz="6709" b="1" u="sng" dirty="0">
                <a:solidFill>
                  <a:srgbClr val="523079"/>
                </a:solidFill>
                <a:latin typeface="Aileron Bold"/>
                <a:ea typeface="Aileron Bold"/>
                <a:cs typeface="Aileron Bold"/>
                <a:sym typeface="Aileron Bold"/>
              </a:rPr>
              <a:t>CORE ENGINE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617962"/>
            <a:ext cx="1865801" cy="410738"/>
            <a:chOff x="0" y="0"/>
            <a:chExt cx="491404" cy="108178"/>
          </a:xfrm>
        </p:grpSpPr>
        <p:sp>
          <p:nvSpPr>
            <p:cNvPr id="3" name="Freeform 3"/>
            <p:cNvSpPr/>
            <p:nvPr/>
          </p:nvSpPr>
          <p:spPr>
            <a:xfrm>
              <a:off x="0" y="0"/>
              <a:ext cx="491405" cy="108178"/>
            </a:xfrm>
            <a:custGeom>
              <a:avLst/>
              <a:gdLst/>
              <a:ahLst/>
              <a:cxnLst/>
              <a:rect l="l" t="t" r="r" b="b"/>
              <a:pathLst>
                <a:path w="491405" h="108178">
                  <a:moveTo>
                    <a:pt x="54089" y="0"/>
                  </a:moveTo>
                  <a:lnTo>
                    <a:pt x="437316" y="0"/>
                  </a:lnTo>
                  <a:cubicBezTo>
                    <a:pt x="451661" y="0"/>
                    <a:pt x="465419" y="5699"/>
                    <a:pt x="475562" y="15842"/>
                  </a:cubicBezTo>
                  <a:cubicBezTo>
                    <a:pt x="485706" y="25986"/>
                    <a:pt x="491405" y="39744"/>
                    <a:pt x="491405" y="54089"/>
                  </a:cubicBezTo>
                  <a:lnTo>
                    <a:pt x="491405" y="54089"/>
                  </a:lnTo>
                  <a:cubicBezTo>
                    <a:pt x="491405" y="68434"/>
                    <a:pt x="485706" y="82192"/>
                    <a:pt x="475562" y="92336"/>
                  </a:cubicBezTo>
                  <a:cubicBezTo>
                    <a:pt x="465419" y="102479"/>
                    <a:pt x="451661" y="108178"/>
                    <a:pt x="437316" y="108178"/>
                  </a:cubicBezTo>
                  <a:lnTo>
                    <a:pt x="54089" y="108178"/>
                  </a:lnTo>
                  <a:cubicBezTo>
                    <a:pt x="39744" y="108178"/>
                    <a:pt x="25986" y="102479"/>
                    <a:pt x="15842" y="92336"/>
                  </a:cubicBezTo>
                  <a:cubicBezTo>
                    <a:pt x="5699" y="82192"/>
                    <a:pt x="0" y="68434"/>
                    <a:pt x="0" y="54089"/>
                  </a:cubicBezTo>
                  <a:lnTo>
                    <a:pt x="0" y="54089"/>
                  </a:lnTo>
                  <a:cubicBezTo>
                    <a:pt x="0" y="39744"/>
                    <a:pt x="5699" y="25986"/>
                    <a:pt x="15842" y="15842"/>
                  </a:cubicBezTo>
                  <a:cubicBezTo>
                    <a:pt x="25986" y="5699"/>
                    <a:pt x="39744" y="0"/>
                    <a:pt x="54089" y="0"/>
                  </a:cubicBezTo>
                  <a:close/>
                </a:path>
              </a:pathLst>
            </a:custGeom>
            <a:gradFill rotWithShape="1">
              <a:gsLst>
                <a:gs pos="0">
                  <a:srgbClr val="11145B">
                    <a:alpha val="100000"/>
                  </a:srgbClr>
                </a:gs>
                <a:gs pos="100000">
                  <a:srgbClr val="A1529C">
                    <a:alpha val="100000"/>
                  </a:srgbClr>
                </a:gs>
              </a:gsLst>
              <a:path path="circle">
                <a:fillToRect r="100000" b="100000"/>
              </a:path>
              <a:tileRect l="-100000" t="-100000"/>
            </a:gradFill>
            <a:ln cap="rnd">
              <a:noFill/>
              <a:prstDash val="solid"/>
              <a:round/>
            </a:ln>
          </p:spPr>
        </p:sp>
        <p:sp>
          <p:nvSpPr>
            <p:cNvPr id="4" name="TextBox 4"/>
            <p:cNvSpPr txBox="1"/>
            <p:nvPr/>
          </p:nvSpPr>
          <p:spPr>
            <a:xfrm>
              <a:off x="0" y="-47625"/>
              <a:ext cx="491404" cy="155803"/>
            </a:xfrm>
            <a:prstGeom prst="rect">
              <a:avLst/>
            </a:prstGeom>
          </p:spPr>
          <p:txBody>
            <a:bodyPr lIns="50800" tIns="50800" rIns="50800" bIns="50800" rtlCol="0" anchor="ctr"/>
            <a:lstStyle/>
            <a:p>
              <a:pPr marL="0" lvl="0" indent="0" algn="ctr">
                <a:lnSpc>
                  <a:spcPts val="3740"/>
                </a:lnSpc>
                <a:spcBef>
                  <a:spcPct val="0"/>
                </a:spcBef>
              </a:pPr>
              <a:endParaRPr/>
            </a:p>
          </p:txBody>
        </p:sp>
      </p:grpSp>
      <p:sp>
        <p:nvSpPr>
          <p:cNvPr id="5" name="Freeform 5"/>
          <p:cNvSpPr/>
          <p:nvPr/>
        </p:nvSpPr>
        <p:spPr>
          <a:xfrm>
            <a:off x="1002210" y="1199568"/>
            <a:ext cx="7330482" cy="8940314"/>
          </a:xfrm>
          <a:custGeom>
            <a:avLst/>
            <a:gdLst/>
            <a:ahLst/>
            <a:cxnLst/>
            <a:rect l="l" t="t" r="r" b="b"/>
            <a:pathLst>
              <a:path w="7330482" h="8940314">
                <a:moveTo>
                  <a:pt x="0" y="0"/>
                </a:moveTo>
                <a:lnTo>
                  <a:pt x="7330482" y="0"/>
                </a:lnTo>
                <a:lnTo>
                  <a:pt x="7330482" y="8940314"/>
                </a:lnTo>
                <a:lnTo>
                  <a:pt x="0" y="8940314"/>
                </a:lnTo>
                <a:lnTo>
                  <a:pt x="0" y="0"/>
                </a:lnTo>
                <a:close/>
              </a:path>
            </a:pathLst>
          </a:custGeom>
          <a:blipFill>
            <a:blip r:embed="rId2"/>
            <a:stretch>
              <a:fillRect/>
            </a:stretch>
          </a:blipFill>
        </p:spPr>
      </p:sp>
      <p:sp>
        <p:nvSpPr>
          <p:cNvPr id="6" name="TextBox 6"/>
          <p:cNvSpPr txBox="1"/>
          <p:nvPr/>
        </p:nvSpPr>
        <p:spPr>
          <a:xfrm>
            <a:off x="1002210" y="676963"/>
            <a:ext cx="1918782" cy="264189"/>
          </a:xfrm>
          <a:prstGeom prst="rect">
            <a:avLst/>
          </a:prstGeom>
        </p:spPr>
        <p:txBody>
          <a:bodyPr lIns="0" tIns="0" rIns="0" bIns="0" rtlCol="0" anchor="t">
            <a:spAutoFit/>
          </a:bodyPr>
          <a:lstStyle/>
          <a:p>
            <a:pPr marL="0" lvl="0" indent="0" algn="ctr">
              <a:lnSpc>
                <a:spcPts val="2238"/>
              </a:lnSpc>
            </a:pPr>
            <a:r>
              <a:rPr lang="en-US" sz="1598">
                <a:solidFill>
                  <a:srgbClr val="FFFFFF"/>
                </a:solidFill>
                <a:latin typeface="Alata"/>
                <a:ea typeface="Alata"/>
                <a:cs typeface="Alata"/>
                <a:sym typeface="Alata"/>
              </a:rPr>
              <a:t>ClauseGuard</a:t>
            </a:r>
          </a:p>
        </p:txBody>
      </p:sp>
      <p:sp>
        <p:nvSpPr>
          <p:cNvPr id="7" name="TextBox 7"/>
          <p:cNvSpPr txBox="1"/>
          <p:nvPr/>
        </p:nvSpPr>
        <p:spPr>
          <a:xfrm>
            <a:off x="11129439" y="532818"/>
            <a:ext cx="6962220" cy="666750"/>
          </a:xfrm>
          <a:prstGeom prst="rect">
            <a:avLst/>
          </a:prstGeom>
        </p:spPr>
        <p:txBody>
          <a:bodyPr lIns="0" tIns="0" rIns="0" bIns="0" rtlCol="0" anchor="t">
            <a:spAutoFit/>
          </a:bodyPr>
          <a:lstStyle/>
          <a:p>
            <a:pPr marL="0" lvl="0" indent="0" algn="l">
              <a:lnSpc>
                <a:spcPts val="5099"/>
              </a:lnSpc>
            </a:pPr>
            <a:r>
              <a:rPr lang="en-US" sz="4999" b="1">
                <a:solidFill>
                  <a:srgbClr val="523079"/>
                </a:solidFill>
                <a:latin typeface="Aileron Bold"/>
                <a:ea typeface="Aileron Bold"/>
                <a:cs typeface="Aileron Bold"/>
                <a:sym typeface="Aileron Bold"/>
              </a:rPr>
              <a:t>Backend Engineer</a:t>
            </a:r>
          </a:p>
        </p:txBody>
      </p:sp>
      <p:sp>
        <p:nvSpPr>
          <p:cNvPr id="8" name="TextBox 8"/>
          <p:cNvSpPr txBox="1"/>
          <p:nvPr/>
        </p:nvSpPr>
        <p:spPr>
          <a:xfrm>
            <a:off x="8616462" y="1465385"/>
            <a:ext cx="9671538" cy="7983939"/>
          </a:xfrm>
          <a:prstGeom prst="rect">
            <a:avLst/>
          </a:prstGeom>
        </p:spPr>
        <p:txBody>
          <a:bodyPr lIns="0" tIns="0" rIns="0" bIns="0" rtlCol="0" anchor="t">
            <a:spAutoFit/>
          </a:bodyPr>
          <a:lstStyle/>
          <a:p>
            <a:pPr algn="l">
              <a:lnSpc>
                <a:spcPts val="3040"/>
              </a:lnSpc>
              <a:spcBef>
                <a:spcPct val="0"/>
              </a:spcBef>
            </a:pPr>
            <a:r>
              <a:rPr lang="en-US" sz="2171">
                <a:solidFill>
                  <a:srgbClr val="000000"/>
                </a:solidFill>
                <a:latin typeface="Alata"/>
                <a:ea typeface="Alata"/>
                <a:cs typeface="Alata"/>
                <a:sym typeface="Alata"/>
              </a:rPr>
              <a:t>OCR and extraction</a:t>
            </a:r>
          </a:p>
          <a:p>
            <a:pPr marL="468868" lvl="1" indent="-234434" algn="l">
              <a:lnSpc>
                <a:spcPts val="3040"/>
              </a:lnSpc>
              <a:spcBef>
                <a:spcPct val="0"/>
              </a:spcBef>
              <a:buFont typeface="Arial"/>
              <a:buChar char="•"/>
            </a:pPr>
            <a:r>
              <a:rPr lang="en-US" sz="2171">
                <a:solidFill>
                  <a:srgbClr val="000000"/>
                </a:solidFill>
                <a:latin typeface="Alata"/>
                <a:ea typeface="Alata"/>
                <a:cs typeface="Alata"/>
                <a:sym typeface="Alata"/>
              </a:rPr>
              <a:t>Image uploads (JPEG, PNG, TIFF, WebP, BMP) are read with pytesseract and Pillow.</a:t>
            </a:r>
          </a:p>
          <a:p>
            <a:pPr marL="468868" lvl="1" indent="-234434" algn="l">
              <a:lnSpc>
                <a:spcPts val="3040"/>
              </a:lnSpc>
              <a:spcBef>
                <a:spcPct val="0"/>
              </a:spcBef>
              <a:buFont typeface="Arial"/>
              <a:buChar char="•"/>
            </a:pPr>
            <a:r>
              <a:rPr lang="en-US" sz="2171">
                <a:solidFill>
                  <a:srgbClr val="000000"/>
                </a:solidFill>
                <a:latin typeface="Alata"/>
                <a:ea typeface="Alata"/>
                <a:cs typeface="Alata"/>
                <a:sym typeface="Alata"/>
              </a:rPr>
              <a:t>Scanned PDFs fall back to per-page Tesseract OCR through pdf2image and Poppler when pdfplumber finds no text.</a:t>
            </a:r>
          </a:p>
          <a:p>
            <a:pPr marL="468868" lvl="1" indent="-234434" algn="l">
              <a:lnSpc>
                <a:spcPts val="3040"/>
              </a:lnSpc>
              <a:spcBef>
                <a:spcPct val="0"/>
              </a:spcBef>
              <a:buFont typeface="Arial"/>
              <a:buChar char="•"/>
            </a:pPr>
            <a:r>
              <a:rPr lang="en-US" sz="2171">
                <a:solidFill>
                  <a:srgbClr val="000000"/>
                </a:solidFill>
                <a:latin typeface="Alata"/>
                <a:ea typeface="Alata"/>
                <a:cs typeface="Alata"/>
                <a:sym typeface="Alata"/>
              </a:rPr>
              <a:t>A single extractor service detects the MIME type and routes the file to text extraction or OCR.</a:t>
            </a:r>
          </a:p>
          <a:p>
            <a:pPr algn="l">
              <a:lnSpc>
                <a:spcPts val="3040"/>
              </a:lnSpc>
              <a:spcBef>
                <a:spcPct val="0"/>
              </a:spcBef>
            </a:pPr>
            <a:endParaRPr lang="en-US" sz="2171">
              <a:solidFill>
                <a:srgbClr val="000000"/>
              </a:solidFill>
              <a:latin typeface="Alata"/>
              <a:ea typeface="Alata"/>
              <a:cs typeface="Alata"/>
              <a:sym typeface="Alata"/>
            </a:endParaRPr>
          </a:p>
          <a:p>
            <a:pPr algn="l">
              <a:lnSpc>
                <a:spcPts val="3040"/>
              </a:lnSpc>
              <a:spcBef>
                <a:spcPct val="0"/>
              </a:spcBef>
            </a:pPr>
            <a:r>
              <a:rPr lang="en-US" sz="2171">
                <a:solidFill>
                  <a:srgbClr val="000000"/>
                </a:solidFill>
                <a:latin typeface="Alata"/>
                <a:ea typeface="Alata"/>
                <a:cs typeface="Alata"/>
                <a:sym typeface="Alata"/>
              </a:rPr>
              <a:t>Processing pipeline</a:t>
            </a:r>
          </a:p>
          <a:p>
            <a:pPr marL="468868" lvl="1" indent="-234434" algn="l">
              <a:lnSpc>
                <a:spcPts val="3040"/>
              </a:lnSpc>
              <a:spcBef>
                <a:spcPct val="0"/>
              </a:spcBef>
              <a:buFont typeface="Arial"/>
              <a:buChar char="•"/>
            </a:pPr>
            <a:r>
              <a:rPr lang="en-US" sz="2171">
                <a:solidFill>
                  <a:srgbClr val="000000"/>
                </a:solidFill>
                <a:latin typeface="Alata"/>
                <a:ea typeface="Alata"/>
                <a:cs typeface="Alata"/>
                <a:sym typeface="Alata"/>
              </a:rPr>
              <a:t>Flow: Extraction → Redaction → S3 Upload.</a:t>
            </a:r>
          </a:p>
          <a:p>
            <a:pPr marL="468868" lvl="1" indent="-234434" algn="l">
              <a:lnSpc>
                <a:spcPts val="3040"/>
              </a:lnSpc>
              <a:spcBef>
                <a:spcPct val="0"/>
              </a:spcBef>
              <a:buFont typeface="Arial"/>
              <a:buChar char="•"/>
            </a:pPr>
            <a:r>
              <a:rPr lang="en-US" sz="2171">
                <a:solidFill>
                  <a:srgbClr val="000000"/>
                </a:solidFill>
                <a:latin typeface="Alata"/>
                <a:ea typeface="Alata"/>
                <a:cs typeface="Alata"/>
                <a:sym typeface="Alata"/>
              </a:rPr>
              <a:t>Errors are tracked per step (extraction, redaction, upload).</a:t>
            </a:r>
          </a:p>
          <a:p>
            <a:pPr marL="468868" lvl="1" indent="-234434" algn="l">
              <a:lnSpc>
                <a:spcPts val="3040"/>
              </a:lnSpc>
              <a:spcBef>
                <a:spcPct val="0"/>
              </a:spcBef>
              <a:buFont typeface="Arial"/>
              <a:buChar char="•"/>
            </a:pPr>
            <a:r>
              <a:rPr lang="en-US" sz="2171">
                <a:solidFill>
                  <a:srgbClr val="000000"/>
                </a:solidFill>
                <a:latin typeface="Alata"/>
                <a:ea typeface="Alata"/>
                <a:cs typeface="Alata"/>
                <a:sym typeface="Alata"/>
              </a:rPr>
              <a:t>Privacy-first design: original files are processed in memory and never stored. Only redacted text goes to S3.</a:t>
            </a:r>
          </a:p>
          <a:p>
            <a:pPr algn="l">
              <a:lnSpc>
                <a:spcPts val="3040"/>
              </a:lnSpc>
              <a:spcBef>
                <a:spcPct val="0"/>
              </a:spcBef>
            </a:pPr>
            <a:endParaRPr lang="en-US" sz="2171">
              <a:solidFill>
                <a:srgbClr val="000000"/>
              </a:solidFill>
              <a:latin typeface="Alata"/>
              <a:ea typeface="Alata"/>
              <a:cs typeface="Alata"/>
              <a:sym typeface="Alata"/>
            </a:endParaRPr>
          </a:p>
          <a:p>
            <a:pPr algn="l">
              <a:lnSpc>
                <a:spcPts val="3040"/>
              </a:lnSpc>
              <a:spcBef>
                <a:spcPct val="0"/>
              </a:spcBef>
            </a:pPr>
            <a:r>
              <a:rPr lang="en-US" sz="2171">
                <a:solidFill>
                  <a:srgbClr val="000000"/>
                </a:solidFill>
                <a:latin typeface="Alata"/>
                <a:ea typeface="Alata"/>
                <a:cs typeface="Alata"/>
                <a:sym typeface="Alata"/>
              </a:rPr>
              <a:t>Database and APIs</a:t>
            </a:r>
          </a:p>
          <a:p>
            <a:pPr marL="468868" lvl="1" indent="-234434" algn="l">
              <a:lnSpc>
                <a:spcPts val="3040"/>
              </a:lnSpc>
              <a:spcBef>
                <a:spcPct val="0"/>
              </a:spcBef>
              <a:buFont typeface="Arial"/>
              <a:buChar char="•"/>
            </a:pPr>
            <a:r>
              <a:rPr lang="en-US" sz="2171">
                <a:solidFill>
                  <a:srgbClr val="000000"/>
                </a:solidFill>
                <a:latin typeface="Alata"/>
                <a:ea typeface="Alata"/>
                <a:cs typeface="Alata"/>
                <a:sym typeface="Alata"/>
              </a:rPr>
              <a:t>A Document model tracks status (PROCESSING, COMPLETED, FAILED), metadata, a SHA-256 hash, and soft delete.</a:t>
            </a:r>
          </a:p>
          <a:p>
            <a:pPr marL="468868" lvl="1" indent="-234434" algn="l">
              <a:lnSpc>
                <a:spcPts val="3040"/>
              </a:lnSpc>
              <a:spcBef>
                <a:spcPct val="0"/>
              </a:spcBef>
              <a:buFont typeface="Arial"/>
              <a:buChar char="•"/>
            </a:pPr>
            <a:r>
              <a:rPr lang="en-US" sz="2171">
                <a:solidFill>
                  <a:srgbClr val="000000"/>
                </a:solidFill>
                <a:latin typeface="Alata"/>
                <a:ea typeface="Alata"/>
                <a:cs typeface="Alata"/>
                <a:sym typeface="Alata"/>
              </a:rPr>
              <a:t>An Alembic migration was created and applied.</a:t>
            </a:r>
          </a:p>
          <a:p>
            <a:pPr marL="468868" lvl="1" indent="-234434" algn="l">
              <a:lnSpc>
                <a:spcPts val="3040"/>
              </a:lnSpc>
              <a:spcBef>
                <a:spcPct val="0"/>
              </a:spcBef>
              <a:buFont typeface="Arial"/>
              <a:buChar char="•"/>
            </a:pPr>
            <a:r>
              <a:rPr lang="en-US" sz="2171">
                <a:solidFill>
                  <a:srgbClr val="000000"/>
                </a:solidFill>
                <a:latin typeface="Alata"/>
                <a:ea typeface="Alata"/>
                <a:cs typeface="Alata"/>
                <a:sym typeface="Alata"/>
              </a:rPr>
              <a:t>Endpoints: POST /documents/upload, GET /documents/, GET /documents/{id}, DELETE /documents/{id}.</a:t>
            </a:r>
          </a:p>
          <a:p>
            <a:pPr marL="468868" lvl="1" indent="-234434" algn="l">
              <a:lnSpc>
                <a:spcPts val="3040"/>
              </a:lnSpc>
              <a:spcBef>
                <a:spcPct val="0"/>
              </a:spcBef>
              <a:buFont typeface="Arial"/>
              <a:buChar char="•"/>
            </a:pPr>
            <a:r>
              <a:rPr lang="en-US" sz="2171">
                <a:solidFill>
                  <a:srgbClr val="000000"/>
                </a:solidFill>
                <a:latin typeface="Alata"/>
                <a:ea typeface="Alata"/>
                <a:cs typeface="Alata"/>
                <a:sym typeface="Alata"/>
              </a:rPr>
              <a:t>All endpoints are documented in API_DOCUMENTATION.md.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314051" y="7954774"/>
            <a:ext cx="6622338" cy="6541905"/>
          </a:xfrm>
          <a:custGeom>
            <a:avLst/>
            <a:gdLst/>
            <a:ahLst/>
            <a:cxnLst/>
            <a:rect l="l" t="t" r="r" b="b"/>
            <a:pathLst>
              <a:path w="6622338" h="6541905">
                <a:moveTo>
                  <a:pt x="0" y="0"/>
                </a:moveTo>
                <a:lnTo>
                  <a:pt x="6622338" y="0"/>
                </a:lnTo>
                <a:lnTo>
                  <a:pt x="6622338" y="6541905"/>
                </a:lnTo>
                <a:lnTo>
                  <a:pt x="0" y="6541905"/>
                </a:lnTo>
                <a:lnTo>
                  <a:pt x="0" y="0"/>
                </a:lnTo>
                <a:close/>
              </a:path>
            </a:pathLst>
          </a:custGeom>
          <a:blipFill>
            <a:blip r:embed="rId2"/>
            <a:stretch>
              <a:fillRect/>
            </a:stretch>
          </a:blipFill>
        </p:spPr>
      </p:sp>
      <p:grpSp>
        <p:nvGrpSpPr>
          <p:cNvPr id="3" name="Group 3"/>
          <p:cNvGrpSpPr/>
          <p:nvPr/>
        </p:nvGrpSpPr>
        <p:grpSpPr>
          <a:xfrm>
            <a:off x="1028700" y="617962"/>
            <a:ext cx="1865801" cy="410738"/>
            <a:chOff x="0" y="0"/>
            <a:chExt cx="491404" cy="108178"/>
          </a:xfrm>
        </p:grpSpPr>
        <p:sp>
          <p:nvSpPr>
            <p:cNvPr id="4" name="Freeform 4"/>
            <p:cNvSpPr/>
            <p:nvPr/>
          </p:nvSpPr>
          <p:spPr>
            <a:xfrm>
              <a:off x="0" y="0"/>
              <a:ext cx="491405" cy="108178"/>
            </a:xfrm>
            <a:custGeom>
              <a:avLst/>
              <a:gdLst/>
              <a:ahLst/>
              <a:cxnLst/>
              <a:rect l="l" t="t" r="r" b="b"/>
              <a:pathLst>
                <a:path w="491405" h="108178">
                  <a:moveTo>
                    <a:pt x="54089" y="0"/>
                  </a:moveTo>
                  <a:lnTo>
                    <a:pt x="437316" y="0"/>
                  </a:lnTo>
                  <a:cubicBezTo>
                    <a:pt x="451661" y="0"/>
                    <a:pt x="465419" y="5699"/>
                    <a:pt x="475562" y="15842"/>
                  </a:cubicBezTo>
                  <a:cubicBezTo>
                    <a:pt x="485706" y="25986"/>
                    <a:pt x="491405" y="39744"/>
                    <a:pt x="491405" y="54089"/>
                  </a:cubicBezTo>
                  <a:lnTo>
                    <a:pt x="491405" y="54089"/>
                  </a:lnTo>
                  <a:cubicBezTo>
                    <a:pt x="491405" y="68434"/>
                    <a:pt x="485706" y="82192"/>
                    <a:pt x="475562" y="92336"/>
                  </a:cubicBezTo>
                  <a:cubicBezTo>
                    <a:pt x="465419" y="102479"/>
                    <a:pt x="451661" y="108178"/>
                    <a:pt x="437316" y="108178"/>
                  </a:cubicBezTo>
                  <a:lnTo>
                    <a:pt x="54089" y="108178"/>
                  </a:lnTo>
                  <a:cubicBezTo>
                    <a:pt x="39744" y="108178"/>
                    <a:pt x="25986" y="102479"/>
                    <a:pt x="15842" y="92336"/>
                  </a:cubicBezTo>
                  <a:cubicBezTo>
                    <a:pt x="5699" y="82192"/>
                    <a:pt x="0" y="68434"/>
                    <a:pt x="0" y="54089"/>
                  </a:cubicBezTo>
                  <a:lnTo>
                    <a:pt x="0" y="54089"/>
                  </a:lnTo>
                  <a:cubicBezTo>
                    <a:pt x="0" y="39744"/>
                    <a:pt x="5699" y="25986"/>
                    <a:pt x="15842" y="15842"/>
                  </a:cubicBezTo>
                  <a:cubicBezTo>
                    <a:pt x="25986" y="5699"/>
                    <a:pt x="39744" y="0"/>
                    <a:pt x="54089" y="0"/>
                  </a:cubicBezTo>
                  <a:close/>
                </a:path>
              </a:pathLst>
            </a:custGeom>
            <a:gradFill rotWithShape="1">
              <a:gsLst>
                <a:gs pos="0">
                  <a:srgbClr val="11145B">
                    <a:alpha val="100000"/>
                  </a:srgbClr>
                </a:gs>
                <a:gs pos="100000">
                  <a:srgbClr val="A1529C">
                    <a:alpha val="100000"/>
                  </a:srgbClr>
                </a:gs>
              </a:gsLst>
              <a:path path="circle">
                <a:fillToRect r="100000" b="100000"/>
              </a:path>
              <a:tileRect l="-100000" t="-100000"/>
            </a:gradFill>
            <a:ln cap="rnd">
              <a:noFill/>
              <a:prstDash val="solid"/>
              <a:round/>
            </a:ln>
          </p:spPr>
        </p:sp>
        <p:sp>
          <p:nvSpPr>
            <p:cNvPr id="5" name="TextBox 5"/>
            <p:cNvSpPr txBox="1"/>
            <p:nvPr/>
          </p:nvSpPr>
          <p:spPr>
            <a:xfrm>
              <a:off x="0" y="-47625"/>
              <a:ext cx="491404" cy="155803"/>
            </a:xfrm>
            <a:prstGeom prst="rect">
              <a:avLst/>
            </a:prstGeom>
          </p:spPr>
          <p:txBody>
            <a:bodyPr lIns="50800" tIns="50800" rIns="50800" bIns="50800" rtlCol="0" anchor="ctr"/>
            <a:lstStyle/>
            <a:p>
              <a:pPr marL="0" lvl="0" indent="0" algn="ctr">
                <a:lnSpc>
                  <a:spcPts val="3740"/>
                </a:lnSpc>
                <a:spcBef>
                  <a:spcPct val="0"/>
                </a:spcBef>
              </a:pPr>
              <a:endParaRPr/>
            </a:p>
          </p:txBody>
        </p:sp>
      </p:grpSp>
      <p:sp>
        <p:nvSpPr>
          <p:cNvPr id="6" name="Freeform 6"/>
          <p:cNvSpPr/>
          <p:nvPr/>
        </p:nvSpPr>
        <p:spPr>
          <a:xfrm>
            <a:off x="329808" y="1641955"/>
            <a:ext cx="4337729" cy="7359879"/>
          </a:xfrm>
          <a:custGeom>
            <a:avLst/>
            <a:gdLst/>
            <a:ahLst/>
            <a:cxnLst/>
            <a:rect l="l" t="t" r="r" b="b"/>
            <a:pathLst>
              <a:path w="4337729" h="7359879">
                <a:moveTo>
                  <a:pt x="0" y="0"/>
                </a:moveTo>
                <a:lnTo>
                  <a:pt x="4337729" y="0"/>
                </a:lnTo>
                <a:lnTo>
                  <a:pt x="4337729" y="7359879"/>
                </a:lnTo>
                <a:lnTo>
                  <a:pt x="0" y="7359879"/>
                </a:lnTo>
                <a:lnTo>
                  <a:pt x="0" y="0"/>
                </a:lnTo>
                <a:close/>
              </a:path>
            </a:pathLst>
          </a:custGeom>
          <a:blipFill>
            <a:blip r:embed="rId3"/>
            <a:stretch>
              <a:fillRect/>
            </a:stretch>
          </a:blipFill>
        </p:spPr>
      </p:sp>
      <p:sp>
        <p:nvSpPr>
          <p:cNvPr id="7" name="Freeform 7"/>
          <p:cNvSpPr/>
          <p:nvPr/>
        </p:nvSpPr>
        <p:spPr>
          <a:xfrm>
            <a:off x="4975258" y="1641955"/>
            <a:ext cx="6798689" cy="7359879"/>
          </a:xfrm>
          <a:custGeom>
            <a:avLst/>
            <a:gdLst/>
            <a:ahLst/>
            <a:cxnLst/>
            <a:rect l="l" t="t" r="r" b="b"/>
            <a:pathLst>
              <a:path w="6798689" h="7359879">
                <a:moveTo>
                  <a:pt x="0" y="0"/>
                </a:moveTo>
                <a:lnTo>
                  <a:pt x="6798688" y="0"/>
                </a:lnTo>
                <a:lnTo>
                  <a:pt x="6798688" y="7359879"/>
                </a:lnTo>
                <a:lnTo>
                  <a:pt x="0" y="7359879"/>
                </a:lnTo>
                <a:lnTo>
                  <a:pt x="0" y="0"/>
                </a:lnTo>
                <a:close/>
              </a:path>
            </a:pathLst>
          </a:custGeom>
          <a:blipFill>
            <a:blip r:embed="rId4"/>
            <a:stretch>
              <a:fillRect/>
            </a:stretch>
          </a:blipFill>
        </p:spPr>
      </p:sp>
      <p:sp>
        <p:nvSpPr>
          <p:cNvPr id="8" name="Freeform 8"/>
          <p:cNvSpPr/>
          <p:nvPr/>
        </p:nvSpPr>
        <p:spPr>
          <a:xfrm>
            <a:off x="12078746" y="3215439"/>
            <a:ext cx="6012913" cy="4212910"/>
          </a:xfrm>
          <a:custGeom>
            <a:avLst/>
            <a:gdLst/>
            <a:ahLst/>
            <a:cxnLst/>
            <a:rect l="l" t="t" r="r" b="b"/>
            <a:pathLst>
              <a:path w="6012913" h="4212910">
                <a:moveTo>
                  <a:pt x="0" y="0"/>
                </a:moveTo>
                <a:lnTo>
                  <a:pt x="6012913" y="0"/>
                </a:lnTo>
                <a:lnTo>
                  <a:pt x="6012913" y="4212910"/>
                </a:lnTo>
                <a:lnTo>
                  <a:pt x="0" y="4212910"/>
                </a:lnTo>
                <a:lnTo>
                  <a:pt x="0" y="0"/>
                </a:lnTo>
                <a:close/>
              </a:path>
            </a:pathLst>
          </a:custGeom>
          <a:blipFill>
            <a:blip r:embed="rId5"/>
            <a:stretch>
              <a:fillRect/>
            </a:stretch>
          </a:blipFill>
        </p:spPr>
      </p:sp>
      <p:sp>
        <p:nvSpPr>
          <p:cNvPr id="9" name="TextBox 9"/>
          <p:cNvSpPr txBox="1"/>
          <p:nvPr/>
        </p:nvSpPr>
        <p:spPr>
          <a:xfrm>
            <a:off x="1002210" y="676963"/>
            <a:ext cx="1918782" cy="264189"/>
          </a:xfrm>
          <a:prstGeom prst="rect">
            <a:avLst/>
          </a:prstGeom>
        </p:spPr>
        <p:txBody>
          <a:bodyPr lIns="0" tIns="0" rIns="0" bIns="0" rtlCol="0" anchor="t">
            <a:spAutoFit/>
          </a:bodyPr>
          <a:lstStyle/>
          <a:p>
            <a:pPr marL="0" lvl="0" indent="0" algn="ctr">
              <a:lnSpc>
                <a:spcPts val="2238"/>
              </a:lnSpc>
            </a:pPr>
            <a:r>
              <a:rPr lang="en-US" sz="1598">
                <a:solidFill>
                  <a:srgbClr val="FFFFFF"/>
                </a:solidFill>
                <a:latin typeface="Alata"/>
                <a:ea typeface="Alata"/>
                <a:cs typeface="Alata"/>
                <a:sym typeface="Alata"/>
              </a:rPr>
              <a:t>ClauseGuard</a:t>
            </a:r>
          </a:p>
        </p:txBody>
      </p:sp>
      <p:sp>
        <p:nvSpPr>
          <p:cNvPr id="10" name="TextBox 10"/>
          <p:cNvSpPr txBox="1"/>
          <p:nvPr/>
        </p:nvSpPr>
        <p:spPr>
          <a:xfrm>
            <a:off x="11129439" y="532818"/>
            <a:ext cx="6962220" cy="666750"/>
          </a:xfrm>
          <a:prstGeom prst="rect">
            <a:avLst/>
          </a:prstGeom>
        </p:spPr>
        <p:txBody>
          <a:bodyPr lIns="0" tIns="0" rIns="0" bIns="0" rtlCol="0" anchor="t">
            <a:spAutoFit/>
          </a:bodyPr>
          <a:lstStyle/>
          <a:p>
            <a:pPr marL="0" lvl="0" indent="0" algn="l">
              <a:lnSpc>
                <a:spcPts val="5099"/>
              </a:lnSpc>
            </a:pPr>
            <a:r>
              <a:rPr lang="en-US" sz="4999" b="1">
                <a:solidFill>
                  <a:srgbClr val="523079"/>
                </a:solidFill>
                <a:latin typeface="Aileron Bold"/>
                <a:ea typeface="Aileron Bold"/>
                <a:cs typeface="Aileron Bold"/>
                <a:sym typeface="Aileron Bold"/>
              </a:rPr>
              <a:t>Low Fidelity Prototype</a:t>
            </a:r>
          </a:p>
        </p:txBody>
      </p:sp>
      <p:sp>
        <p:nvSpPr>
          <p:cNvPr id="11" name="AutoShape 11"/>
          <p:cNvSpPr/>
          <p:nvPr/>
        </p:nvSpPr>
        <p:spPr>
          <a:xfrm flipV="1">
            <a:off x="11700253" y="5321894"/>
            <a:ext cx="378494" cy="1412557"/>
          </a:xfrm>
          <a:prstGeom prst="line">
            <a:avLst/>
          </a:prstGeom>
          <a:ln w="38100" cap="flat">
            <a:solidFill>
              <a:srgbClr val="000000"/>
            </a:solidFill>
            <a:prstDash val="solid"/>
            <a:headEnd type="none" w="sm" len="sm"/>
            <a:tailEnd type="triangle" w="lg" len="me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314051" y="7954774"/>
            <a:ext cx="6622338" cy="6541905"/>
          </a:xfrm>
          <a:custGeom>
            <a:avLst/>
            <a:gdLst/>
            <a:ahLst/>
            <a:cxnLst/>
            <a:rect l="l" t="t" r="r" b="b"/>
            <a:pathLst>
              <a:path w="6622338" h="6541905">
                <a:moveTo>
                  <a:pt x="0" y="0"/>
                </a:moveTo>
                <a:lnTo>
                  <a:pt x="6622338" y="0"/>
                </a:lnTo>
                <a:lnTo>
                  <a:pt x="6622338" y="6541905"/>
                </a:lnTo>
                <a:lnTo>
                  <a:pt x="0" y="6541905"/>
                </a:lnTo>
                <a:lnTo>
                  <a:pt x="0" y="0"/>
                </a:lnTo>
                <a:close/>
              </a:path>
            </a:pathLst>
          </a:custGeom>
          <a:blipFill>
            <a:blip r:embed="rId2"/>
            <a:stretch>
              <a:fillRect/>
            </a:stretch>
          </a:blipFill>
        </p:spPr>
      </p:sp>
      <p:grpSp>
        <p:nvGrpSpPr>
          <p:cNvPr id="3" name="Group 3"/>
          <p:cNvGrpSpPr/>
          <p:nvPr/>
        </p:nvGrpSpPr>
        <p:grpSpPr>
          <a:xfrm>
            <a:off x="1028700" y="617962"/>
            <a:ext cx="1865801" cy="410738"/>
            <a:chOff x="0" y="0"/>
            <a:chExt cx="491404" cy="108178"/>
          </a:xfrm>
        </p:grpSpPr>
        <p:sp>
          <p:nvSpPr>
            <p:cNvPr id="4" name="Freeform 4"/>
            <p:cNvSpPr/>
            <p:nvPr/>
          </p:nvSpPr>
          <p:spPr>
            <a:xfrm>
              <a:off x="0" y="0"/>
              <a:ext cx="491405" cy="108178"/>
            </a:xfrm>
            <a:custGeom>
              <a:avLst/>
              <a:gdLst/>
              <a:ahLst/>
              <a:cxnLst/>
              <a:rect l="l" t="t" r="r" b="b"/>
              <a:pathLst>
                <a:path w="491405" h="108178">
                  <a:moveTo>
                    <a:pt x="54089" y="0"/>
                  </a:moveTo>
                  <a:lnTo>
                    <a:pt x="437316" y="0"/>
                  </a:lnTo>
                  <a:cubicBezTo>
                    <a:pt x="451661" y="0"/>
                    <a:pt x="465419" y="5699"/>
                    <a:pt x="475562" y="15842"/>
                  </a:cubicBezTo>
                  <a:cubicBezTo>
                    <a:pt x="485706" y="25986"/>
                    <a:pt x="491405" y="39744"/>
                    <a:pt x="491405" y="54089"/>
                  </a:cubicBezTo>
                  <a:lnTo>
                    <a:pt x="491405" y="54089"/>
                  </a:lnTo>
                  <a:cubicBezTo>
                    <a:pt x="491405" y="68434"/>
                    <a:pt x="485706" y="82192"/>
                    <a:pt x="475562" y="92336"/>
                  </a:cubicBezTo>
                  <a:cubicBezTo>
                    <a:pt x="465419" y="102479"/>
                    <a:pt x="451661" y="108178"/>
                    <a:pt x="437316" y="108178"/>
                  </a:cubicBezTo>
                  <a:lnTo>
                    <a:pt x="54089" y="108178"/>
                  </a:lnTo>
                  <a:cubicBezTo>
                    <a:pt x="39744" y="108178"/>
                    <a:pt x="25986" y="102479"/>
                    <a:pt x="15842" y="92336"/>
                  </a:cubicBezTo>
                  <a:cubicBezTo>
                    <a:pt x="5699" y="82192"/>
                    <a:pt x="0" y="68434"/>
                    <a:pt x="0" y="54089"/>
                  </a:cubicBezTo>
                  <a:lnTo>
                    <a:pt x="0" y="54089"/>
                  </a:lnTo>
                  <a:cubicBezTo>
                    <a:pt x="0" y="39744"/>
                    <a:pt x="5699" y="25986"/>
                    <a:pt x="15842" y="15842"/>
                  </a:cubicBezTo>
                  <a:cubicBezTo>
                    <a:pt x="25986" y="5699"/>
                    <a:pt x="39744" y="0"/>
                    <a:pt x="54089" y="0"/>
                  </a:cubicBezTo>
                  <a:close/>
                </a:path>
              </a:pathLst>
            </a:custGeom>
            <a:gradFill rotWithShape="1">
              <a:gsLst>
                <a:gs pos="0">
                  <a:srgbClr val="11145B">
                    <a:alpha val="100000"/>
                  </a:srgbClr>
                </a:gs>
                <a:gs pos="100000">
                  <a:srgbClr val="A1529C">
                    <a:alpha val="100000"/>
                  </a:srgbClr>
                </a:gs>
              </a:gsLst>
              <a:path path="circle">
                <a:fillToRect r="100000" b="100000"/>
              </a:path>
              <a:tileRect l="-100000" t="-100000"/>
            </a:gradFill>
            <a:ln cap="rnd">
              <a:noFill/>
              <a:prstDash val="solid"/>
              <a:round/>
            </a:ln>
          </p:spPr>
        </p:sp>
        <p:sp>
          <p:nvSpPr>
            <p:cNvPr id="5" name="TextBox 5"/>
            <p:cNvSpPr txBox="1"/>
            <p:nvPr/>
          </p:nvSpPr>
          <p:spPr>
            <a:xfrm>
              <a:off x="0" y="-47625"/>
              <a:ext cx="491404" cy="155803"/>
            </a:xfrm>
            <a:prstGeom prst="rect">
              <a:avLst/>
            </a:prstGeom>
          </p:spPr>
          <p:txBody>
            <a:bodyPr lIns="50800" tIns="50800" rIns="50800" bIns="50800" rtlCol="0" anchor="ctr"/>
            <a:lstStyle/>
            <a:p>
              <a:pPr marL="0" lvl="0" indent="0" algn="ctr">
                <a:lnSpc>
                  <a:spcPts val="3740"/>
                </a:lnSpc>
                <a:spcBef>
                  <a:spcPct val="0"/>
                </a:spcBef>
              </a:pPr>
              <a:endParaRPr/>
            </a:p>
          </p:txBody>
        </p:sp>
      </p:grpSp>
      <p:sp>
        <p:nvSpPr>
          <p:cNvPr id="6" name="Freeform 6"/>
          <p:cNvSpPr/>
          <p:nvPr/>
        </p:nvSpPr>
        <p:spPr>
          <a:xfrm>
            <a:off x="252540" y="1696718"/>
            <a:ext cx="6874379" cy="6706816"/>
          </a:xfrm>
          <a:custGeom>
            <a:avLst/>
            <a:gdLst/>
            <a:ahLst/>
            <a:cxnLst/>
            <a:rect l="l" t="t" r="r" b="b"/>
            <a:pathLst>
              <a:path w="6874379" h="6706816">
                <a:moveTo>
                  <a:pt x="0" y="0"/>
                </a:moveTo>
                <a:lnTo>
                  <a:pt x="6874378" y="0"/>
                </a:lnTo>
                <a:lnTo>
                  <a:pt x="6874378" y="6706816"/>
                </a:lnTo>
                <a:lnTo>
                  <a:pt x="0" y="6706816"/>
                </a:lnTo>
                <a:lnTo>
                  <a:pt x="0" y="0"/>
                </a:lnTo>
                <a:close/>
              </a:path>
            </a:pathLst>
          </a:custGeom>
          <a:blipFill>
            <a:blip r:embed="rId3"/>
            <a:stretch>
              <a:fillRect/>
            </a:stretch>
          </a:blipFill>
        </p:spPr>
      </p:sp>
      <p:sp>
        <p:nvSpPr>
          <p:cNvPr id="7" name="Freeform 7"/>
          <p:cNvSpPr/>
          <p:nvPr/>
        </p:nvSpPr>
        <p:spPr>
          <a:xfrm>
            <a:off x="7126918" y="1696718"/>
            <a:ext cx="5803125" cy="3931617"/>
          </a:xfrm>
          <a:custGeom>
            <a:avLst/>
            <a:gdLst/>
            <a:ahLst/>
            <a:cxnLst/>
            <a:rect l="l" t="t" r="r" b="b"/>
            <a:pathLst>
              <a:path w="5803125" h="3931617">
                <a:moveTo>
                  <a:pt x="0" y="0"/>
                </a:moveTo>
                <a:lnTo>
                  <a:pt x="5803125" y="0"/>
                </a:lnTo>
                <a:lnTo>
                  <a:pt x="5803125" y="3931617"/>
                </a:lnTo>
                <a:lnTo>
                  <a:pt x="0" y="3931617"/>
                </a:lnTo>
                <a:lnTo>
                  <a:pt x="0" y="0"/>
                </a:lnTo>
                <a:close/>
              </a:path>
            </a:pathLst>
          </a:custGeom>
          <a:blipFill>
            <a:blip r:embed="rId4"/>
            <a:stretch>
              <a:fillRect/>
            </a:stretch>
          </a:blipFill>
        </p:spPr>
      </p:sp>
      <p:sp>
        <p:nvSpPr>
          <p:cNvPr id="8" name="Freeform 8"/>
          <p:cNvSpPr/>
          <p:nvPr/>
        </p:nvSpPr>
        <p:spPr>
          <a:xfrm>
            <a:off x="12930043" y="2981163"/>
            <a:ext cx="5412376" cy="5422371"/>
          </a:xfrm>
          <a:custGeom>
            <a:avLst/>
            <a:gdLst/>
            <a:ahLst/>
            <a:cxnLst/>
            <a:rect l="l" t="t" r="r" b="b"/>
            <a:pathLst>
              <a:path w="5412376" h="5422371">
                <a:moveTo>
                  <a:pt x="0" y="0"/>
                </a:moveTo>
                <a:lnTo>
                  <a:pt x="5412376" y="0"/>
                </a:lnTo>
                <a:lnTo>
                  <a:pt x="5412376" y="5422371"/>
                </a:lnTo>
                <a:lnTo>
                  <a:pt x="0" y="5422371"/>
                </a:lnTo>
                <a:lnTo>
                  <a:pt x="0" y="0"/>
                </a:lnTo>
                <a:close/>
              </a:path>
            </a:pathLst>
          </a:custGeom>
          <a:blipFill>
            <a:blip r:embed="rId5"/>
            <a:stretch>
              <a:fillRect/>
            </a:stretch>
          </a:blipFill>
        </p:spPr>
      </p:sp>
      <p:sp>
        <p:nvSpPr>
          <p:cNvPr id="9" name="TextBox 9"/>
          <p:cNvSpPr txBox="1"/>
          <p:nvPr/>
        </p:nvSpPr>
        <p:spPr>
          <a:xfrm>
            <a:off x="1002210" y="676963"/>
            <a:ext cx="1918782" cy="264189"/>
          </a:xfrm>
          <a:prstGeom prst="rect">
            <a:avLst/>
          </a:prstGeom>
        </p:spPr>
        <p:txBody>
          <a:bodyPr lIns="0" tIns="0" rIns="0" bIns="0" rtlCol="0" anchor="t">
            <a:spAutoFit/>
          </a:bodyPr>
          <a:lstStyle/>
          <a:p>
            <a:pPr marL="0" lvl="0" indent="0" algn="ctr">
              <a:lnSpc>
                <a:spcPts val="2238"/>
              </a:lnSpc>
            </a:pPr>
            <a:r>
              <a:rPr lang="en-US" sz="1598">
                <a:solidFill>
                  <a:srgbClr val="FFFFFF"/>
                </a:solidFill>
                <a:latin typeface="Alata"/>
                <a:ea typeface="Alata"/>
                <a:cs typeface="Alata"/>
                <a:sym typeface="Alata"/>
              </a:rPr>
              <a:t>ClauseGuard</a:t>
            </a:r>
          </a:p>
        </p:txBody>
      </p:sp>
      <p:sp>
        <p:nvSpPr>
          <p:cNvPr id="10" name="TextBox 10"/>
          <p:cNvSpPr txBox="1"/>
          <p:nvPr/>
        </p:nvSpPr>
        <p:spPr>
          <a:xfrm>
            <a:off x="11129439" y="532818"/>
            <a:ext cx="6962220" cy="666750"/>
          </a:xfrm>
          <a:prstGeom prst="rect">
            <a:avLst/>
          </a:prstGeom>
        </p:spPr>
        <p:txBody>
          <a:bodyPr lIns="0" tIns="0" rIns="0" bIns="0" rtlCol="0" anchor="t">
            <a:spAutoFit/>
          </a:bodyPr>
          <a:lstStyle/>
          <a:p>
            <a:pPr marL="0" lvl="0" indent="0" algn="l">
              <a:lnSpc>
                <a:spcPts val="5099"/>
              </a:lnSpc>
            </a:pPr>
            <a:r>
              <a:rPr lang="en-US" sz="4999" b="1">
                <a:solidFill>
                  <a:srgbClr val="523079"/>
                </a:solidFill>
                <a:latin typeface="Aileron Bold"/>
                <a:ea typeface="Aileron Bold"/>
                <a:cs typeface="Aileron Bold"/>
                <a:sym typeface="Aileron Bold"/>
              </a:rPr>
              <a:t>Low Fidelity Prototype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314051" y="7954774"/>
            <a:ext cx="6622338" cy="6541905"/>
          </a:xfrm>
          <a:custGeom>
            <a:avLst/>
            <a:gdLst/>
            <a:ahLst/>
            <a:cxnLst/>
            <a:rect l="l" t="t" r="r" b="b"/>
            <a:pathLst>
              <a:path w="6622338" h="6541905">
                <a:moveTo>
                  <a:pt x="0" y="0"/>
                </a:moveTo>
                <a:lnTo>
                  <a:pt x="6622338" y="0"/>
                </a:lnTo>
                <a:lnTo>
                  <a:pt x="6622338" y="6541905"/>
                </a:lnTo>
                <a:lnTo>
                  <a:pt x="0" y="6541905"/>
                </a:lnTo>
                <a:lnTo>
                  <a:pt x="0" y="0"/>
                </a:lnTo>
                <a:close/>
              </a:path>
            </a:pathLst>
          </a:custGeom>
          <a:blipFill>
            <a:blip r:embed="rId2"/>
            <a:stretch>
              <a:fillRect/>
            </a:stretch>
          </a:blipFill>
        </p:spPr>
      </p:sp>
      <p:grpSp>
        <p:nvGrpSpPr>
          <p:cNvPr id="3" name="Group 3"/>
          <p:cNvGrpSpPr/>
          <p:nvPr/>
        </p:nvGrpSpPr>
        <p:grpSpPr>
          <a:xfrm>
            <a:off x="15636231" y="447093"/>
            <a:ext cx="1918782" cy="410738"/>
            <a:chOff x="0" y="0"/>
            <a:chExt cx="2558376" cy="547651"/>
          </a:xfrm>
        </p:grpSpPr>
        <p:grpSp>
          <p:nvGrpSpPr>
            <p:cNvPr id="4" name="Group 4"/>
            <p:cNvGrpSpPr/>
            <p:nvPr/>
          </p:nvGrpSpPr>
          <p:grpSpPr>
            <a:xfrm>
              <a:off x="35321" y="0"/>
              <a:ext cx="2487735" cy="547651"/>
              <a:chOff x="0" y="0"/>
              <a:chExt cx="491404" cy="108178"/>
            </a:xfrm>
          </p:grpSpPr>
          <p:sp>
            <p:nvSpPr>
              <p:cNvPr id="5" name="Freeform 5"/>
              <p:cNvSpPr/>
              <p:nvPr/>
            </p:nvSpPr>
            <p:spPr>
              <a:xfrm>
                <a:off x="0" y="0"/>
                <a:ext cx="491405" cy="108178"/>
              </a:xfrm>
              <a:custGeom>
                <a:avLst/>
                <a:gdLst/>
                <a:ahLst/>
                <a:cxnLst/>
                <a:rect l="l" t="t" r="r" b="b"/>
                <a:pathLst>
                  <a:path w="491405" h="108178">
                    <a:moveTo>
                      <a:pt x="54089" y="0"/>
                    </a:moveTo>
                    <a:lnTo>
                      <a:pt x="437316" y="0"/>
                    </a:lnTo>
                    <a:cubicBezTo>
                      <a:pt x="451661" y="0"/>
                      <a:pt x="465419" y="5699"/>
                      <a:pt x="475562" y="15842"/>
                    </a:cubicBezTo>
                    <a:cubicBezTo>
                      <a:pt x="485706" y="25986"/>
                      <a:pt x="491405" y="39744"/>
                      <a:pt x="491405" y="54089"/>
                    </a:cubicBezTo>
                    <a:lnTo>
                      <a:pt x="491405" y="54089"/>
                    </a:lnTo>
                    <a:cubicBezTo>
                      <a:pt x="491405" y="68434"/>
                      <a:pt x="485706" y="82192"/>
                      <a:pt x="475562" y="92336"/>
                    </a:cubicBezTo>
                    <a:cubicBezTo>
                      <a:pt x="465419" y="102479"/>
                      <a:pt x="451661" y="108178"/>
                      <a:pt x="437316" y="108178"/>
                    </a:cubicBezTo>
                    <a:lnTo>
                      <a:pt x="54089" y="108178"/>
                    </a:lnTo>
                    <a:cubicBezTo>
                      <a:pt x="39744" y="108178"/>
                      <a:pt x="25986" y="102479"/>
                      <a:pt x="15842" y="92336"/>
                    </a:cubicBezTo>
                    <a:cubicBezTo>
                      <a:pt x="5699" y="82192"/>
                      <a:pt x="0" y="68434"/>
                      <a:pt x="0" y="54089"/>
                    </a:cubicBezTo>
                    <a:lnTo>
                      <a:pt x="0" y="54089"/>
                    </a:lnTo>
                    <a:cubicBezTo>
                      <a:pt x="0" y="39744"/>
                      <a:pt x="5699" y="25986"/>
                      <a:pt x="15842" y="15842"/>
                    </a:cubicBezTo>
                    <a:cubicBezTo>
                      <a:pt x="25986" y="5699"/>
                      <a:pt x="39744" y="0"/>
                      <a:pt x="54089" y="0"/>
                    </a:cubicBezTo>
                    <a:close/>
                  </a:path>
                </a:pathLst>
              </a:custGeom>
              <a:gradFill rotWithShape="1">
                <a:gsLst>
                  <a:gs pos="0">
                    <a:srgbClr val="11145B">
                      <a:alpha val="100000"/>
                    </a:srgbClr>
                  </a:gs>
                  <a:gs pos="100000">
                    <a:srgbClr val="A1529C">
                      <a:alpha val="100000"/>
                    </a:srgbClr>
                  </a:gs>
                </a:gsLst>
                <a:path path="circle">
                  <a:fillToRect r="100000" b="100000"/>
                </a:path>
                <a:tileRect l="-100000" t="-100000"/>
              </a:gradFill>
              <a:ln cap="rnd">
                <a:noFill/>
                <a:prstDash val="solid"/>
                <a:round/>
              </a:ln>
            </p:spPr>
          </p:sp>
          <p:sp>
            <p:nvSpPr>
              <p:cNvPr id="6" name="TextBox 6"/>
              <p:cNvSpPr txBox="1"/>
              <p:nvPr/>
            </p:nvSpPr>
            <p:spPr>
              <a:xfrm>
                <a:off x="0" y="-47625"/>
                <a:ext cx="491404" cy="155803"/>
              </a:xfrm>
              <a:prstGeom prst="rect">
                <a:avLst/>
              </a:prstGeom>
            </p:spPr>
            <p:txBody>
              <a:bodyPr lIns="50800" tIns="50800" rIns="50800" bIns="50800" rtlCol="0" anchor="ctr"/>
              <a:lstStyle/>
              <a:p>
                <a:pPr marL="0" lvl="0" indent="0" algn="ctr">
                  <a:lnSpc>
                    <a:spcPts val="3740"/>
                  </a:lnSpc>
                  <a:spcBef>
                    <a:spcPct val="0"/>
                  </a:spcBef>
                </a:pPr>
                <a:endParaRPr/>
              </a:p>
            </p:txBody>
          </p:sp>
        </p:grpSp>
        <p:sp>
          <p:nvSpPr>
            <p:cNvPr id="7" name="TextBox 7"/>
            <p:cNvSpPr txBox="1"/>
            <p:nvPr/>
          </p:nvSpPr>
          <p:spPr>
            <a:xfrm>
              <a:off x="0" y="88194"/>
              <a:ext cx="2558376" cy="342727"/>
            </a:xfrm>
            <a:prstGeom prst="rect">
              <a:avLst/>
            </a:prstGeom>
          </p:spPr>
          <p:txBody>
            <a:bodyPr lIns="0" tIns="0" rIns="0" bIns="0" rtlCol="0" anchor="t">
              <a:spAutoFit/>
            </a:bodyPr>
            <a:lstStyle/>
            <a:p>
              <a:pPr marL="0" lvl="0" indent="0" algn="ctr">
                <a:lnSpc>
                  <a:spcPts val="2238"/>
                </a:lnSpc>
              </a:pPr>
              <a:r>
                <a:rPr lang="en-US" sz="1598">
                  <a:solidFill>
                    <a:srgbClr val="FFFFFF"/>
                  </a:solidFill>
                  <a:latin typeface="Alata"/>
                  <a:ea typeface="Alata"/>
                  <a:cs typeface="Alata"/>
                  <a:sym typeface="Alata"/>
                </a:rPr>
                <a:t>ClauseGuard</a:t>
              </a:r>
            </a:p>
          </p:txBody>
        </p:sp>
      </p:grpSp>
      <p:sp>
        <p:nvSpPr>
          <p:cNvPr id="8" name="Freeform 8"/>
          <p:cNvSpPr/>
          <p:nvPr/>
        </p:nvSpPr>
        <p:spPr>
          <a:xfrm>
            <a:off x="637789" y="1402655"/>
            <a:ext cx="5260563" cy="3740845"/>
          </a:xfrm>
          <a:custGeom>
            <a:avLst/>
            <a:gdLst/>
            <a:ahLst/>
            <a:cxnLst/>
            <a:rect l="l" t="t" r="r" b="b"/>
            <a:pathLst>
              <a:path w="5260563" h="3740845">
                <a:moveTo>
                  <a:pt x="0" y="0"/>
                </a:moveTo>
                <a:lnTo>
                  <a:pt x="5260563" y="0"/>
                </a:lnTo>
                <a:lnTo>
                  <a:pt x="5260563" y="3740845"/>
                </a:lnTo>
                <a:lnTo>
                  <a:pt x="0" y="3740845"/>
                </a:lnTo>
                <a:lnTo>
                  <a:pt x="0" y="0"/>
                </a:lnTo>
                <a:close/>
              </a:path>
            </a:pathLst>
          </a:custGeom>
          <a:blipFill>
            <a:blip r:embed="rId3"/>
            <a:stretch>
              <a:fillRect/>
            </a:stretch>
          </a:blipFill>
        </p:spPr>
      </p:sp>
      <p:sp>
        <p:nvSpPr>
          <p:cNvPr id="9" name="Freeform 9"/>
          <p:cNvSpPr/>
          <p:nvPr/>
        </p:nvSpPr>
        <p:spPr>
          <a:xfrm>
            <a:off x="6513718" y="1402655"/>
            <a:ext cx="5260563" cy="3740845"/>
          </a:xfrm>
          <a:custGeom>
            <a:avLst/>
            <a:gdLst/>
            <a:ahLst/>
            <a:cxnLst/>
            <a:rect l="l" t="t" r="r" b="b"/>
            <a:pathLst>
              <a:path w="5260563" h="3740845">
                <a:moveTo>
                  <a:pt x="0" y="0"/>
                </a:moveTo>
                <a:lnTo>
                  <a:pt x="5260564" y="0"/>
                </a:lnTo>
                <a:lnTo>
                  <a:pt x="5260564" y="3740845"/>
                </a:lnTo>
                <a:lnTo>
                  <a:pt x="0" y="3740845"/>
                </a:lnTo>
                <a:lnTo>
                  <a:pt x="0" y="0"/>
                </a:lnTo>
                <a:close/>
              </a:path>
            </a:pathLst>
          </a:custGeom>
          <a:blipFill>
            <a:blip r:embed="rId4"/>
            <a:stretch>
              <a:fillRect/>
            </a:stretch>
          </a:blipFill>
        </p:spPr>
      </p:sp>
      <p:sp>
        <p:nvSpPr>
          <p:cNvPr id="10" name="Freeform 10"/>
          <p:cNvSpPr/>
          <p:nvPr/>
        </p:nvSpPr>
        <p:spPr>
          <a:xfrm>
            <a:off x="12294450" y="1402655"/>
            <a:ext cx="5260563" cy="3740845"/>
          </a:xfrm>
          <a:custGeom>
            <a:avLst/>
            <a:gdLst/>
            <a:ahLst/>
            <a:cxnLst/>
            <a:rect l="l" t="t" r="r" b="b"/>
            <a:pathLst>
              <a:path w="5260563" h="3740845">
                <a:moveTo>
                  <a:pt x="0" y="0"/>
                </a:moveTo>
                <a:lnTo>
                  <a:pt x="5260564" y="0"/>
                </a:lnTo>
                <a:lnTo>
                  <a:pt x="5260564" y="3740845"/>
                </a:lnTo>
                <a:lnTo>
                  <a:pt x="0" y="3740845"/>
                </a:lnTo>
                <a:lnTo>
                  <a:pt x="0" y="0"/>
                </a:lnTo>
                <a:close/>
              </a:path>
            </a:pathLst>
          </a:custGeom>
          <a:blipFill>
            <a:blip r:embed="rId5"/>
            <a:stretch>
              <a:fillRect/>
            </a:stretch>
          </a:blipFill>
        </p:spPr>
      </p:sp>
      <p:sp>
        <p:nvSpPr>
          <p:cNvPr id="11" name="Freeform 11"/>
          <p:cNvSpPr/>
          <p:nvPr/>
        </p:nvSpPr>
        <p:spPr>
          <a:xfrm>
            <a:off x="639756" y="5864429"/>
            <a:ext cx="5258596" cy="3739446"/>
          </a:xfrm>
          <a:custGeom>
            <a:avLst/>
            <a:gdLst/>
            <a:ahLst/>
            <a:cxnLst/>
            <a:rect l="l" t="t" r="r" b="b"/>
            <a:pathLst>
              <a:path w="5258596" h="3739446">
                <a:moveTo>
                  <a:pt x="0" y="0"/>
                </a:moveTo>
                <a:lnTo>
                  <a:pt x="5258596" y="0"/>
                </a:lnTo>
                <a:lnTo>
                  <a:pt x="5258596" y="3739446"/>
                </a:lnTo>
                <a:lnTo>
                  <a:pt x="0" y="3739446"/>
                </a:lnTo>
                <a:lnTo>
                  <a:pt x="0" y="0"/>
                </a:lnTo>
                <a:close/>
              </a:path>
            </a:pathLst>
          </a:custGeom>
          <a:blipFill>
            <a:blip r:embed="rId6"/>
            <a:stretch>
              <a:fillRect/>
            </a:stretch>
          </a:blipFill>
        </p:spPr>
      </p:sp>
      <p:sp>
        <p:nvSpPr>
          <p:cNvPr id="12" name="Freeform 12"/>
          <p:cNvSpPr/>
          <p:nvPr/>
        </p:nvSpPr>
        <p:spPr>
          <a:xfrm>
            <a:off x="6513718" y="5864429"/>
            <a:ext cx="5258596" cy="3739446"/>
          </a:xfrm>
          <a:custGeom>
            <a:avLst/>
            <a:gdLst/>
            <a:ahLst/>
            <a:cxnLst/>
            <a:rect l="l" t="t" r="r" b="b"/>
            <a:pathLst>
              <a:path w="5258596" h="3739446">
                <a:moveTo>
                  <a:pt x="0" y="0"/>
                </a:moveTo>
                <a:lnTo>
                  <a:pt x="5258596" y="0"/>
                </a:lnTo>
                <a:lnTo>
                  <a:pt x="5258596" y="3739446"/>
                </a:lnTo>
                <a:lnTo>
                  <a:pt x="0" y="3739446"/>
                </a:lnTo>
                <a:lnTo>
                  <a:pt x="0" y="0"/>
                </a:lnTo>
                <a:close/>
              </a:path>
            </a:pathLst>
          </a:custGeom>
          <a:blipFill>
            <a:blip r:embed="rId7"/>
            <a:stretch>
              <a:fillRect/>
            </a:stretch>
          </a:blipFill>
        </p:spPr>
      </p:sp>
      <p:sp>
        <p:nvSpPr>
          <p:cNvPr id="13" name="Freeform 13"/>
          <p:cNvSpPr/>
          <p:nvPr/>
        </p:nvSpPr>
        <p:spPr>
          <a:xfrm>
            <a:off x="12294450" y="5864429"/>
            <a:ext cx="5260563" cy="3740845"/>
          </a:xfrm>
          <a:custGeom>
            <a:avLst/>
            <a:gdLst/>
            <a:ahLst/>
            <a:cxnLst/>
            <a:rect l="l" t="t" r="r" b="b"/>
            <a:pathLst>
              <a:path w="5260563" h="3740845">
                <a:moveTo>
                  <a:pt x="0" y="0"/>
                </a:moveTo>
                <a:lnTo>
                  <a:pt x="5260564" y="0"/>
                </a:lnTo>
                <a:lnTo>
                  <a:pt x="5260564" y="3740845"/>
                </a:lnTo>
                <a:lnTo>
                  <a:pt x="0" y="3740845"/>
                </a:lnTo>
                <a:lnTo>
                  <a:pt x="0" y="0"/>
                </a:lnTo>
                <a:close/>
              </a:path>
            </a:pathLst>
          </a:custGeom>
          <a:blipFill>
            <a:blip r:embed="rId8"/>
            <a:stretch>
              <a:fillRect/>
            </a:stretch>
          </a:blipFill>
        </p:spPr>
      </p:sp>
      <p:sp>
        <p:nvSpPr>
          <p:cNvPr id="14" name="TextBox 14"/>
          <p:cNvSpPr txBox="1"/>
          <p:nvPr/>
        </p:nvSpPr>
        <p:spPr>
          <a:xfrm>
            <a:off x="1028700" y="361950"/>
            <a:ext cx="6962220" cy="666750"/>
          </a:xfrm>
          <a:prstGeom prst="rect">
            <a:avLst/>
          </a:prstGeom>
        </p:spPr>
        <p:txBody>
          <a:bodyPr lIns="0" tIns="0" rIns="0" bIns="0" rtlCol="0" anchor="t">
            <a:spAutoFit/>
          </a:bodyPr>
          <a:lstStyle/>
          <a:p>
            <a:pPr marL="0" lvl="0" indent="0" algn="l">
              <a:lnSpc>
                <a:spcPts val="5099"/>
              </a:lnSpc>
            </a:pPr>
            <a:r>
              <a:rPr lang="en-US" sz="4999" b="1">
                <a:solidFill>
                  <a:srgbClr val="523079"/>
                </a:solidFill>
                <a:latin typeface="Aileron Bold"/>
                <a:ea typeface="Aileron Bold"/>
                <a:cs typeface="Aileron Bold"/>
                <a:sym typeface="Aileron Bold"/>
              </a:rPr>
              <a:t>Wireframes</a:t>
            </a:r>
          </a:p>
        </p:txBody>
      </p:sp>
      <p:sp>
        <p:nvSpPr>
          <p:cNvPr id="15" name="TextBox 15"/>
          <p:cNvSpPr txBox="1"/>
          <p:nvPr/>
        </p:nvSpPr>
        <p:spPr>
          <a:xfrm>
            <a:off x="2030140" y="5315052"/>
            <a:ext cx="2479670" cy="339725"/>
          </a:xfrm>
          <a:prstGeom prst="rect">
            <a:avLst/>
          </a:prstGeom>
        </p:spPr>
        <p:txBody>
          <a:bodyPr lIns="0" tIns="0" rIns="0" bIns="0" rtlCol="0" anchor="t">
            <a:spAutoFit/>
          </a:bodyPr>
          <a:lstStyle/>
          <a:p>
            <a:pPr marL="431799" lvl="1" indent="-215899" algn="l">
              <a:lnSpc>
                <a:spcPts val="2799"/>
              </a:lnSpc>
              <a:buAutoNum type="arabicPeriod"/>
            </a:pPr>
            <a:r>
              <a:rPr lang="en-US" sz="1999">
                <a:solidFill>
                  <a:srgbClr val="523079"/>
                </a:solidFill>
                <a:latin typeface="Alata"/>
                <a:ea typeface="Alata"/>
                <a:cs typeface="Alata"/>
                <a:sym typeface="Alata"/>
              </a:rPr>
              <a:t>Landing Screen</a:t>
            </a:r>
          </a:p>
        </p:txBody>
      </p:sp>
      <p:sp>
        <p:nvSpPr>
          <p:cNvPr id="16" name="TextBox 16"/>
          <p:cNvSpPr txBox="1"/>
          <p:nvPr/>
        </p:nvSpPr>
        <p:spPr>
          <a:xfrm>
            <a:off x="7990920" y="5315052"/>
            <a:ext cx="2479670" cy="339725"/>
          </a:xfrm>
          <a:prstGeom prst="rect">
            <a:avLst/>
          </a:prstGeom>
        </p:spPr>
        <p:txBody>
          <a:bodyPr lIns="0" tIns="0" rIns="0" bIns="0" rtlCol="0" anchor="t">
            <a:spAutoFit/>
          </a:bodyPr>
          <a:lstStyle/>
          <a:p>
            <a:pPr marL="431799" lvl="1" indent="-215899" algn="l">
              <a:lnSpc>
                <a:spcPts val="2799"/>
              </a:lnSpc>
              <a:buAutoNum type="arabicPeriod"/>
            </a:pPr>
            <a:r>
              <a:rPr lang="en-US" sz="1999">
                <a:solidFill>
                  <a:srgbClr val="523079"/>
                </a:solidFill>
                <a:latin typeface="Alata"/>
                <a:ea typeface="Alata"/>
                <a:cs typeface="Alata"/>
                <a:sym typeface="Alata"/>
              </a:rPr>
              <a:t>Login Screen</a:t>
            </a:r>
          </a:p>
        </p:txBody>
      </p:sp>
      <p:sp>
        <p:nvSpPr>
          <p:cNvPr id="17" name="TextBox 17"/>
          <p:cNvSpPr txBox="1"/>
          <p:nvPr/>
        </p:nvSpPr>
        <p:spPr>
          <a:xfrm>
            <a:off x="13684897" y="5315052"/>
            <a:ext cx="2479670" cy="339725"/>
          </a:xfrm>
          <a:prstGeom prst="rect">
            <a:avLst/>
          </a:prstGeom>
        </p:spPr>
        <p:txBody>
          <a:bodyPr lIns="0" tIns="0" rIns="0" bIns="0" rtlCol="0" anchor="t">
            <a:spAutoFit/>
          </a:bodyPr>
          <a:lstStyle/>
          <a:p>
            <a:pPr marL="431799" lvl="1" indent="-215899" algn="l">
              <a:lnSpc>
                <a:spcPts val="2799"/>
              </a:lnSpc>
              <a:buAutoNum type="arabicPeriod"/>
            </a:pPr>
            <a:r>
              <a:rPr lang="en-US" sz="1999">
                <a:solidFill>
                  <a:srgbClr val="523079"/>
                </a:solidFill>
                <a:latin typeface="Alata"/>
                <a:ea typeface="Alata"/>
                <a:cs typeface="Alata"/>
                <a:sym typeface="Alata"/>
              </a:rPr>
              <a:t>Dashboard</a:t>
            </a:r>
          </a:p>
        </p:txBody>
      </p:sp>
      <p:sp>
        <p:nvSpPr>
          <p:cNvPr id="18" name="TextBox 18"/>
          <p:cNvSpPr txBox="1"/>
          <p:nvPr/>
        </p:nvSpPr>
        <p:spPr>
          <a:xfrm>
            <a:off x="2028236" y="9567174"/>
            <a:ext cx="2479670" cy="339725"/>
          </a:xfrm>
          <a:prstGeom prst="rect">
            <a:avLst/>
          </a:prstGeom>
        </p:spPr>
        <p:txBody>
          <a:bodyPr lIns="0" tIns="0" rIns="0" bIns="0" rtlCol="0" anchor="t">
            <a:spAutoFit/>
          </a:bodyPr>
          <a:lstStyle/>
          <a:p>
            <a:pPr marL="431799" lvl="1" indent="-215899" algn="l">
              <a:lnSpc>
                <a:spcPts val="2799"/>
              </a:lnSpc>
              <a:buAutoNum type="arabicPeriod"/>
            </a:pPr>
            <a:r>
              <a:rPr lang="en-US" sz="1999">
                <a:solidFill>
                  <a:srgbClr val="523079"/>
                </a:solidFill>
                <a:latin typeface="Alata"/>
                <a:ea typeface="Alata"/>
                <a:cs typeface="Alata"/>
                <a:sym typeface="Alata"/>
              </a:rPr>
              <a:t>Upload Lease</a:t>
            </a:r>
          </a:p>
        </p:txBody>
      </p:sp>
      <p:sp>
        <p:nvSpPr>
          <p:cNvPr id="19" name="TextBox 19"/>
          <p:cNvSpPr txBox="1"/>
          <p:nvPr/>
        </p:nvSpPr>
        <p:spPr>
          <a:xfrm>
            <a:off x="7990920" y="9565775"/>
            <a:ext cx="2479670" cy="339725"/>
          </a:xfrm>
          <a:prstGeom prst="rect">
            <a:avLst/>
          </a:prstGeom>
        </p:spPr>
        <p:txBody>
          <a:bodyPr lIns="0" tIns="0" rIns="0" bIns="0" rtlCol="0" anchor="t">
            <a:spAutoFit/>
          </a:bodyPr>
          <a:lstStyle/>
          <a:p>
            <a:pPr marL="431799" lvl="1" indent="-215899" algn="l">
              <a:lnSpc>
                <a:spcPts val="2799"/>
              </a:lnSpc>
              <a:buAutoNum type="arabicPeriod"/>
            </a:pPr>
            <a:r>
              <a:rPr lang="en-US" sz="1999">
                <a:solidFill>
                  <a:srgbClr val="523079"/>
                </a:solidFill>
                <a:latin typeface="Alata"/>
                <a:ea typeface="Alata"/>
                <a:cs typeface="Alata"/>
                <a:sym typeface="Alata"/>
              </a:rPr>
              <a:t>Analysing Lease</a:t>
            </a:r>
          </a:p>
        </p:txBody>
      </p:sp>
      <p:sp>
        <p:nvSpPr>
          <p:cNvPr id="20" name="TextBox 20"/>
          <p:cNvSpPr txBox="1"/>
          <p:nvPr/>
        </p:nvSpPr>
        <p:spPr>
          <a:xfrm>
            <a:off x="13933683" y="9565775"/>
            <a:ext cx="2479670" cy="339725"/>
          </a:xfrm>
          <a:prstGeom prst="rect">
            <a:avLst/>
          </a:prstGeom>
        </p:spPr>
        <p:txBody>
          <a:bodyPr lIns="0" tIns="0" rIns="0" bIns="0" rtlCol="0" anchor="t">
            <a:spAutoFit/>
          </a:bodyPr>
          <a:lstStyle/>
          <a:p>
            <a:pPr marL="431799" lvl="1" indent="-215899" algn="l">
              <a:lnSpc>
                <a:spcPts val="2799"/>
              </a:lnSpc>
              <a:buAutoNum type="arabicPeriod"/>
            </a:pPr>
            <a:r>
              <a:rPr lang="en-US" sz="1999">
                <a:solidFill>
                  <a:srgbClr val="523079"/>
                </a:solidFill>
                <a:latin typeface="Alata"/>
                <a:ea typeface="Alata"/>
                <a:cs typeface="Alata"/>
                <a:sym typeface="Alata"/>
              </a:rPr>
              <a:t>Lease Review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314051" y="7954774"/>
            <a:ext cx="6622338" cy="6541905"/>
          </a:xfrm>
          <a:custGeom>
            <a:avLst/>
            <a:gdLst/>
            <a:ahLst/>
            <a:cxnLst/>
            <a:rect l="l" t="t" r="r" b="b"/>
            <a:pathLst>
              <a:path w="6622338" h="6541905">
                <a:moveTo>
                  <a:pt x="0" y="0"/>
                </a:moveTo>
                <a:lnTo>
                  <a:pt x="6622338" y="0"/>
                </a:lnTo>
                <a:lnTo>
                  <a:pt x="6622338" y="6541905"/>
                </a:lnTo>
                <a:lnTo>
                  <a:pt x="0" y="6541905"/>
                </a:lnTo>
                <a:lnTo>
                  <a:pt x="0" y="0"/>
                </a:lnTo>
                <a:close/>
              </a:path>
            </a:pathLst>
          </a:custGeom>
          <a:blipFill>
            <a:blip r:embed="rId2"/>
            <a:stretch>
              <a:fillRect/>
            </a:stretch>
          </a:blipFill>
        </p:spPr>
      </p:sp>
      <p:grpSp>
        <p:nvGrpSpPr>
          <p:cNvPr id="3" name="Group 3"/>
          <p:cNvGrpSpPr/>
          <p:nvPr/>
        </p:nvGrpSpPr>
        <p:grpSpPr>
          <a:xfrm>
            <a:off x="639756" y="447093"/>
            <a:ext cx="1918782" cy="410738"/>
            <a:chOff x="0" y="0"/>
            <a:chExt cx="2558376" cy="547651"/>
          </a:xfrm>
        </p:grpSpPr>
        <p:grpSp>
          <p:nvGrpSpPr>
            <p:cNvPr id="4" name="Group 4"/>
            <p:cNvGrpSpPr/>
            <p:nvPr/>
          </p:nvGrpSpPr>
          <p:grpSpPr>
            <a:xfrm>
              <a:off x="35321" y="0"/>
              <a:ext cx="2487735" cy="547651"/>
              <a:chOff x="0" y="0"/>
              <a:chExt cx="491404" cy="108178"/>
            </a:xfrm>
          </p:grpSpPr>
          <p:sp>
            <p:nvSpPr>
              <p:cNvPr id="5" name="Freeform 5"/>
              <p:cNvSpPr/>
              <p:nvPr/>
            </p:nvSpPr>
            <p:spPr>
              <a:xfrm>
                <a:off x="0" y="0"/>
                <a:ext cx="491405" cy="108178"/>
              </a:xfrm>
              <a:custGeom>
                <a:avLst/>
                <a:gdLst/>
                <a:ahLst/>
                <a:cxnLst/>
                <a:rect l="l" t="t" r="r" b="b"/>
                <a:pathLst>
                  <a:path w="491405" h="108178">
                    <a:moveTo>
                      <a:pt x="54089" y="0"/>
                    </a:moveTo>
                    <a:lnTo>
                      <a:pt x="437316" y="0"/>
                    </a:lnTo>
                    <a:cubicBezTo>
                      <a:pt x="451661" y="0"/>
                      <a:pt x="465419" y="5699"/>
                      <a:pt x="475562" y="15842"/>
                    </a:cubicBezTo>
                    <a:cubicBezTo>
                      <a:pt x="485706" y="25986"/>
                      <a:pt x="491405" y="39744"/>
                      <a:pt x="491405" y="54089"/>
                    </a:cubicBezTo>
                    <a:lnTo>
                      <a:pt x="491405" y="54089"/>
                    </a:lnTo>
                    <a:cubicBezTo>
                      <a:pt x="491405" y="68434"/>
                      <a:pt x="485706" y="82192"/>
                      <a:pt x="475562" y="92336"/>
                    </a:cubicBezTo>
                    <a:cubicBezTo>
                      <a:pt x="465419" y="102479"/>
                      <a:pt x="451661" y="108178"/>
                      <a:pt x="437316" y="108178"/>
                    </a:cubicBezTo>
                    <a:lnTo>
                      <a:pt x="54089" y="108178"/>
                    </a:lnTo>
                    <a:cubicBezTo>
                      <a:pt x="39744" y="108178"/>
                      <a:pt x="25986" y="102479"/>
                      <a:pt x="15842" y="92336"/>
                    </a:cubicBezTo>
                    <a:cubicBezTo>
                      <a:pt x="5699" y="82192"/>
                      <a:pt x="0" y="68434"/>
                      <a:pt x="0" y="54089"/>
                    </a:cubicBezTo>
                    <a:lnTo>
                      <a:pt x="0" y="54089"/>
                    </a:lnTo>
                    <a:cubicBezTo>
                      <a:pt x="0" y="39744"/>
                      <a:pt x="5699" y="25986"/>
                      <a:pt x="15842" y="15842"/>
                    </a:cubicBezTo>
                    <a:cubicBezTo>
                      <a:pt x="25986" y="5699"/>
                      <a:pt x="39744" y="0"/>
                      <a:pt x="54089" y="0"/>
                    </a:cubicBezTo>
                    <a:close/>
                  </a:path>
                </a:pathLst>
              </a:custGeom>
              <a:gradFill rotWithShape="1">
                <a:gsLst>
                  <a:gs pos="0">
                    <a:srgbClr val="11145B">
                      <a:alpha val="100000"/>
                    </a:srgbClr>
                  </a:gs>
                  <a:gs pos="100000">
                    <a:srgbClr val="A1529C">
                      <a:alpha val="100000"/>
                    </a:srgbClr>
                  </a:gs>
                </a:gsLst>
                <a:path path="circle">
                  <a:fillToRect r="100000" b="100000"/>
                </a:path>
                <a:tileRect l="-100000" t="-100000"/>
              </a:gradFill>
              <a:ln cap="rnd">
                <a:noFill/>
                <a:prstDash val="solid"/>
                <a:round/>
              </a:ln>
            </p:spPr>
          </p:sp>
          <p:sp>
            <p:nvSpPr>
              <p:cNvPr id="6" name="TextBox 6"/>
              <p:cNvSpPr txBox="1"/>
              <p:nvPr/>
            </p:nvSpPr>
            <p:spPr>
              <a:xfrm>
                <a:off x="0" y="-47625"/>
                <a:ext cx="491404" cy="155803"/>
              </a:xfrm>
              <a:prstGeom prst="rect">
                <a:avLst/>
              </a:prstGeom>
            </p:spPr>
            <p:txBody>
              <a:bodyPr lIns="50800" tIns="50800" rIns="50800" bIns="50800" rtlCol="0" anchor="ctr"/>
              <a:lstStyle/>
              <a:p>
                <a:pPr marL="0" lvl="0" indent="0" algn="ctr">
                  <a:lnSpc>
                    <a:spcPts val="3740"/>
                  </a:lnSpc>
                  <a:spcBef>
                    <a:spcPct val="0"/>
                  </a:spcBef>
                </a:pPr>
                <a:endParaRPr/>
              </a:p>
            </p:txBody>
          </p:sp>
        </p:grpSp>
        <p:sp>
          <p:nvSpPr>
            <p:cNvPr id="7" name="TextBox 7"/>
            <p:cNvSpPr txBox="1"/>
            <p:nvPr/>
          </p:nvSpPr>
          <p:spPr>
            <a:xfrm>
              <a:off x="0" y="88194"/>
              <a:ext cx="2558376" cy="342727"/>
            </a:xfrm>
            <a:prstGeom prst="rect">
              <a:avLst/>
            </a:prstGeom>
          </p:spPr>
          <p:txBody>
            <a:bodyPr lIns="0" tIns="0" rIns="0" bIns="0" rtlCol="0" anchor="t">
              <a:spAutoFit/>
            </a:bodyPr>
            <a:lstStyle/>
            <a:p>
              <a:pPr marL="0" lvl="0" indent="0" algn="ctr">
                <a:lnSpc>
                  <a:spcPts val="2238"/>
                </a:lnSpc>
              </a:pPr>
              <a:r>
                <a:rPr lang="en-US" sz="1598">
                  <a:solidFill>
                    <a:srgbClr val="FFFFFF"/>
                  </a:solidFill>
                  <a:latin typeface="Alata"/>
                  <a:ea typeface="Alata"/>
                  <a:cs typeface="Alata"/>
                  <a:sym typeface="Alata"/>
                </a:rPr>
                <a:t>ClauseGuard</a:t>
              </a:r>
            </a:p>
          </p:txBody>
        </p:sp>
      </p:grpSp>
      <p:sp>
        <p:nvSpPr>
          <p:cNvPr id="8" name="Freeform 8"/>
          <p:cNvSpPr/>
          <p:nvPr/>
        </p:nvSpPr>
        <p:spPr>
          <a:xfrm>
            <a:off x="639756" y="2737262"/>
            <a:ext cx="8799957" cy="4812477"/>
          </a:xfrm>
          <a:custGeom>
            <a:avLst/>
            <a:gdLst/>
            <a:ahLst/>
            <a:cxnLst/>
            <a:rect l="l" t="t" r="r" b="b"/>
            <a:pathLst>
              <a:path w="8799957" h="4812477">
                <a:moveTo>
                  <a:pt x="0" y="0"/>
                </a:moveTo>
                <a:lnTo>
                  <a:pt x="8799958" y="0"/>
                </a:lnTo>
                <a:lnTo>
                  <a:pt x="8799958" y="4812476"/>
                </a:lnTo>
                <a:lnTo>
                  <a:pt x="0" y="4812476"/>
                </a:lnTo>
                <a:lnTo>
                  <a:pt x="0" y="0"/>
                </a:lnTo>
                <a:close/>
              </a:path>
            </a:pathLst>
          </a:custGeom>
          <a:blipFill>
            <a:blip r:embed="rId3"/>
            <a:stretch>
              <a:fillRect/>
            </a:stretch>
          </a:blipFill>
        </p:spPr>
      </p:sp>
      <p:sp>
        <p:nvSpPr>
          <p:cNvPr id="9" name="Freeform 9"/>
          <p:cNvSpPr/>
          <p:nvPr/>
        </p:nvSpPr>
        <p:spPr>
          <a:xfrm>
            <a:off x="10747632" y="1482920"/>
            <a:ext cx="5499463" cy="3660580"/>
          </a:xfrm>
          <a:custGeom>
            <a:avLst/>
            <a:gdLst/>
            <a:ahLst/>
            <a:cxnLst/>
            <a:rect l="l" t="t" r="r" b="b"/>
            <a:pathLst>
              <a:path w="5499463" h="3660580">
                <a:moveTo>
                  <a:pt x="0" y="0"/>
                </a:moveTo>
                <a:lnTo>
                  <a:pt x="5499463" y="0"/>
                </a:lnTo>
                <a:lnTo>
                  <a:pt x="5499463" y="3660580"/>
                </a:lnTo>
                <a:lnTo>
                  <a:pt x="0" y="3660580"/>
                </a:lnTo>
                <a:lnTo>
                  <a:pt x="0" y="0"/>
                </a:lnTo>
                <a:close/>
              </a:path>
            </a:pathLst>
          </a:custGeom>
          <a:blipFill>
            <a:blip r:embed="rId4"/>
            <a:stretch>
              <a:fillRect/>
            </a:stretch>
          </a:blipFill>
        </p:spPr>
      </p:sp>
      <p:sp>
        <p:nvSpPr>
          <p:cNvPr id="10" name="Freeform 10"/>
          <p:cNvSpPr/>
          <p:nvPr/>
        </p:nvSpPr>
        <p:spPr>
          <a:xfrm>
            <a:off x="10308457" y="5450959"/>
            <a:ext cx="6377813" cy="4484400"/>
          </a:xfrm>
          <a:custGeom>
            <a:avLst/>
            <a:gdLst/>
            <a:ahLst/>
            <a:cxnLst/>
            <a:rect l="l" t="t" r="r" b="b"/>
            <a:pathLst>
              <a:path w="6377813" h="4484400">
                <a:moveTo>
                  <a:pt x="0" y="0"/>
                </a:moveTo>
                <a:lnTo>
                  <a:pt x="6377813" y="0"/>
                </a:lnTo>
                <a:lnTo>
                  <a:pt x="6377813" y="4484400"/>
                </a:lnTo>
                <a:lnTo>
                  <a:pt x="0" y="4484400"/>
                </a:lnTo>
                <a:lnTo>
                  <a:pt x="0" y="0"/>
                </a:lnTo>
                <a:close/>
              </a:path>
            </a:pathLst>
          </a:custGeom>
          <a:blipFill>
            <a:blip r:embed="rId5"/>
            <a:stretch>
              <a:fillRect/>
            </a:stretch>
          </a:blipFill>
        </p:spPr>
      </p:sp>
      <p:sp>
        <p:nvSpPr>
          <p:cNvPr id="11" name="TextBox 11"/>
          <p:cNvSpPr txBox="1"/>
          <p:nvPr/>
        </p:nvSpPr>
        <p:spPr>
          <a:xfrm>
            <a:off x="9439714" y="361950"/>
            <a:ext cx="8115300" cy="666750"/>
          </a:xfrm>
          <a:prstGeom prst="rect">
            <a:avLst/>
          </a:prstGeom>
        </p:spPr>
        <p:txBody>
          <a:bodyPr lIns="0" tIns="0" rIns="0" bIns="0" rtlCol="0" anchor="t">
            <a:spAutoFit/>
          </a:bodyPr>
          <a:lstStyle/>
          <a:p>
            <a:pPr marL="0" lvl="0" indent="0" algn="l">
              <a:lnSpc>
                <a:spcPts val="5099"/>
              </a:lnSpc>
            </a:pPr>
            <a:r>
              <a:rPr lang="en-US" sz="4999" b="1">
                <a:solidFill>
                  <a:srgbClr val="523079"/>
                </a:solidFill>
                <a:latin typeface="Aileron Bold"/>
                <a:ea typeface="Aileron Bold"/>
                <a:cs typeface="Aileron Bold"/>
                <a:sym typeface="Aileron Bold"/>
              </a:rPr>
              <a:t>Medium Fidelity Prototype</a:t>
            </a:r>
          </a:p>
        </p:txBody>
      </p:sp>
      <p:sp>
        <p:nvSpPr>
          <p:cNvPr id="12" name="AutoShape 12"/>
          <p:cNvSpPr/>
          <p:nvPr/>
        </p:nvSpPr>
        <p:spPr>
          <a:xfrm>
            <a:off x="9439714" y="3313210"/>
            <a:ext cx="1307919" cy="0"/>
          </a:xfrm>
          <a:prstGeom prst="line">
            <a:avLst/>
          </a:prstGeom>
          <a:ln w="38100" cap="flat">
            <a:solidFill>
              <a:srgbClr val="000000"/>
            </a:solidFill>
            <a:prstDash val="solid"/>
            <a:headEnd type="none" w="sm" len="sm"/>
            <a:tailEnd type="triangle" w="lg" len="med"/>
          </a:ln>
        </p:spPr>
      </p:sp>
      <p:sp>
        <p:nvSpPr>
          <p:cNvPr id="13" name="AutoShape 13"/>
          <p:cNvSpPr/>
          <p:nvPr/>
        </p:nvSpPr>
        <p:spPr>
          <a:xfrm flipH="1">
            <a:off x="13423367" y="5143500"/>
            <a:ext cx="54946" cy="384628"/>
          </a:xfrm>
          <a:prstGeom prst="line">
            <a:avLst/>
          </a:prstGeom>
          <a:ln w="38100" cap="flat">
            <a:solidFill>
              <a:srgbClr val="000000"/>
            </a:solidFill>
            <a:prstDash val="solid"/>
            <a:headEnd type="none" w="sm" len="sm"/>
            <a:tailEnd type="triangle" w="lg" len="med"/>
          </a:ln>
        </p:spPr>
      </p:sp>
      <p:sp>
        <p:nvSpPr>
          <p:cNvPr id="14" name="TextBox 14"/>
          <p:cNvSpPr txBox="1"/>
          <p:nvPr/>
        </p:nvSpPr>
        <p:spPr>
          <a:xfrm>
            <a:off x="3799900" y="1239715"/>
            <a:ext cx="2479670" cy="438786"/>
          </a:xfrm>
          <a:prstGeom prst="rect">
            <a:avLst/>
          </a:prstGeom>
        </p:spPr>
        <p:txBody>
          <a:bodyPr lIns="0" tIns="0" rIns="0" bIns="0" rtlCol="0" anchor="t">
            <a:spAutoFit/>
          </a:bodyPr>
          <a:lstStyle/>
          <a:p>
            <a:pPr algn="l">
              <a:lnSpc>
                <a:spcPts val="3639"/>
              </a:lnSpc>
            </a:pPr>
            <a:r>
              <a:rPr lang="en-US" sz="2599">
                <a:solidFill>
                  <a:srgbClr val="523079"/>
                </a:solidFill>
                <a:latin typeface="Alata"/>
                <a:ea typeface="Alata"/>
                <a:cs typeface="Alata"/>
                <a:sym typeface="Alata"/>
              </a:rPr>
              <a:t>Upload Lease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314051" y="7954774"/>
            <a:ext cx="6622338" cy="6541905"/>
          </a:xfrm>
          <a:custGeom>
            <a:avLst/>
            <a:gdLst/>
            <a:ahLst/>
            <a:cxnLst/>
            <a:rect l="l" t="t" r="r" b="b"/>
            <a:pathLst>
              <a:path w="6622338" h="6541905">
                <a:moveTo>
                  <a:pt x="0" y="0"/>
                </a:moveTo>
                <a:lnTo>
                  <a:pt x="6622338" y="0"/>
                </a:lnTo>
                <a:lnTo>
                  <a:pt x="6622338" y="6541905"/>
                </a:lnTo>
                <a:lnTo>
                  <a:pt x="0" y="6541905"/>
                </a:lnTo>
                <a:lnTo>
                  <a:pt x="0" y="0"/>
                </a:lnTo>
                <a:close/>
              </a:path>
            </a:pathLst>
          </a:custGeom>
          <a:blipFill>
            <a:blip r:embed="rId2"/>
            <a:stretch>
              <a:fillRect/>
            </a:stretch>
          </a:blipFill>
        </p:spPr>
      </p:sp>
      <p:grpSp>
        <p:nvGrpSpPr>
          <p:cNvPr id="3" name="Group 3"/>
          <p:cNvGrpSpPr/>
          <p:nvPr/>
        </p:nvGrpSpPr>
        <p:grpSpPr>
          <a:xfrm>
            <a:off x="639756" y="447093"/>
            <a:ext cx="1918782" cy="410738"/>
            <a:chOff x="0" y="0"/>
            <a:chExt cx="2558376" cy="547651"/>
          </a:xfrm>
        </p:grpSpPr>
        <p:grpSp>
          <p:nvGrpSpPr>
            <p:cNvPr id="4" name="Group 4"/>
            <p:cNvGrpSpPr/>
            <p:nvPr/>
          </p:nvGrpSpPr>
          <p:grpSpPr>
            <a:xfrm>
              <a:off x="35321" y="0"/>
              <a:ext cx="2487735" cy="547651"/>
              <a:chOff x="0" y="0"/>
              <a:chExt cx="491404" cy="108178"/>
            </a:xfrm>
          </p:grpSpPr>
          <p:sp>
            <p:nvSpPr>
              <p:cNvPr id="5" name="Freeform 5"/>
              <p:cNvSpPr/>
              <p:nvPr/>
            </p:nvSpPr>
            <p:spPr>
              <a:xfrm>
                <a:off x="0" y="0"/>
                <a:ext cx="491405" cy="108178"/>
              </a:xfrm>
              <a:custGeom>
                <a:avLst/>
                <a:gdLst/>
                <a:ahLst/>
                <a:cxnLst/>
                <a:rect l="l" t="t" r="r" b="b"/>
                <a:pathLst>
                  <a:path w="491405" h="108178">
                    <a:moveTo>
                      <a:pt x="54089" y="0"/>
                    </a:moveTo>
                    <a:lnTo>
                      <a:pt x="437316" y="0"/>
                    </a:lnTo>
                    <a:cubicBezTo>
                      <a:pt x="451661" y="0"/>
                      <a:pt x="465419" y="5699"/>
                      <a:pt x="475562" y="15842"/>
                    </a:cubicBezTo>
                    <a:cubicBezTo>
                      <a:pt x="485706" y="25986"/>
                      <a:pt x="491405" y="39744"/>
                      <a:pt x="491405" y="54089"/>
                    </a:cubicBezTo>
                    <a:lnTo>
                      <a:pt x="491405" y="54089"/>
                    </a:lnTo>
                    <a:cubicBezTo>
                      <a:pt x="491405" y="68434"/>
                      <a:pt x="485706" y="82192"/>
                      <a:pt x="475562" y="92336"/>
                    </a:cubicBezTo>
                    <a:cubicBezTo>
                      <a:pt x="465419" y="102479"/>
                      <a:pt x="451661" y="108178"/>
                      <a:pt x="437316" y="108178"/>
                    </a:cubicBezTo>
                    <a:lnTo>
                      <a:pt x="54089" y="108178"/>
                    </a:lnTo>
                    <a:cubicBezTo>
                      <a:pt x="39744" y="108178"/>
                      <a:pt x="25986" y="102479"/>
                      <a:pt x="15842" y="92336"/>
                    </a:cubicBezTo>
                    <a:cubicBezTo>
                      <a:pt x="5699" y="82192"/>
                      <a:pt x="0" y="68434"/>
                      <a:pt x="0" y="54089"/>
                    </a:cubicBezTo>
                    <a:lnTo>
                      <a:pt x="0" y="54089"/>
                    </a:lnTo>
                    <a:cubicBezTo>
                      <a:pt x="0" y="39744"/>
                      <a:pt x="5699" y="25986"/>
                      <a:pt x="15842" y="15842"/>
                    </a:cubicBezTo>
                    <a:cubicBezTo>
                      <a:pt x="25986" y="5699"/>
                      <a:pt x="39744" y="0"/>
                      <a:pt x="54089" y="0"/>
                    </a:cubicBezTo>
                    <a:close/>
                  </a:path>
                </a:pathLst>
              </a:custGeom>
              <a:gradFill rotWithShape="1">
                <a:gsLst>
                  <a:gs pos="0">
                    <a:srgbClr val="11145B">
                      <a:alpha val="100000"/>
                    </a:srgbClr>
                  </a:gs>
                  <a:gs pos="100000">
                    <a:srgbClr val="A1529C">
                      <a:alpha val="100000"/>
                    </a:srgbClr>
                  </a:gs>
                </a:gsLst>
                <a:path path="circle">
                  <a:fillToRect r="100000" b="100000"/>
                </a:path>
                <a:tileRect l="-100000" t="-100000"/>
              </a:gradFill>
              <a:ln cap="rnd">
                <a:noFill/>
                <a:prstDash val="solid"/>
                <a:round/>
              </a:ln>
            </p:spPr>
          </p:sp>
          <p:sp>
            <p:nvSpPr>
              <p:cNvPr id="6" name="TextBox 6"/>
              <p:cNvSpPr txBox="1"/>
              <p:nvPr/>
            </p:nvSpPr>
            <p:spPr>
              <a:xfrm>
                <a:off x="0" y="-47625"/>
                <a:ext cx="491404" cy="155803"/>
              </a:xfrm>
              <a:prstGeom prst="rect">
                <a:avLst/>
              </a:prstGeom>
            </p:spPr>
            <p:txBody>
              <a:bodyPr lIns="50800" tIns="50800" rIns="50800" bIns="50800" rtlCol="0" anchor="ctr"/>
              <a:lstStyle/>
              <a:p>
                <a:pPr marL="0" lvl="0" indent="0" algn="ctr">
                  <a:lnSpc>
                    <a:spcPts val="3740"/>
                  </a:lnSpc>
                  <a:spcBef>
                    <a:spcPct val="0"/>
                  </a:spcBef>
                </a:pPr>
                <a:endParaRPr/>
              </a:p>
            </p:txBody>
          </p:sp>
        </p:grpSp>
        <p:sp>
          <p:nvSpPr>
            <p:cNvPr id="7" name="TextBox 7"/>
            <p:cNvSpPr txBox="1"/>
            <p:nvPr/>
          </p:nvSpPr>
          <p:spPr>
            <a:xfrm>
              <a:off x="0" y="88194"/>
              <a:ext cx="2558376" cy="342727"/>
            </a:xfrm>
            <a:prstGeom prst="rect">
              <a:avLst/>
            </a:prstGeom>
          </p:spPr>
          <p:txBody>
            <a:bodyPr lIns="0" tIns="0" rIns="0" bIns="0" rtlCol="0" anchor="t">
              <a:spAutoFit/>
            </a:bodyPr>
            <a:lstStyle/>
            <a:p>
              <a:pPr marL="0" lvl="0" indent="0" algn="ctr">
                <a:lnSpc>
                  <a:spcPts val="2238"/>
                </a:lnSpc>
              </a:pPr>
              <a:r>
                <a:rPr lang="en-US" sz="1598">
                  <a:solidFill>
                    <a:srgbClr val="FFFFFF"/>
                  </a:solidFill>
                  <a:latin typeface="Alata"/>
                  <a:ea typeface="Alata"/>
                  <a:cs typeface="Alata"/>
                  <a:sym typeface="Alata"/>
                </a:rPr>
                <a:t>ClauseGuard</a:t>
              </a:r>
            </a:p>
          </p:txBody>
        </p:sp>
      </p:grpSp>
      <p:sp>
        <p:nvSpPr>
          <p:cNvPr id="8" name="Freeform 8"/>
          <p:cNvSpPr/>
          <p:nvPr/>
        </p:nvSpPr>
        <p:spPr>
          <a:xfrm>
            <a:off x="639756" y="2560530"/>
            <a:ext cx="7347115" cy="5165940"/>
          </a:xfrm>
          <a:custGeom>
            <a:avLst/>
            <a:gdLst/>
            <a:ahLst/>
            <a:cxnLst/>
            <a:rect l="l" t="t" r="r" b="b"/>
            <a:pathLst>
              <a:path w="7347115" h="5165940">
                <a:moveTo>
                  <a:pt x="0" y="0"/>
                </a:moveTo>
                <a:lnTo>
                  <a:pt x="7347115" y="0"/>
                </a:lnTo>
                <a:lnTo>
                  <a:pt x="7347115" y="5165940"/>
                </a:lnTo>
                <a:lnTo>
                  <a:pt x="0" y="5165940"/>
                </a:lnTo>
                <a:lnTo>
                  <a:pt x="0" y="0"/>
                </a:lnTo>
                <a:close/>
              </a:path>
            </a:pathLst>
          </a:custGeom>
          <a:blipFill>
            <a:blip r:embed="rId3"/>
            <a:stretch>
              <a:fillRect/>
            </a:stretch>
          </a:blipFill>
        </p:spPr>
      </p:sp>
      <p:sp>
        <p:nvSpPr>
          <p:cNvPr id="9" name="Freeform 9"/>
          <p:cNvSpPr/>
          <p:nvPr/>
        </p:nvSpPr>
        <p:spPr>
          <a:xfrm>
            <a:off x="8818240" y="1180777"/>
            <a:ext cx="8736774" cy="4627760"/>
          </a:xfrm>
          <a:custGeom>
            <a:avLst/>
            <a:gdLst/>
            <a:ahLst/>
            <a:cxnLst/>
            <a:rect l="l" t="t" r="r" b="b"/>
            <a:pathLst>
              <a:path w="8736774" h="4627760">
                <a:moveTo>
                  <a:pt x="0" y="0"/>
                </a:moveTo>
                <a:lnTo>
                  <a:pt x="8736774" y="0"/>
                </a:lnTo>
                <a:lnTo>
                  <a:pt x="8736774" y="4627760"/>
                </a:lnTo>
                <a:lnTo>
                  <a:pt x="0" y="4627760"/>
                </a:lnTo>
                <a:lnTo>
                  <a:pt x="0" y="0"/>
                </a:lnTo>
                <a:close/>
              </a:path>
            </a:pathLst>
          </a:custGeom>
          <a:blipFill>
            <a:blip r:embed="rId4"/>
            <a:stretch>
              <a:fillRect/>
            </a:stretch>
          </a:blipFill>
        </p:spPr>
      </p:sp>
      <p:sp>
        <p:nvSpPr>
          <p:cNvPr id="10" name="Freeform 10"/>
          <p:cNvSpPr/>
          <p:nvPr/>
        </p:nvSpPr>
        <p:spPr>
          <a:xfrm>
            <a:off x="9305767" y="6144343"/>
            <a:ext cx="7953533" cy="3933270"/>
          </a:xfrm>
          <a:custGeom>
            <a:avLst/>
            <a:gdLst/>
            <a:ahLst/>
            <a:cxnLst/>
            <a:rect l="l" t="t" r="r" b="b"/>
            <a:pathLst>
              <a:path w="7953533" h="3933270">
                <a:moveTo>
                  <a:pt x="0" y="0"/>
                </a:moveTo>
                <a:lnTo>
                  <a:pt x="7953533" y="0"/>
                </a:lnTo>
                <a:lnTo>
                  <a:pt x="7953533" y="3933270"/>
                </a:lnTo>
                <a:lnTo>
                  <a:pt x="0" y="3933270"/>
                </a:lnTo>
                <a:lnTo>
                  <a:pt x="0" y="0"/>
                </a:lnTo>
                <a:close/>
              </a:path>
            </a:pathLst>
          </a:custGeom>
          <a:blipFill>
            <a:blip r:embed="rId5"/>
            <a:stretch>
              <a:fillRect/>
            </a:stretch>
          </a:blipFill>
        </p:spPr>
      </p:sp>
      <p:sp>
        <p:nvSpPr>
          <p:cNvPr id="11" name="TextBox 11"/>
          <p:cNvSpPr txBox="1"/>
          <p:nvPr/>
        </p:nvSpPr>
        <p:spPr>
          <a:xfrm>
            <a:off x="9439714" y="361950"/>
            <a:ext cx="8115300" cy="666750"/>
          </a:xfrm>
          <a:prstGeom prst="rect">
            <a:avLst/>
          </a:prstGeom>
        </p:spPr>
        <p:txBody>
          <a:bodyPr lIns="0" tIns="0" rIns="0" bIns="0" rtlCol="0" anchor="t">
            <a:spAutoFit/>
          </a:bodyPr>
          <a:lstStyle/>
          <a:p>
            <a:pPr marL="0" lvl="0" indent="0" algn="l">
              <a:lnSpc>
                <a:spcPts val="5099"/>
              </a:lnSpc>
            </a:pPr>
            <a:r>
              <a:rPr lang="en-US" sz="4999" b="1">
                <a:solidFill>
                  <a:srgbClr val="523079"/>
                </a:solidFill>
                <a:latin typeface="Aileron Bold"/>
                <a:ea typeface="Aileron Bold"/>
                <a:cs typeface="Aileron Bold"/>
                <a:sym typeface="Aileron Bold"/>
              </a:rPr>
              <a:t>Medium Fidelity Prototype</a:t>
            </a:r>
          </a:p>
        </p:txBody>
      </p:sp>
      <p:sp>
        <p:nvSpPr>
          <p:cNvPr id="12" name="TextBox 12"/>
          <p:cNvSpPr txBox="1"/>
          <p:nvPr/>
        </p:nvSpPr>
        <p:spPr>
          <a:xfrm>
            <a:off x="3073479" y="1349758"/>
            <a:ext cx="2479670" cy="438786"/>
          </a:xfrm>
          <a:prstGeom prst="rect">
            <a:avLst/>
          </a:prstGeom>
        </p:spPr>
        <p:txBody>
          <a:bodyPr lIns="0" tIns="0" rIns="0" bIns="0" rtlCol="0" anchor="t">
            <a:spAutoFit/>
          </a:bodyPr>
          <a:lstStyle/>
          <a:p>
            <a:pPr algn="l">
              <a:lnSpc>
                <a:spcPts val="3639"/>
              </a:lnSpc>
            </a:pPr>
            <a:r>
              <a:rPr lang="en-US" sz="2599">
                <a:solidFill>
                  <a:srgbClr val="523079"/>
                </a:solidFill>
                <a:latin typeface="Alata"/>
                <a:ea typeface="Alata"/>
                <a:cs typeface="Alata"/>
                <a:sym typeface="Alata"/>
              </a:rPr>
              <a:t>Check Rent</a:t>
            </a:r>
          </a:p>
        </p:txBody>
      </p:sp>
      <p:sp>
        <p:nvSpPr>
          <p:cNvPr id="13" name="Freeform 13"/>
          <p:cNvSpPr/>
          <p:nvPr/>
        </p:nvSpPr>
        <p:spPr>
          <a:xfrm>
            <a:off x="4962267" y="2080622"/>
            <a:ext cx="3855972" cy="568558"/>
          </a:xfrm>
          <a:custGeom>
            <a:avLst/>
            <a:gdLst/>
            <a:ahLst/>
            <a:cxnLst/>
            <a:rect l="l" t="t" r="r" b="b"/>
            <a:pathLst>
              <a:path w="3855972" h="568558">
                <a:moveTo>
                  <a:pt x="0" y="568558"/>
                </a:moveTo>
                <a:lnTo>
                  <a:pt x="0" y="228600"/>
                </a:lnTo>
                <a:cubicBezTo>
                  <a:pt x="0" y="102348"/>
                  <a:pt x="102348" y="0"/>
                  <a:pt x="228600" y="0"/>
                </a:cubicBezTo>
                <a:lnTo>
                  <a:pt x="3855972" y="0"/>
                </a:lnTo>
              </a:path>
            </a:pathLst>
          </a:custGeom>
          <a:ln w="38100" cap="flat">
            <a:solidFill>
              <a:srgbClr val="000000"/>
            </a:solidFill>
            <a:prstDash val="solid"/>
            <a:headEnd type="none" w="sm" len="sm"/>
            <a:tailEnd type="triangle" w="lg" len="med"/>
          </a:ln>
        </p:spPr>
      </p:sp>
      <p:sp>
        <p:nvSpPr>
          <p:cNvPr id="14" name="AutoShape 14"/>
          <p:cNvSpPr/>
          <p:nvPr/>
        </p:nvSpPr>
        <p:spPr>
          <a:xfrm>
            <a:off x="13454201" y="5895464"/>
            <a:ext cx="18013" cy="248879"/>
          </a:xfrm>
          <a:prstGeom prst="line">
            <a:avLst/>
          </a:prstGeom>
          <a:ln w="38100" cap="flat">
            <a:solidFill>
              <a:srgbClr val="000000"/>
            </a:solidFill>
            <a:prstDash val="solid"/>
            <a:headEnd type="none" w="sm" len="sm"/>
            <a:tailEnd type="triangle" w="lg" len="me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314051" y="7954774"/>
            <a:ext cx="6622338" cy="6541905"/>
          </a:xfrm>
          <a:custGeom>
            <a:avLst/>
            <a:gdLst/>
            <a:ahLst/>
            <a:cxnLst/>
            <a:rect l="l" t="t" r="r" b="b"/>
            <a:pathLst>
              <a:path w="6622338" h="6541905">
                <a:moveTo>
                  <a:pt x="0" y="0"/>
                </a:moveTo>
                <a:lnTo>
                  <a:pt x="6622338" y="0"/>
                </a:lnTo>
                <a:lnTo>
                  <a:pt x="6622338" y="6541905"/>
                </a:lnTo>
                <a:lnTo>
                  <a:pt x="0" y="6541905"/>
                </a:lnTo>
                <a:lnTo>
                  <a:pt x="0" y="0"/>
                </a:lnTo>
                <a:close/>
              </a:path>
            </a:pathLst>
          </a:custGeom>
          <a:blipFill>
            <a:blip r:embed="rId2"/>
            <a:stretch>
              <a:fillRect/>
            </a:stretch>
          </a:blipFill>
        </p:spPr>
      </p:sp>
      <p:grpSp>
        <p:nvGrpSpPr>
          <p:cNvPr id="3" name="Group 3"/>
          <p:cNvGrpSpPr/>
          <p:nvPr/>
        </p:nvGrpSpPr>
        <p:grpSpPr>
          <a:xfrm>
            <a:off x="15636231" y="447093"/>
            <a:ext cx="1918782" cy="410738"/>
            <a:chOff x="0" y="0"/>
            <a:chExt cx="2558376" cy="547651"/>
          </a:xfrm>
        </p:grpSpPr>
        <p:grpSp>
          <p:nvGrpSpPr>
            <p:cNvPr id="4" name="Group 4"/>
            <p:cNvGrpSpPr/>
            <p:nvPr/>
          </p:nvGrpSpPr>
          <p:grpSpPr>
            <a:xfrm>
              <a:off x="35321" y="0"/>
              <a:ext cx="2487735" cy="547651"/>
              <a:chOff x="0" y="0"/>
              <a:chExt cx="491404" cy="108178"/>
            </a:xfrm>
          </p:grpSpPr>
          <p:sp>
            <p:nvSpPr>
              <p:cNvPr id="5" name="Freeform 5"/>
              <p:cNvSpPr/>
              <p:nvPr/>
            </p:nvSpPr>
            <p:spPr>
              <a:xfrm>
                <a:off x="0" y="0"/>
                <a:ext cx="491405" cy="108178"/>
              </a:xfrm>
              <a:custGeom>
                <a:avLst/>
                <a:gdLst/>
                <a:ahLst/>
                <a:cxnLst/>
                <a:rect l="l" t="t" r="r" b="b"/>
                <a:pathLst>
                  <a:path w="491405" h="108178">
                    <a:moveTo>
                      <a:pt x="54089" y="0"/>
                    </a:moveTo>
                    <a:lnTo>
                      <a:pt x="437316" y="0"/>
                    </a:lnTo>
                    <a:cubicBezTo>
                      <a:pt x="451661" y="0"/>
                      <a:pt x="465419" y="5699"/>
                      <a:pt x="475562" y="15842"/>
                    </a:cubicBezTo>
                    <a:cubicBezTo>
                      <a:pt x="485706" y="25986"/>
                      <a:pt x="491405" y="39744"/>
                      <a:pt x="491405" y="54089"/>
                    </a:cubicBezTo>
                    <a:lnTo>
                      <a:pt x="491405" y="54089"/>
                    </a:lnTo>
                    <a:cubicBezTo>
                      <a:pt x="491405" y="68434"/>
                      <a:pt x="485706" y="82192"/>
                      <a:pt x="475562" y="92336"/>
                    </a:cubicBezTo>
                    <a:cubicBezTo>
                      <a:pt x="465419" y="102479"/>
                      <a:pt x="451661" y="108178"/>
                      <a:pt x="437316" y="108178"/>
                    </a:cubicBezTo>
                    <a:lnTo>
                      <a:pt x="54089" y="108178"/>
                    </a:lnTo>
                    <a:cubicBezTo>
                      <a:pt x="39744" y="108178"/>
                      <a:pt x="25986" y="102479"/>
                      <a:pt x="15842" y="92336"/>
                    </a:cubicBezTo>
                    <a:cubicBezTo>
                      <a:pt x="5699" y="82192"/>
                      <a:pt x="0" y="68434"/>
                      <a:pt x="0" y="54089"/>
                    </a:cubicBezTo>
                    <a:lnTo>
                      <a:pt x="0" y="54089"/>
                    </a:lnTo>
                    <a:cubicBezTo>
                      <a:pt x="0" y="39744"/>
                      <a:pt x="5699" y="25986"/>
                      <a:pt x="15842" y="15842"/>
                    </a:cubicBezTo>
                    <a:cubicBezTo>
                      <a:pt x="25986" y="5699"/>
                      <a:pt x="39744" y="0"/>
                      <a:pt x="54089" y="0"/>
                    </a:cubicBezTo>
                    <a:close/>
                  </a:path>
                </a:pathLst>
              </a:custGeom>
              <a:gradFill rotWithShape="1">
                <a:gsLst>
                  <a:gs pos="0">
                    <a:srgbClr val="11145B">
                      <a:alpha val="100000"/>
                    </a:srgbClr>
                  </a:gs>
                  <a:gs pos="100000">
                    <a:srgbClr val="A1529C">
                      <a:alpha val="100000"/>
                    </a:srgbClr>
                  </a:gs>
                </a:gsLst>
                <a:path path="circle">
                  <a:fillToRect r="100000" b="100000"/>
                </a:path>
                <a:tileRect l="-100000" t="-100000"/>
              </a:gradFill>
              <a:ln cap="rnd">
                <a:noFill/>
                <a:prstDash val="solid"/>
                <a:round/>
              </a:ln>
            </p:spPr>
          </p:sp>
          <p:sp>
            <p:nvSpPr>
              <p:cNvPr id="6" name="TextBox 6"/>
              <p:cNvSpPr txBox="1"/>
              <p:nvPr/>
            </p:nvSpPr>
            <p:spPr>
              <a:xfrm>
                <a:off x="0" y="-47625"/>
                <a:ext cx="491404" cy="155803"/>
              </a:xfrm>
              <a:prstGeom prst="rect">
                <a:avLst/>
              </a:prstGeom>
            </p:spPr>
            <p:txBody>
              <a:bodyPr lIns="50800" tIns="50800" rIns="50800" bIns="50800" rtlCol="0" anchor="ctr"/>
              <a:lstStyle/>
              <a:p>
                <a:pPr marL="0" lvl="0" indent="0" algn="ctr">
                  <a:lnSpc>
                    <a:spcPts val="3740"/>
                  </a:lnSpc>
                  <a:spcBef>
                    <a:spcPct val="0"/>
                  </a:spcBef>
                </a:pPr>
                <a:endParaRPr/>
              </a:p>
            </p:txBody>
          </p:sp>
        </p:grpSp>
        <p:sp>
          <p:nvSpPr>
            <p:cNvPr id="7" name="TextBox 7"/>
            <p:cNvSpPr txBox="1"/>
            <p:nvPr/>
          </p:nvSpPr>
          <p:spPr>
            <a:xfrm>
              <a:off x="0" y="88194"/>
              <a:ext cx="2558376" cy="342727"/>
            </a:xfrm>
            <a:prstGeom prst="rect">
              <a:avLst/>
            </a:prstGeom>
          </p:spPr>
          <p:txBody>
            <a:bodyPr lIns="0" tIns="0" rIns="0" bIns="0" rtlCol="0" anchor="t">
              <a:spAutoFit/>
            </a:bodyPr>
            <a:lstStyle/>
            <a:p>
              <a:pPr marL="0" lvl="0" indent="0" algn="ctr">
                <a:lnSpc>
                  <a:spcPts val="2238"/>
                </a:lnSpc>
              </a:pPr>
              <a:r>
                <a:rPr lang="en-US" sz="1598">
                  <a:solidFill>
                    <a:srgbClr val="FFFFFF"/>
                  </a:solidFill>
                  <a:latin typeface="Alata"/>
                  <a:ea typeface="Alata"/>
                  <a:cs typeface="Alata"/>
                  <a:sym typeface="Alata"/>
                </a:rPr>
                <a:t>ClauseGuard</a:t>
              </a:r>
            </a:p>
          </p:txBody>
        </p:sp>
      </p:grpSp>
      <p:sp>
        <p:nvSpPr>
          <p:cNvPr id="8" name="Freeform 8"/>
          <p:cNvSpPr/>
          <p:nvPr/>
        </p:nvSpPr>
        <p:spPr>
          <a:xfrm>
            <a:off x="1028700" y="1318502"/>
            <a:ext cx="16161507" cy="7752473"/>
          </a:xfrm>
          <a:custGeom>
            <a:avLst/>
            <a:gdLst/>
            <a:ahLst/>
            <a:cxnLst/>
            <a:rect l="l" t="t" r="r" b="b"/>
            <a:pathLst>
              <a:path w="16161507" h="7752473">
                <a:moveTo>
                  <a:pt x="0" y="0"/>
                </a:moveTo>
                <a:lnTo>
                  <a:pt x="16161507" y="0"/>
                </a:lnTo>
                <a:lnTo>
                  <a:pt x="16161507" y="7752473"/>
                </a:lnTo>
                <a:lnTo>
                  <a:pt x="0" y="7752473"/>
                </a:lnTo>
                <a:lnTo>
                  <a:pt x="0" y="0"/>
                </a:lnTo>
                <a:close/>
              </a:path>
            </a:pathLst>
          </a:custGeom>
          <a:blipFill>
            <a:blip r:embed="rId3"/>
            <a:stretch>
              <a:fillRect/>
            </a:stretch>
          </a:blipFill>
        </p:spPr>
      </p:sp>
      <p:sp>
        <p:nvSpPr>
          <p:cNvPr id="9" name="TextBox 9"/>
          <p:cNvSpPr txBox="1"/>
          <p:nvPr/>
        </p:nvSpPr>
        <p:spPr>
          <a:xfrm>
            <a:off x="1028700" y="361950"/>
            <a:ext cx="8202055" cy="666750"/>
          </a:xfrm>
          <a:prstGeom prst="rect">
            <a:avLst/>
          </a:prstGeom>
        </p:spPr>
        <p:txBody>
          <a:bodyPr lIns="0" tIns="0" rIns="0" bIns="0" rtlCol="0" anchor="t">
            <a:spAutoFit/>
          </a:bodyPr>
          <a:lstStyle/>
          <a:p>
            <a:pPr marL="0" lvl="0" indent="0" algn="l">
              <a:lnSpc>
                <a:spcPts val="5099"/>
              </a:lnSpc>
            </a:pPr>
            <a:r>
              <a:rPr lang="en-US" sz="4999" b="1">
                <a:solidFill>
                  <a:srgbClr val="523079"/>
                </a:solidFill>
                <a:latin typeface="Aileron Bold"/>
                <a:ea typeface="Aileron Bold"/>
                <a:cs typeface="Aileron Bold"/>
                <a:sym typeface="Aileron Bold"/>
              </a:rPr>
              <a:t>Sample Mockups - FigmaAI</a:t>
            </a:r>
          </a:p>
        </p:txBody>
      </p:sp>
      <p:sp>
        <p:nvSpPr>
          <p:cNvPr id="10" name="TextBox 10"/>
          <p:cNvSpPr txBox="1"/>
          <p:nvPr/>
        </p:nvSpPr>
        <p:spPr>
          <a:xfrm>
            <a:off x="8202255" y="9309100"/>
            <a:ext cx="2057001" cy="422275"/>
          </a:xfrm>
          <a:prstGeom prst="rect">
            <a:avLst/>
          </a:prstGeom>
        </p:spPr>
        <p:txBody>
          <a:bodyPr lIns="0" tIns="0" rIns="0" bIns="0" rtlCol="0" anchor="t">
            <a:spAutoFit/>
          </a:bodyPr>
          <a:lstStyle/>
          <a:p>
            <a:pPr algn="l">
              <a:lnSpc>
                <a:spcPts val="3499"/>
              </a:lnSpc>
            </a:pPr>
            <a:r>
              <a:rPr lang="en-US" sz="2499">
                <a:solidFill>
                  <a:srgbClr val="523079"/>
                </a:solidFill>
                <a:latin typeface="Alata"/>
                <a:ea typeface="Alata"/>
                <a:cs typeface="Alata"/>
                <a:sym typeface="Alata"/>
              </a:rPr>
              <a:t>Landing Page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314051" y="7954774"/>
            <a:ext cx="6622338" cy="6541905"/>
          </a:xfrm>
          <a:custGeom>
            <a:avLst/>
            <a:gdLst/>
            <a:ahLst/>
            <a:cxnLst/>
            <a:rect l="l" t="t" r="r" b="b"/>
            <a:pathLst>
              <a:path w="6622338" h="6541905">
                <a:moveTo>
                  <a:pt x="0" y="0"/>
                </a:moveTo>
                <a:lnTo>
                  <a:pt x="6622338" y="0"/>
                </a:lnTo>
                <a:lnTo>
                  <a:pt x="6622338" y="6541905"/>
                </a:lnTo>
                <a:lnTo>
                  <a:pt x="0" y="6541905"/>
                </a:lnTo>
                <a:lnTo>
                  <a:pt x="0" y="0"/>
                </a:lnTo>
                <a:close/>
              </a:path>
            </a:pathLst>
          </a:custGeom>
          <a:blipFill>
            <a:blip r:embed="rId2"/>
            <a:stretch>
              <a:fillRect/>
            </a:stretch>
          </a:blipFill>
        </p:spPr>
      </p:sp>
      <p:grpSp>
        <p:nvGrpSpPr>
          <p:cNvPr id="3" name="Group 3"/>
          <p:cNvGrpSpPr/>
          <p:nvPr/>
        </p:nvGrpSpPr>
        <p:grpSpPr>
          <a:xfrm>
            <a:off x="15636231" y="447093"/>
            <a:ext cx="1918782" cy="410738"/>
            <a:chOff x="0" y="0"/>
            <a:chExt cx="2558376" cy="547651"/>
          </a:xfrm>
        </p:grpSpPr>
        <p:grpSp>
          <p:nvGrpSpPr>
            <p:cNvPr id="4" name="Group 4"/>
            <p:cNvGrpSpPr/>
            <p:nvPr/>
          </p:nvGrpSpPr>
          <p:grpSpPr>
            <a:xfrm>
              <a:off x="35321" y="0"/>
              <a:ext cx="2487735" cy="547651"/>
              <a:chOff x="0" y="0"/>
              <a:chExt cx="491404" cy="108178"/>
            </a:xfrm>
          </p:grpSpPr>
          <p:sp>
            <p:nvSpPr>
              <p:cNvPr id="5" name="Freeform 5"/>
              <p:cNvSpPr/>
              <p:nvPr/>
            </p:nvSpPr>
            <p:spPr>
              <a:xfrm>
                <a:off x="0" y="0"/>
                <a:ext cx="491405" cy="108178"/>
              </a:xfrm>
              <a:custGeom>
                <a:avLst/>
                <a:gdLst/>
                <a:ahLst/>
                <a:cxnLst/>
                <a:rect l="l" t="t" r="r" b="b"/>
                <a:pathLst>
                  <a:path w="491405" h="108178">
                    <a:moveTo>
                      <a:pt x="54089" y="0"/>
                    </a:moveTo>
                    <a:lnTo>
                      <a:pt x="437316" y="0"/>
                    </a:lnTo>
                    <a:cubicBezTo>
                      <a:pt x="451661" y="0"/>
                      <a:pt x="465419" y="5699"/>
                      <a:pt x="475562" y="15842"/>
                    </a:cubicBezTo>
                    <a:cubicBezTo>
                      <a:pt x="485706" y="25986"/>
                      <a:pt x="491405" y="39744"/>
                      <a:pt x="491405" y="54089"/>
                    </a:cubicBezTo>
                    <a:lnTo>
                      <a:pt x="491405" y="54089"/>
                    </a:lnTo>
                    <a:cubicBezTo>
                      <a:pt x="491405" y="68434"/>
                      <a:pt x="485706" y="82192"/>
                      <a:pt x="475562" y="92336"/>
                    </a:cubicBezTo>
                    <a:cubicBezTo>
                      <a:pt x="465419" y="102479"/>
                      <a:pt x="451661" y="108178"/>
                      <a:pt x="437316" y="108178"/>
                    </a:cubicBezTo>
                    <a:lnTo>
                      <a:pt x="54089" y="108178"/>
                    </a:lnTo>
                    <a:cubicBezTo>
                      <a:pt x="39744" y="108178"/>
                      <a:pt x="25986" y="102479"/>
                      <a:pt x="15842" y="92336"/>
                    </a:cubicBezTo>
                    <a:cubicBezTo>
                      <a:pt x="5699" y="82192"/>
                      <a:pt x="0" y="68434"/>
                      <a:pt x="0" y="54089"/>
                    </a:cubicBezTo>
                    <a:lnTo>
                      <a:pt x="0" y="54089"/>
                    </a:lnTo>
                    <a:cubicBezTo>
                      <a:pt x="0" y="39744"/>
                      <a:pt x="5699" y="25986"/>
                      <a:pt x="15842" y="15842"/>
                    </a:cubicBezTo>
                    <a:cubicBezTo>
                      <a:pt x="25986" y="5699"/>
                      <a:pt x="39744" y="0"/>
                      <a:pt x="54089" y="0"/>
                    </a:cubicBezTo>
                    <a:close/>
                  </a:path>
                </a:pathLst>
              </a:custGeom>
              <a:gradFill rotWithShape="1">
                <a:gsLst>
                  <a:gs pos="0">
                    <a:srgbClr val="11145B">
                      <a:alpha val="100000"/>
                    </a:srgbClr>
                  </a:gs>
                  <a:gs pos="100000">
                    <a:srgbClr val="A1529C">
                      <a:alpha val="100000"/>
                    </a:srgbClr>
                  </a:gs>
                </a:gsLst>
                <a:path path="circle">
                  <a:fillToRect r="100000" b="100000"/>
                </a:path>
                <a:tileRect l="-100000" t="-100000"/>
              </a:gradFill>
              <a:ln cap="rnd">
                <a:noFill/>
                <a:prstDash val="solid"/>
                <a:round/>
              </a:ln>
            </p:spPr>
          </p:sp>
          <p:sp>
            <p:nvSpPr>
              <p:cNvPr id="6" name="TextBox 6"/>
              <p:cNvSpPr txBox="1"/>
              <p:nvPr/>
            </p:nvSpPr>
            <p:spPr>
              <a:xfrm>
                <a:off x="0" y="-47625"/>
                <a:ext cx="491404" cy="155803"/>
              </a:xfrm>
              <a:prstGeom prst="rect">
                <a:avLst/>
              </a:prstGeom>
            </p:spPr>
            <p:txBody>
              <a:bodyPr lIns="50800" tIns="50800" rIns="50800" bIns="50800" rtlCol="0" anchor="ctr"/>
              <a:lstStyle/>
              <a:p>
                <a:pPr marL="0" lvl="0" indent="0" algn="ctr">
                  <a:lnSpc>
                    <a:spcPts val="3740"/>
                  </a:lnSpc>
                  <a:spcBef>
                    <a:spcPct val="0"/>
                  </a:spcBef>
                </a:pPr>
                <a:endParaRPr/>
              </a:p>
            </p:txBody>
          </p:sp>
        </p:grpSp>
        <p:sp>
          <p:nvSpPr>
            <p:cNvPr id="7" name="TextBox 7"/>
            <p:cNvSpPr txBox="1"/>
            <p:nvPr/>
          </p:nvSpPr>
          <p:spPr>
            <a:xfrm>
              <a:off x="0" y="88194"/>
              <a:ext cx="2558376" cy="342727"/>
            </a:xfrm>
            <a:prstGeom prst="rect">
              <a:avLst/>
            </a:prstGeom>
          </p:spPr>
          <p:txBody>
            <a:bodyPr lIns="0" tIns="0" rIns="0" bIns="0" rtlCol="0" anchor="t">
              <a:spAutoFit/>
            </a:bodyPr>
            <a:lstStyle/>
            <a:p>
              <a:pPr marL="0" lvl="0" indent="0" algn="ctr">
                <a:lnSpc>
                  <a:spcPts val="2238"/>
                </a:lnSpc>
              </a:pPr>
              <a:r>
                <a:rPr lang="en-US" sz="1598">
                  <a:solidFill>
                    <a:srgbClr val="FFFFFF"/>
                  </a:solidFill>
                  <a:latin typeface="Alata"/>
                  <a:ea typeface="Alata"/>
                  <a:cs typeface="Alata"/>
                  <a:sym typeface="Alata"/>
                </a:rPr>
                <a:t>ClauseGuard</a:t>
              </a:r>
            </a:p>
          </p:txBody>
        </p:sp>
      </p:grpSp>
      <p:sp>
        <p:nvSpPr>
          <p:cNvPr id="8" name="Freeform 8"/>
          <p:cNvSpPr/>
          <p:nvPr/>
        </p:nvSpPr>
        <p:spPr>
          <a:xfrm>
            <a:off x="2969525" y="2120837"/>
            <a:ext cx="12522460" cy="6045326"/>
          </a:xfrm>
          <a:custGeom>
            <a:avLst/>
            <a:gdLst/>
            <a:ahLst/>
            <a:cxnLst/>
            <a:rect l="l" t="t" r="r" b="b"/>
            <a:pathLst>
              <a:path w="12522460" h="6045326">
                <a:moveTo>
                  <a:pt x="0" y="0"/>
                </a:moveTo>
                <a:lnTo>
                  <a:pt x="12522460" y="0"/>
                </a:lnTo>
                <a:lnTo>
                  <a:pt x="12522460" y="6045326"/>
                </a:lnTo>
                <a:lnTo>
                  <a:pt x="0" y="6045326"/>
                </a:lnTo>
                <a:lnTo>
                  <a:pt x="0" y="0"/>
                </a:lnTo>
                <a:close/>
              </a:path>
            </a:pathLst>
          </a:custGeom>
          <a:blipFill>
            <a:blip r:embed="rId3"/>
            <a:stretch>
              <a:fillRect/>
            </a:stretch>
          </a:blipFill>
        </p:spPr>
      </p:sp>
      <p:sp>
        <p:nvSpPr>
          <p:cNvPr id="9" name="TextBox 9"/>
          <p:cNvSpPr txBox="1"/>
          <p:nvPr/>
        </p:nvSpPr>
        <p:spPr>
          <a:xfrm>
            <a:off x="1028700" y="361950"/>
            <a:ext cx="8202055" cy="666750"/>
          </a:xfrm>
          <a:prstGeom prst="rect">
            <a:avLst/>
          </a:prstGeom>
        </p:spPr>
        <p:txBody>
          <a:bodyPr lIns="0" tIns="0" rIns="0" bIns="0" rtlCol="0" anchor="t">
            <a:spAutoFit/>
          </a:bodyPr>
          <a:lstStyle/>
          <a:p>
            <a:pPr marL="0" lvl="0" indent="0" algn="l">
              <a:lnSpc>
                <a:spcPts val="5099"/>
              </a:lnSpc>
            </a:pPr>
            <a:r>
              <a:rPr lang="en-US" sz="4999" b="1">
                <a:solidFill>
                  <a:srgbClr val="523079"/>
                </a:solidFill>
                <a:latin typeface="Aileron Bold"/>
                <a:ea typeface="Aileron Bold"/>
                <a:cs typeface="Aileron Bold"/>
                <a:sym typeface="Aileron Bold"/>
              </a:rPr>
              <a:t>Sample Mockups - FigmaAI</a:t>
            </a:r>
          </a:p>
        </p:txBody>
      </p:sp>
      <p:sp>
        <p:nvSpPr>
          <p:cNvPr id="10" name="TextBox 10"/>
          <p:cNvSpPr txBox="1"/>
          <p:nvPr/>
        </p:nvSpPr>
        <p:spPr>
          <a:xfrm>
            <a:off x="8336898" y="8405103"/>
            <a:ext cx="1835602" cy="405765"/>
          </a:xfrm>
          <a:prstGeom prst="rect">
            <a:avLst/>
          </a:prstGeom>
        </p:spPr>
        <p:txBody>
          <a:bodyPr lIns="0" tIns="0" rIns="0" bIns="0" rtlCol="0" anchor="t">
            <a:spAutoFit/>
          </a:bodyPr>
          <a:lstStyle/>
          <a:p>
            <a:pPr algn="l">
              <a:lnSpc>
                <a:spcPts val="3359"/>
              </a:lnSpc>
            </a:pPr>
            <a:r>
              <a:rPr lang="en-US" sz="2399">
                <a:solidFill>
                  <a:srgbClr val="523079"/>
                </a:solidFill>
                <a:latin typeface="Alata"/>
                <a:ea typeface="Alata"/>
                <a:cs typeface="Alata"/>
                <a:sym typeface="Alata"/>
              </a:rPr>
              <a:t>Login Screen</a:t>
            </a:r>
          </a:p>
        </p:txBody>
      </p:sp>
      <p:sp>
        <p:nvSpPr>
          <p:cNvPr id="11" name="TextBox 11"/>
          <p:cNvSpPr txBox="1"/>
          <p:nvPr/>
        </p:nvSpPr>
        <p:spPr>
          <a:xfrm>
            <a:off x="1028700" y="1130597"/>
            <a:ext cx="4101028" cy="405765"/>
          </a:xfrm>
          <a:prstGeom prst="rect">
            <a:avLst/>
          </a:prstGeom>
        </p:spPr>
        <p:txBody>
          <a:bodyPr lIns="0" tIns="0" rIns="0" bIns="0" rtlCol="0" anchor="t">
            <a:spAutoFit/>
          </a:bodyPr>
          <a:lstStyle/>
          <a:p>
            <a:pPr algn="l">
              <a:lnSpc>
                <a:spcPts val="3359"/>
              </a:lnSpc>
            </a:pPr>
            <a:r>
              <a:rPr lang="en-US" sz="2399">
                <a:solidFill>
                  <a:srgbClr val="AFAEAE"/>
                </a:solidFill>
                <a:latin typeface="Alata"/>
                <a:ea typeface="Alata"/>
                <a:cs typeface="Alata"/>
                <a:sym typeface="Alata"/>
              </a:rPr>
              <a:t>How the website might look...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314051" y="7954774"/>
            <a:ext cx="6622338" cy="6541905"/>
          </a:xfrm>
          <a:custGeom>
            <a:avLst/>
            <a:gdLst/>
            <a:ahLst/>
            <a:cxnLst/>
            <a:rect l="l" t="t" r="r" b="b"/>
            <a:pathLst>
              <a:path w="6622338" h="6541905">
                <a:moveTo>
                  <a:pt x="0" y="0"/>
                </a:moveTo>
                <a:lnTo>
                  <a:pt x="6622338" y="0"/>
                </a:lnTo>
                <a:lnTo>
                  <a:pt x="6622338" y="6541905"/>
                </a:lnTo>
                <a:lnTo>
                  <a:pt x="0" y="6541905"/>
                </a:lnTo>
                <a:lnTo>
                  <a:pt x="0" y="0"/>
                </a:lnTo>
                <a:close/>
              </a:path>
            </a:pathLst>
          </a:custGeom>
          <a:blipFill>
            <a:blip r:embed="rId2"/>
            <a:stretch>
              <a:fillRect/>
            </a:stretch>
          </a:blipFill>
        </p:spPr>
      </p:sp>
      <p:grpSp>
        <p:nvGrpSpPr>
          <p:cNvPr id="3" name="Group 3"/>
          <p:cNvGrpSpPr/>
          <p:nvPr/>
        </p:nvGrpSpPr>
        <p:grpSpPr>
          <a:xfrm>
            <a:off x="15636231" y="447093"/>
            <a:ext cx="1918782" cy="410738"/>
            <a:chOff x="0" y="0"/>
            <a:chExt cx="2558376" cy="547651"/>
          </a:xfrm>
        </p:grpSpPr>
        <p:grpSp>
          <p:nvGrpSpPr>
            <p:cNvPr id="4" name="Group 4"/>
            <p:cNvGrpSpPr/>
            <p:nvPr/>
          </p:nvGrpSpPr>
          <p:grpSpPr>
            <a:xfrm>
              <a:off x="35321" y="0"/>
              <a:ext cx="2487735" cy="547651"/>
              <a:chOff x="0" y="0"/>
              <a:chExt cx="491404" cy="108178"/>
            </a:xfrm>
          </p:grpSpPr>
          <p:sp>
            <p:nvSpPr>
              <p:cNvPr id="5" name="Freeform 5"/>
              <p:cNvSpPr/>
              <p:nvPr/>
            </p:nvSpPr>
            <p:spPr>
              <a:xfrm>
                <a:off x="0" y="0"/>
                <a:ext cx="491405" cy="108178"/>
              </a:xfrm>
              <a:custGeom>
                <a:avLst/>
                <a:gdLst/>
                <a:ahLst/>
                <a:cxnLst/>
                <a:rect l="l" t="t" r="r" b="b"/>
                <a:pathLst>
                  <a:path w="491405" h="108178">
                    <a:moveTo>
                      <a:pt x="54089" y="0"/>
                    </a:moveTo>
                    <a:lnTo>
                      <a:pt x="437316" y="0"/>
                    </a:lnTo>
                    <a:cubicBezTo>
                      <a:pt x="451661" y="0"/>
                      <a:pt x="465419" y="5699"/>
                      <a:pt x="475562" y="15842"/>
                    </a:cubicBezTo>
                    <a:cubicBezTo>
                      <a:pt x="485706" y="25986"/>
                      <a:pt x="491405" y="39744"/>
                      <a:pt x="491405" y="54089"/>
                    </a:cubicBezTo>
                    <a:lnTo>
                      <a:pt x="491405" y="54089"/>
                    </a:lnTo>
                    <a:cubicBezTo>
                      <a:pt x="491405" y="68434"/>
                      <a:pt x="485706" y="82192"/>
                      <a:pt x="475562" y="92336"/>
                    </a:cubicBezTo>
                    <a:cubicBezTo>
                      <a:pt x="465419" y="102479"/>
                      <a:pt x="451661" y="108178"/>
                      <a:pt x="437316" y="108178"/>
                    </a:cubicBezTo>
                    <a:lnTo>
                      <a:pt x="54089" y="108178"/>
                    </a:lnTo>
                    <a:cubicBezTo>
                      <a:pt x="39744" y="108178"/>
                      <a:pt x="25986" y="102479"/>
                      <a:pt x="15842" y="92336"/>
                    </a:cubicBezTo>
                    <a:cubicBezTo>
                      <a:pt x="5699" y="82192"/>
                      <a:pt x="0" y="68434"/>
                      <a:pt x="0" y="54089"/>
                    </a:cubicBezTo>
                    <a:lnTo>
                      <a:pt x="0" y="54089"/>
                    </a:lnTo>
                    <a:cubicBezTo>
                      <a:pt x="0" y="39744"/>
                      <a:pt x="5699" y="25986"/>
                      <a:pt x="15842" y="15842"/>
                    </a:cubicBezTo>
                    <a:cubicBezTo>
                      <a:pt x="25986" y="5699"/>
                      <a:pt x="39744" y="0"/>
                      <a:pt x="54089" y="0"/>
                    </a:cubicBezTo>
                    <a:close/>
                  </a:path>
                </a:pathLst>
              </a:custGeom>
              <a:gradFill rotWithShape="1">
                <a:gsLst>
                  <a:gs pos="0">
                    <a:srgbClr val="11145B">
                      <a:alpha val="100000"/>
                    </a:srgbClr>
                  </a:gs>
                  <a:gs pos="100000">
                    <a:srgbClr val="A1529C">
                      <a:alpha val="100000"/>
                    </a:srgbClr>
                  </a:gs>
                </a:gsLst>
                <a:path path="circle">
                  <a:fillToRect r="100000" b="100000"/>
                </a:path>
                <a:tileRect l="-100000" t="-100000"/>
              </a:gradFill>
              <a:ln cap="rnd">
                <a:noFill/>
                <a:prstDash val="solid"/>
                <a:round/>
              </a:ln>
            </p:spPr>
          </p:sp>
          <p:sp>
            <p:nvSpPr>
              <p:cNvPr id="6" name="TextBox 6"/>
              <p:cNvSpPr txBox="1"/>
              <p:nvPr/>
            </p:nvSpPr>
            <p:spPr>
              <a:xfrm>
                <a:off x="0" y="-47625"/>
                <a:ext cx="491404" cy="155803"/>
              </a:xfrm>
              <a:prstGeom prst="rect">
                <a:avLst/>
              </a:prstGeom>
            </p:spPr>
            <p:txBody>
              <a:bodyPr lIns="50800" tIns="50800" rIns="50800" bIns="50800" rtlCol="0" anchor="ctr"/>
              <a:lstStyle/>
              <a:p>
                <a:pPr marL="0" lvl="0" indent="0" algn="ctr">
                  <a:lnSpc>
                    <a:spcPts val="3740"/>
                  </a:lnSpc>
                  <a:spcBef>
                    <a:spcPct val="0"/>
                  </a:spcBef>
                </a:pPr>
                <a:endParaRPr/>
              </a:p>
            </p:txBody>
          </p:sp>
        </p:grpSp>
        <p:sp>
          <p:nvSpPr>
            <p:cNvPr id="7" name="TextBox 7"/>
            <p:cNvSpPr txBox="1"/>
            <p:nvPr/>
          </p:nvSpPr>
          <p:spPr>
            <a:xfrm>
              <a:off x="0" y="88194"/>
              <a:ext cx="2558376" cy="342727"/>
            </a:xfrm>
            <a:prstGeom prst="rect">
              <a:avLst/>
            </a:prstGeom>
          </p:spPr>
          <p:txBody>
            <a:bodyPr lIns="0" tIns="0" rIns="0" bIns="0" rtlCol="0" anchor="t">
              <a:spAutoFit/>
            </a:bodyPr>
            <a:lstStyle/>
            <a:p>
              <a:pPr marL="0" lvl="0" indent="0" algn="ctr">
                <a:lnSpc>
                  <a:spcPts val="2238"/>
                </a:lnSpc>
              </a:pPr>
              <a:r>
                <a:rPr lang="en-US" sz="1598">
                  <a:solidFill>
                    <a:srgbClr val="FFFFFF"/>
                  </a:solidFill>
                  <a:latin typeface="Alata"/>
                  <a:ea typeface="Alata"/>
                  <a:cs typeface="Alata"/>
                  <a:sym typeface="Alata"/>
                </a:rPr>
                <a:t>ClauseGuard</a:t>
              </a:r>
            </a:p>
          </p:txBody>
        </p:sp>
      </p:grpSp>
      <p:sp>
        <p:nvSpPr>
          <p:cNvPr id="8" name="TextBox 8"/>
          <p:cNvSpPr txBox="1"/>
          <p:nvPr/>
        </p:nvSpPr>
        <p:spPr>
          <a:xfrm>
            <a:off x="1028700" y="361950"/>
            <a:ext cx="8202055" cy="666750"/>
          </a:xfrm>
          <a:prstGeom prst="rect">
            <a:avLst/>
          </a:prstGeom>
        </p:spPr>
        <p:txBody>
          <a:bodyPr lIns="0" tIns="0" rIns="0" bIns="0" rtlCol="0" anchor="t">
            <a:spAutoFit/>
          </a:bodyPr>
          <a:lstStyle/>
          <a:p>
            <a:pPr marL="0" lvl="0" indent="0" algn="l">
              <a:lnSpc>
                <a:spcPts val="5099"/>
              </a:lnSpc>
            </a:pPr>
            <a:r>
              <a:rPr lang="en-US" sz="4999" b="1">
                <a:solidFill>
                  <a:srgbClr val="523079"/>
                </a:solidFill>
                <a:latin typeface="Aileron Bold"/>
                <a:ea typeface="Aileron Bold"/>
                <a:cs typeface="Aileron Bold"/>
                <a:sym typeface="Aileron Bold"/>
              </a:rPr>
              <a:t>Sample Mockups - FigmaAI</a:t>
            </a:r>
          </a:p>
        </p:txBody>
      </p:sp>
      <p:sp>
        <p:nvSpPr>
          <p:cNvPr id="9" name="Freeform 9"/>
          <p:cNvSpPr/>
          <p:nvPr/>
        </p:nvSpPr>
        <p:spPr>
          <a:xfrm>
            <a:off x="1413192" y="1334142"/>
            <a:ext cx="15700370" cy="7800263"/>
          </a:xfrm>
          <a:custGeom>
            <a:avLst/>
            <a:gdLst/>
            <a:ahLst/>
            <a:cxnLst/>
            <a:rect l="l" t="t" r="r" b="b"/>
            <a:pathLst>
              <a:path w="15700370" h="7800263">
                <a:moveTo>
                  <a:pt x="0" y="0"/>
                </a:moveTo>
                <a:lnTo>
                  <a:pt x="15700369" y="0"/>
                </a:lnTo>
                <a:lnTo>
                  <a:pt x="15700369" y="7800264"/>
                </a:lnTo>
                <a:lnTo>
                  <a:pt x="0" y="7800264"/>
                </a:lnTo>
                <a:lnTo>
                  <a:pt x="0" y="0"/>
                </a:lnTo>
                <a:close/>
              </a:path>
            </a:pathLst>
          </a:custGeom>
          <a:blipFill>
            <a:blip r:embed="rId3"/>
            <a:stretch>
              <a:fillRect/>
            </a:stretch>
          </a:blipFill>
        </p:spPr>
      </p:sp>
      <p:sp>
        <p:nvSpPr>
          <p:cNvPr id="10" name="TextBox 10"/>
          <p:cNvSpPr txBox="1"/>
          <p:nvPr/>
        </p:nvSpPr>
        <p:spPr>
          <a:xfrm>
            <a:off x="8234876" y="9391581"/>
            <a:ext cx="2057001" cy="422275"/>
          </a:xfrm>
          <a:prstGeom prst="rect">
            <a:avLst/>
          </a:prstGeom>
        </p:spPr>
        <p:txBody>
          <a:bodyPr lIns="0" tIns="0" rIns="0" bIns="0" rtlCol="0" anchor="t">
            <a:spAutoFit/>
          </a:bodyPr>
          <a:lstStyle/>
          <a:p>
            <a:pPr algn="l">
              <a:lnSpc>
                <a:spcPts val="3499"/>
              </a:lnSpc>
            </a:pPr>
            <a:r>
              <a:rPr lang="en-US" sz="2499">
                <a:solidFill>
                  <a:srgbClr val="523079"/>
                </a:solidFill>
                <a:latin typeface="Alata"/>
                <a:ea typeface="Alata"/>
                <a:cs typeface="Alata"/>
                <a:sym typeface="Alata"/>
              </a:rPr>
              <a:t>Dashboard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314051" y="7954774"/>
            <a:ext cx="6622338" cy="6541905"/>
          </a:xfrm>
          <a:custGeom>
            <a:avLst/>
            <a:gdLst/>
            <a:ahLst/>
            <a:cxnLst/>
            <a:rect l="l" t="t" r="r" b="b"/>
            <a:pathLst>
              <a:path w="6622338" h="6541905">
                <a:moveTo>
                  <a:pt x="0" y="0"/>
                </a:moveTo>
                <a:lnTo>
                  <a:pt x="6622338" y="0"/>
                </a:lnTo>
                <a:lnTo>
                  <a:pt x="6622338" y="6541905"/>
                </a:lnTo>
                <a:lnTo>
                  <a:pt x="0" y="6541905"/>
                </a:lnTo>
                <a:lnTo>
                  <a:pt x="0" y="0"/>
                </a:lnTo>
                <a:close/>
              </a:path>
            </a:pathLst>
          </a:custGeom>
          <a:blipFill>
            <a:blip r:embed="rId2"/>
            <a:stretch>
              <a:fillRect/>
            </a:stretch>
          </a:blipFill>
        </p:spPr>
      </p:sp>
      <p:grpSp>
        <p:nvGrpSpPr>
          <p:cNvPr id="3" name="Group 3"/>
          <p:cNvGrpSpPr/>
          <p:nvPr/>
        </p:nvGrpSpPr>
        <p:grpSpPr>
          <a:xfrm>
            <a:off x="15636231" y="373751"/>
            <a:ext cx="1918782" cy="410738"/>
            <a:chOff x="0" y="0"/>
            <a:chExt cx="2558376" cy="547651"/>
          </a:xfrm>
        </p:grpSpPr>
        <p:grpSp>
          <p:nvGrpSpPr>
            <p:cNvPr id="4" name="Group 4"/>
            <p:cNvGrpSpPr/>
            <p:nvPr/>
          </p:nvGrpSpPr>
          <p:grpSpPr>
            <a:xfrm>
              <a:off x="35321" y="0"/>
              <a:ext cx="2487735" cy="547651"/>
              <a:chOff x="0" y="0"/>
              <a:chExt cx="491404" cy="108178"/>
            </a:xfrm>
          </p:grpSpPr>
          <p:sp>
            <p:nvSpPr>
              <p:cNvPr id="5" name="Freeform 5"/>
              <p:cNvSpPr/>
              <p:nvPr/>
            </p:nvSpPr>
            <p:spPr>
              <a:xfrm>
                <a:off x="0" y="0"/>
                <a:ext cx="491405" cy="108178"/>
              </a:xfrm>
              <a:custGeom>
                <a:avLst/>
                <a:gdLst/>
                <a:ahLst/>
                <a:cxnLst/>
                <a:rect l="l" t="t" r="r" b="b"/>
                <a:pathLst>
                  <a:path w="491405" h="108178">
                    <a:moveTo>
                      <a:pt x="54089" y="0"/>
                    </a:moveTo>
                    <a:lnTo>
                      <a:pt x="437316" y="0"/>
                    </a:lnTo>
                    <a:cubicBezTo>
                      <a:pt x="451661" y="0"/>
                      <a:pt x="465419" y="5699"/>
                      <a:pt x="475562" y="15842"/>
                    </a:cubicBezTo>
                    <a:cubicBezTo>
                      <a:pt x="485706" y="25986"/>
                      <a:pt x="491405" y="39744"/>
                      <a:pt x="491405" y="54089"/>
                    </a:cubicBezTo>
                    <a:lnTo>
                      <a:pt x="491405" y="54089"/>
                    </a:lnTo>
                    <a:cubicBezTo>
                      <a:pt x="491405" y="68434"/>
                      <a:pt x="485706" y="82192"/>
                      <a:pt x="475562" y="92336"/>
                    </a:cubicBezTo>
                    <a:cubicBezTo>
                      <a:pt x="465419" y="102479"/>
                      <a:pt x="451661" y="108178"/>
                      <a:pt x="437316" y="108178"/>
                    </a:cubicBezTo>
                    <a:lnTo>
                      <a:pt x="54089" y="108178"/>
                    </a:lnTo>
                    <a:cubicBezTo>
                      <a:pt x="39744" y="108178"/>
                      <a:pt x="25986" y="102479"/>
                      <a:pt x="15842" y="92336"/>
                    </a:cubicBezTo>
                    <a:cubicBezTo>
                      <a:pt x="5699" y="82192"/>
                      <a:pt x="0" y="68434"/>
                      <a:pt x="0" y="54089"/>
                    </a:cubicBezTo>
                    <a:lnTo>
                      <a:pt x="0" y="54089"/>
                    </a:lnTo>
                    <a:cubicBezTo>
                      <a:pt x="0" y="39744"/>
                      <a:pt x="5699" y="25986"/>
                      <a:pt x="15842" y="15842"/>
                    </a:cubicBezTo>
                    <a:cubicBezTo>
                      <a:pt x="25986" y="5699"/>
                      <a:pt x="39744" y="0"/>
                      <a:pt x="54089" y="0"/>
                    </a:cubicBezTo>
                    <a:close/>
                  </a:path>
                </a:pathLst>
              </a:custGeom>
              <a:gradFill rotWithShape="1">
                <a:gsLst>
                  <a:gs pos="0">
                    <a:srgbClr val="11145B">
                      <a:alpha val="100000"/>
                    </a:srgbClr>
                  </a:gs>
                  <a:gs pos="100000">
                    <a:srgbClr val="A1529C">
                      <a:alpha val="100000"/>
                    </a:srgbClr>
                  </a:gs>
                </a:gsLst>
                <a:path path="circle">
                  <a:fillToRect r="100000" b="100000"/>
                </a:path>
                <a:tileRect l="-100000" t="-100000"/>
              </a:gradFill>
              <a:ln cap="rnd">
                <a:noFill/>
                <a:prstDash val="solid"/>
                <a:round/>
              </a:ln>
            </p:spPr>
          </p:sp>
          <p:sp>
            <p:nvSpPr>
              <p:cNvPr id="6" name="TextBox 6"/>
              <p:cNvSpPr txBox="1"/>
              <p:nvPr/>
            </p:nvSpPr>
            <p:spPr>
              <a:xfrm>
                <a:off x="0" y="-47625"/>
                <a:ext cx="491404" cy="155803"/>
              </a:xfrm>
              <a:prstGeom prst="rect">
                <a:avLst/>
              </a:prstGeom>
            </p:spPr>
            <p:txBody>
              <a:bodyPr lIns="50800" tIns="50800" rIns="50800" bIns="50800" rtlCol="0" anchor="ctr"/>
              <a:lstStyle/>
              <a:p>
                <a:pPr marL="0" lvl="0" indent="0" algn="ctr">
                  <a:lnSpc>
                    <a:spcPts val="3740"/>
                  </a:lnSpc>
                  <a:spcBef>
                    <a:spcPct val="0"/>
                  </a:spcBef>
                </a:pPr>
                <a:endParaRPr/>
              </a:p>
            </p:txBody>
          </p:sp>
        </p:grpSp>
        <p:sp>
          <p:nvSpPr>
            <p:cNvPr id="7" name="TextBox 7"/>
            <p:cNvSpPr txBox="1"/>
            <p:nvPr/>
          </p:nvSpPr>
          <p:spPr>
            <a:xfrm>
              <a:off x="0" y="88194"/>
              <a:ext cx="2558376" cy="342727"/>
            </a:xfrm>
            <a:prstGeom prst="rect">
              <a:avLst/>
            </a:prstGeom>
          </p:spPr>
          <p:txBody>
            <a:bodyPr lIns="0" tIns="0" rIns="0" bIns="0" rtlCol="0" anchor="t">
              <a:spAutoFit/>
            </a:bodyPr>
            <a:lstStyle/>
            <a:p>
              <a:pPr marL="0" lvl="0" indent="0" algn="ctr">
                <a:lnSpc>
                  <a:spcPts val="2238"/>
                </a:lnSpc>
              </a:pPr>
              <a:r>
                <a:rPr lang="en-US" sz="1598">
                  <a:solidFill>
                    <a:srgbClr val="FFFFFF"/>
                  </a:solidFill>
                  <a:latin typeface="Alata"/>
                  <a:ea typeface="Alata"/>
                  <a:cs typeface="Alata"/>
                  <a:sym typeface="Alata"/>
                </a:rPr>
                <a:t>ClauseGuard</a:t>
              </a:r>
            </a:p>
          </p:txBody>
        </p:sp>
      </p:grpSp>
      <p:sp>
        <p:nvSpPr>
          <p:cNvPr id="8" name="Freeform 8"/>
          <p:cNvSpPr/>
          <p:nvPr/>
        </p:nvSpPr>
        <p:spPr>
          <a:xfrm>
            <a:off x="2167753" y="1307639"/>
            <a:ext cx="14427870" cy="7043527"/>
          </a:xfrm>
          <a:custGeom>
            <a:avLst/>
            <a:gdLst/>
            <a:ahLst/>
            <a:cxnLst/>
            <a:rect l="l" t="t" r="r" b="b"/>
            <a:pathLst>
              <a:path w="14427870" h="7043527">
                <a:moveTo>
                  <a:pt x="0" y="0"/>
                </a:moveTo>
                <a:lnTo>
                  <a:pt x="14427870" y="0"/>
                </a:lnTo>
                <a:lnTo>
                  <a:pt x="14427870" y="7043527"/>
                </a:lnTo>
                <a:lnTo>
                  <a:pt x="0" y="7043527"/>
                </a:lnTo>
                <a:lnTo>
                  <a:pt x="0" y="0"/>
                </a:lnTo>
                <a:close/>
              </a:path>
            </a:pathLst>
          </a:custGeom>
          <a:blipFill>
            <a:blip r:embed="rId3"/>
            <a:stretch>
              <a:fillRect/>
            </a:stretch>
          </a:blipFill>
        </p:spPr>
      </p:sp>
      <p:sp>
        <p:nvSpPr>
          <p:cNvPr id="9" name="TextBox 9"/>
          <p:cNvSpPr txBox="1"/>
          <p:nvPr/>
        </p:nvSpPr>
        <p:spPr>
          <a:xfrm>
            <a:off x="1028700" y="342900"/>
            <a:ext cx="6652267" cy="539115"/>
          </a:xfrm>
          <a:prstGeom prst="rect">
            <a:avLst/>
          </a:prstGeom>
        </p:spPr>
        <p:txBody>
          <a:bodyPr lIns="0" tIns="0" rIns="0" bIns="0" rtlCol="0" anchor="t">
            <a:spAutoFit/>
          </a:bodyPr>
          <a:lstStyle/>
          <a:p>
            <a:pPr marL="0" lvl="0" indent="0" algn="l">
              <a:lnSpc>
                <a:spcPts val="4080"/>
              </a:lnSpc>
            </a:pPr>
            <a:r>
              <a:rPr lang="en-US" sz="4000" b="1">
                <a:solidFill>
                  <a:srgbClr val="523079"/>
                </a:solidFill>
                <a:latin typeface="Aileron Bold"/>
                <a:ea typeface="Aileron Bold"/>
                <a:cs typeface="Aileron Bold"/>
                <a:sym typeface="Aileron Bold"/>
              </a:rPr>
              <a:t>Sample Mockups - FigmaAI</a:t>
            </a:r>
          </a:p>
        </p:txBody>
      </p:sp>
      <p:sp>
        <p:nvSpPr>
          <p:cNvPr id="10" name="TextBox 10"/>
          <p:cNvSpPr txBox="1"/>
          <p:nvPr/>
        </p:nvSpPr>
        <p:spPr>
          <a:xfrm>
            <a:off x="8353187" y="8836025"/>
            <a:ext cx="2057001" cy="422275"/>
          </a:xfrm>
          <a:prstGeom prst="rect">
            <a:avLst/>
          </a:prstGeom>
        </p:spPr>
        <p:txBody>
          <a:bodyPr lIns="0" tIns="0" rIns="0" bIns="0" rtlCol="0" anchor="t">
            <a:spAutoFit/>
          </a:bodyPr>
          <a:lstStyle/>
          <a:p>
            <a:pPr algn="l">
              <a:lnSpc>
                <a:spcPts val="3499"/>
              </a:lnSpc>
            </a:pPr>
            <a:r>
              <a:rPr lang="en-US" sz="2499">
                <a:solidFill>
                  <a:srgbClr val="523079"/>
                </a:solidFill>
                <a:latin typeface="Alata"/>
                <a:ea typeface="Alata"/>
                <a:cs typeface="Alata"/>
                <a:sym typeface="Alata"/>
              </a:rPr>
              <a:t>Upload Lease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3314051" y="7954774"/>
            <a:ext cx="6622338" cy="6541905"/>
          </a:xfrm>
          <a:custGeom>
            <a:avLst/>
            <a:gdLst/>
            <a:ahLst/>
            <a:cxnLst/>
            <a:rect l="l" t="t" r="r" b="b"/>
            <a:pathLst>
              <a:path w="6622338" h="6541905">
                <a:moveTo>
                  <a:pt x="0" y="0"/>
                </a:moveTo>
                <a:lnTo>
                  <a:pt x="6622338" y="0"/>
                </a:lnTo>
                <a:lnTo>
                  <a:pt x="6622338" y="6541905"/>
                </a:lnTo>
                <a:lnTo>
                  <a:pt x="0" y="6541905"/>
                </a:lnTo>
                <a:lnTo>
                  <a:pt x="0" y="0"/>
                </a:lnTo>
                <a:close/>
              </a:path>
            </a:pathLst>
          </a:custGeom>
          <a:blipFill>
            <a:blip r:embed="rId2"/>
            <a:stretch>
              <a:fillRect/>
            </a:stretch>
          </a:blipFill>
        </p:spPr>
      </p:sp>
      <p:grpSp>
        <p:nvGrpSpPr>
          <p:cNvPr id="3" name="Group 3"/>
          <p:cNvGrpSpPr/>
          <p:nvPr/>
        </p:nvGrpSpPr>
        <p:grpSpPr>
          <a:xfrm>
            <a:off x="15636231" y="373751"/>
            <a:ext cx="1918782" cy="410738"/>
            <a:chOff x="0" y="0"/>
            <a:chExt cx="2558376" cy="547651"/>
          </a:xfrm>
        </p:grpSpPr>
        <p:grpSp>
          <p:nvGrpSpPr>
            <p:cNvPr id="4" name="Group 4"/>
            <p:cNvGrpSpPr/>
            <p:nvPr/>
          </p:nvGrpSpPr>
          <p:grpSpPr>
            <a:xfrm>
              <a:off x="35321" y="0"/>
              <a:ext cx="2487735" cy="547651"/>
              <a:chOff x="0" y="0"/>
              <a:chExt cx="491404" cy="108178"/>
            </a:xfrm>
          </p:grpSpPr>
          <p:sp>
            <p:nvSpPr>
              <p:cNvPr id="5" name="Freeform 5"/>
              <p:cNvSpPr/>
              <p:nvPr/>
            </p:nvSpPr>
            <p:spPr>
              <a:xfrm>
                <a:off x="0" y="0"/>
                <a:ext cx="491405" cy="108178"/>
              </a:xfrm>
              <a:custGeom>
                <a:avLst/>
                <a:gdLst/>
                <a:ahLst/>
                <a:cxnLst/>
                <a:rect l="l" t="t" r="r" b="b"/>
                <a:pathLst>
                  <a:path w="491405" h="108178">
                    <a:moveTo>
                      <a:pt x="54089" y="0"/>
                    </a:moveTo>
                    <a:lnTo>
                      <a:pt x="437316" y="0"/>
                    </a:lnTo>
                    <a:cubicBezTo>
                      <a:pt x="451661" y="0"/>
                      <a:pt x="465419" y="5699"/>
                      <a:pt x="475562" y="15842"/>
                    </a:cubicBezTo>
                    <a:cubicBezTo>
                      <a:pt x="485706" y="25986"/>
                      <a:pt x="491405" y="39744"/>
                      <a:pt x="491405" y="54089"/>
                    </a:cubicBezTo>
                    <a:lnTo>
                      <a:pt x="491405" y="54089"/>
                    </a:lnTo>
                    <a:cubicBezTo>
                      <a:pt x="491405" y="68434"/>
                      <a:pt x="485706" y="82192"/>
                      <a:pt x="475562" y="92336"/>
                    </a:cubicBezTo>
                    <a:cubicBezTo>
                      <a:pt x="465419" y="102479"/>
                      <a:pt x="451661" y="108178"/>
                      <a:pt x="437316" y="108178"/>
                    </a:cubicBezTo>
                    <a:lnTo>
                      <a:pt x="54089" y="108178"/>
                    </a:lnTo>
                    <a:cubicBezTo>
                      <a:pt x="39744" y="108178"/>
                      <a:pt x="25986" y="102479"/>
                      <a:pt x="15842" y="92336"/>
                    </a:cubicBezTo>
                    <a:cubicBezTo>
                      <a:pt x="5699" y="82192"/>
                      <a:pt x="0" y="68434"/>
                      <a:pt x="0" y="54089"/>
                    </a:cubicBezTo>
                    <a:lnTo>
                      <a:pt x="0" y="54089"/>
                    </a:lnTo>
                    <a:cubicBezTo>
                      <a:pt x="0" y="39744"/>
                      <a:pt x="5699" y="25986"/>
                      <a:pt x="15842" y="15842"/>
                    </a:cubicBezTo>
                    <a:cubicBezTo>
                      <a:pt x="25986" y="5699"/>
                      <a:pt x="39744" y="0"/>
                      <a:pt x="54089" y="0"/>
                    </a:cubicBezTo>
                    <a:close/>
                  </a:path>
                </a:pathLst>
              </a:custGeom>
              <a:gradFill rotWithShape="1">
                <a:gsLst>
                  <a:gs pos="0">
                    <a:srgbClr val="11145B">
                      <a:alpha val="100000"/>
                    </a:srgbClr>
                  </a:gs>
                  <a:gs pos="100000">
                    <a:srgbClr val="A1529C">
                      <a:alpha val="100000"/>
                    </a:srgbClr>
                  </a:gs>
                </a:gsLst>
                <a:path path="circle">
                  <a:fillToRect r="100000" b="100000"/>
                </a:path>
                <a:tileRect l="-100000" t="-100000"/>
              </a:gradFill>
              <a:ln cap="rnd">
                <a:noFill/>
                <a:prstDash val="solid"/>
                <a:round/>
              </a:ln>
            </p:spPr>
          </p:sp>
          <p:sp>
            <p:nvSpPr>
              <p:cNvPr id="6" name="TextBox 6"/>
              <p:cNvSpPr txBox="1"/>
              <p:nvPr/>
            </p:nvSpPr>
            <p:spPr>
              <a:xfrm>
                <a:off x="0" y="-47625"/>
                <a:ext cx="491404" cy="155803"/>
              </a:xfrm>
              <a:prstGeom prst="rect">
                <a:avLst/>
              </a:prstGeom>
            </p:spPr>
            <p:txBody>
              <a:bodyPr lIns="50800" tIns="50800" rIns="50800" bIns="50800" rtlCol="0" anchor="ctr"/>
              <a:lstStyle/>
              <a:p>
                <a:pPr marL="0" lvl="0" indent="0" algn="ctr">
                  <a:lnSpc>
                    <a:spcPts val="3740"/>
                  </a:lnSpc>
                  <a:spcBef>
                    <a:spcPct val="0"/>
                  </a:spcBef>
                </a:pPr>
                <a:endParaRPr/>
              </a:p>
            </p:txBody>
          </p:sp>
        </p:grpSp>
        <p:sp>
          <p:nvSpPr>
            <p:cNvPr id="7" name="TextBox 7"/>
            <p:cNvSpPr txBox="1"/>
            <p:nvPr/>
          </p:nvSpPr>
          <p:spPr>
            <a:xfrm>
              <a:off x="0" y="88194"/>
              <a:ext cx="2558376" cy="342727"/>
            </a:xfrm>
            <a:prstGeom prst="rect">
              <a:avLst/>
            </a:prstGeom>
          </p:spPr>
          <p:txBody>
            <a:bodyPr lIns="0" tIns="0" rIns="0" bIns="0" rtlCol="0" anchor="t">
              <a:spAutoFit/>
            </a:bodyPr>
            <a:lstStyle/>
            <a:p>
              <a:pPr marL="0" lvl="0" indent="0" algn="ctr">
                <a:lnSpc>
                  <a:spcPts val="2238"/>
                </a:lnSpc>
              </a:pPr>
              <a:r>
                <a:rPr lang="en-US" sz="1598">
                  <a:solidFill>
                    <a:srgbClr val="FFFFFF"/>
                  </a:solidFill>
                  <a:latin typeface="Alata"/>
                  <a:ea typeface="Alata"/>
                  <a:cs typeface="Alata"/>
                  <a:sym typeface="Alata"/>
                </a:rPr>
                <a:t>ClauseGuard</a:t>
              </a:r>
            </a:p>
          </p:txBody>
        </p:sp>
      </p:grpSp>
      <p:sp>
        <p:nvSpPr>
          <p:cNvPr id="8" name="TextBox 8"/>
          <p:cNvSpPr txBox="1"/>
          <p:nvPr/>
        </p:nvSpPr>
        <p:spPr>
          <a:xfrm>
            <a:off x="1028700" y="342900"/>
            <a:ext cx="6652267" cy="539115"/>
          </a:xfrm>
          <a:prstGeom prst="rect">
            <a:avLst/>
          </a:prstGeom>
        </p:spPr>
        <p:txBody>
          <a:bodyPr lIns="0" tIns="0" rIns="0" bIns="0" rtlCol="0" anchor="t">
            <a:spAutoFit/>
          </a:bodyPr>
          <a:lstStyle/>
          <a:p>
            <a:pPr marL="0" lvl="0" indent="0" algn="l">
              <a:lnSpc>
                <a:spcPts val="4080"/>
              </a:lnSpc>
            </a:pPr>
            <a:r>
              <a:rPr lang="en-US" sz="4000" b="1">
                <a:solidFill>
                  <a:srgbClr val="523079"/>
                </a:solidFill>
                <a:latin typeface="Aileron Bold"/>
                <a:ea typeface="Aileron Bold"/>
                <a:cs typeface="Aileron Bold"/>
                <a:sym typeface="Aileron Bold"/>
              </a:rPr>
              <a:t>Sample Mockups - FigmaAI</a:t>
            </a:r>
          </a:p>
        </p:txBody>
      </p:sp>
      <p:sp>
        <p:nvSpPr>
          <p:cNvPr id="9" name="Freeform 9"/>
          <p:cNvSpPr/>
          <p:nvPr/>
        </p:nvSpPr>
        <p:spPr>
          <a:xfrm>
            <a:off x="1277352" y="1324736"/>
            <a:ext cx="15318270" cy="7720506"/>
          </a:xfrm>
          <a:custGeom>
            <a:avLst/>
            <a:gdLst/>
            <a:ahLst/>
            <a:cxnLst/>
            <a:rect l="l" t="t" r="r" b="b"/>
            <a:pathLst>
              <a:path w="15318270" h="7720506">
                <a:moveTo>
                  <a:pt x="0" y="0"/>
                </a:moveTo>
                <a:lnTo>
                  <a:pt x="15318271" y="0"/>
                </a:lnTo>
                <a:lnTo>
                  <a:pt x="15318271" y="7720507"/>
                </a:lnTo>
                <a:lnTo>
                  <a:pt x="0" y="7720507"/>
                </a:lnTo>
                <a:lnTo>
                  <a:pt x="0" y="0"/>
                </a:lnTo>
                <a:close/>
              </a:path>
            </a:pathLst>
          </a:custGeom>
          <a:blipFill>
            <a:blip r:embed="rId3"/>
            <a:stretch>
              <a:fillRect/>
            </a:stretch>
          </a:blipFill>
        </p:spPr>
      </p:sp>
      <p:sp>
        <p:nvSpPr>
          <p:cNvPr id="10" name="TextBox 10"/>
          <p:cNvSpPr txBox="1"/>
          <p:nvPr/>
        </p:nvSpPr>
        <p:spPr>
          <a:xfrm>
            <a:off x="7535636" y="9435768"/>
            <a:ext cx="2801704" cy="422275"/>
          </a:xfrm>
          <a:prstGeom prst="rect">
            <a:avLst/>
          </a:prstGeom>
        </p:spPr>
        <p:txBody>
          <a:bodyPr lIns="0" tIns="0" rIns="0" bIns="0" rtlCol="0" anchor="t">
            <a:spAutoFit/>
          </a:bodyPr>
          <a:lstStyle/>
          <a:p>
            <a:pPr algn="l">
              <a:lnSpc>
                <a:spcPts val="3499"/>
              </a:lnSpc>
            </a:pPr>
            <a:r>
              <a:rPr lang="en-US" sz="2499">
                <a:solidFill>
                  <a:srgbClr val="523079"/>
                </a:solidFill>
                <a:latin typeface="Alata"/>
                <a:ea typeface="Alata"/>
                <a:cs typeface="Alata"/>
                <a:sym typeface="Alata"/>
              </a:rPr>
              <a:t>Lease Review Page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19200" y="1266825"/>
            <a:ext cx="8020645" cy="680085"/>
          </a:xfrm>
          <a:prstGeom prst="rect">
            <a:avLst/>
          </a:prstGeom>
        </p:spPr>
        <p:txBody>
          <a:bodyPr lIns="0" tIns="0" rIns="0" bIns="0" rtlCol="0" anchor="t">
            <a:spAutoFit/>
          </a:bodyPr>
          <a:lstStyle/>
          <a:p>
            <a:pPr algn="l">
              <a:lnSpc>
                <a:spcPts val="5280"/>
              </a:lnSpc>
            </a:pPr>
            <a:r>
              <a:rPr lang="en-US" sz="4800" b="1" dirty="0">
                <a:solidFill>
                  <a:srgbClr val="1B2233"/>
                </a:solidFill>
                <a:latin typeface="DM Sans Bold"/>
                <a:ea typeface="DM Sans Bold"/>
                <a:cs typeface="DM Sans Bold"/>
                <a:sym typeface="DM Sans Bold"/>
              </a:rPr>
              <a:t>More data, and a fairer test</a:t>
            </a:r>
          </a:p>
        </p:txBody>
      </p:sp>
      <p:sp>
        <p:nvSpPr>
          <p:cNvPr id="3" name="TextBox 3"/>
          <p:cNvSpPr txBox="1"/>
          <p:nvPr/>
        </p:nvSpPr>
        <p:spPr>
          <a:xfrm>
            <a:off x="1219200" y="1994449"/>
            <a:ext cx="16325088" cy="390525"/>
          </a:xfrm>
          <a:prstGeom prst="rect">
            <a:avLst/>
          </a:prstGeom>
        </p:spPr>
        <p:txBody>
          <a:bodyPr lIns="0" tIns="0" rIns="0" bIns="0" rtlCol="0" anchor="t">
            <a:spAutoFit/>
          </a:bodyPr>
          <a:lstStyle/>
          <a:p>
            <a:pPr algn="l">
              <a:lnSpc>
                <a:spcPts val="3149"/>
              </a:lnSpc>
            </a:pPr>
            <a:r>
              <a:rPr lang="en-US" sz="2250" dirty="0">
                <a:solidFill>
                  <a:srgbClr val="5B6475"/>
                </a:solidFill>
                <a:latin typeface="DM Sans"/>
                <a:ea typeface="DM Sans"/>
                <a:cs typeface="DM Sans"/>
                <a:sym typeface="DM Sans"/>
              </a:rPr>
              <a:t>A second model, comparison on actual lease</a:t>
            </a:r>
          </a:p>
        </p:txBody>
      </p:sp>
      <p:grpSp>
        <p:nvGrpSpPr>
          <p:cNvPr id="4" name="Group 4"/>
          <p:cNvGrpSpPr/>
          <p:nvPr/>
        </p:nvGrpSpPr>
        <p:grpSpPr>
          <a:xfrm>
            <a:off x="1219200" y="3238500"/>
            <a:ext cx="5079949" cy="4114800"/>
            <a:chOff x="0" y="0"/>
            <a:chExt cx="6773266" cy="5486400"/>
          </a:xfrm>
        </p:grpSpPr>
        <p:sp>
          <p:nvSpPr>
            <p:cNvPr id="5" name="Freeform 5"/>
            <p:cNvSpPr/>
            <p:nvPr/>
          </p:nvSpPr>
          <p:spPr>
            <a:xfrm>
              <a:off x="0" y="0"/>
              <a:ext cx="6773164" cy="5486400"/>
            </a:xfrm>
            <a:custGeom>
              <a:avLst/>
              <a:gdLst/>
              <a:ahLst/>
              <a:cxnLst/>
              <a:rect l="l" t="t" r="r" b="b"/>
              <a:pathLst>
                <a:path w="6773164" h="5486400">
                  <a:moveTo>
                    <a:pt x="0" y="197231"/>
                  </a:moveTo>
                  <a:cubicBezTo>
                    <a:pt x="0" y="88392"/>
                    <a:pt x="88392" y="0"/>
                    <a:pt x="197231" y="0"/>
                  </a:cubicBezTo>
                  <a:lnTo>
                    <a:pt x="6575933" y="0"/>
                  </a:lnTo>
                  <a:cubicBezTo>
                    <a:pt x="6684899" y="0"/>
                    <a:pt x="6773164" y="88392"/>
                    <a:pt x="6773164" y="197231"/>
                  </a:cubicBezTo>
                  <a:lnTo>
                    <a:pt x="6773164" y="5289169"/>
                  </a:lnTo>
                  <a:cubicBezTo>
                    <a:pt x="6773164" y="5398135"/>
                    <a:pt x="6684772" y="5486400"/>
                    <a:pt x="6575933" y="5486400"/>
                  </a:cubicBezTo>
                  <a:lnTo>
                    <a:pt x="197231" y="5486400"/>
                  </a:lnTo>
                  <a:cubicBezTo>
                    <a:pt x="88392" y="5486400"/>
                    <a:pt x="0" y="5398008"/>
                    <a:pt x="0" y="5289169"/>
                  </a:cubicBezTo>
                  <a:close/>
                </a:path>
              </a:pathLst>
            </a:custGeom>
            <a:solidFill>
              <a:srgbClr val="FFFFFF"/>
            </a:solidFill>
            <a:ln w="9525" cap="sq">
              <a:solidFill>
                <a:srgbClr val="DCD9CF"/>
              </a:solidFill>
              <a:prstDash val="solid"/>
              <a:miter/>
            </a:ln>
          </p:spPr>
        </p:sp>
      </p:grpSp>
      <p:sp>
        <p:nvSpPr>
          <p:cNvPr id="6" name="TextBox 6"/>
          <p:cNvSpPr txBox="1"/>
          <p:nvPr/>
        </p:nvSpPr>
        <p:spPr>
          <a:xfrm>
            <a:off x="1609725" y="3629025"/>
            <a:ext cx="4427868" cy="449466"/>
          </a:xfrm>
          <a:prstGeom prst="rect">
            <a:avLst/>
          </a:prstGeom>
        </p:spPr>
        <p:txBody>
          <a:bodyPr lIns="0" tIns="0" rIns="0" bIns="0" rtlCol="0" anchor="t">
            <a:spAutoFit/>
          </a:bodyPr>
          <a:lstStyle/>
          <a:p>
            <a:pPr algn="l">
              <a:lnSpc>
                <a:spcPts val="3240"/>
              </a:lnSpc>
            </a:pPr>
            <a:r>
              <a:rPr lang="en-US" sz="2700" b="1">
                <a:solidFill>
                  <a:srgbClr val="1B2233"/>
                </a:solidFill>
                <a:latin typeface="DM Sans Bold"/>
                <a:ea typeface="DM Sans Bold"/>
                <a:cs typeface="DM Sans Bold"/>
                <a:sym typeface="DM Sans Bold"/>
              </a:rPr>
              <a:t>1. A second model</a:t>
            </a:r>
          </a:p>
        </p:txBody>
      </p:sp>
      <p:sp>
        <p:nvSpPr>
          <p:cNvPr id="7" name="TextBox 7"/>
          <p:cNvSpPr txBox="1"/>
          <p:nvPr/>
        </p:nvSpPr>
        <p:spPr>
          <a:xfrm>
            <a:off x="1609725" y="4145166"/>
            <a:ext cx="4427868" cy="1578769"/>
          </a:xfrm>
          <a:prstGeom prst="rect">
            <a:avLst/>
          </a:prstGeom>
        </p:spPr>
        <p:txBody>
          <a:bodyPr lIns="0" tIns="0" rIns="0" bIns="0" rtlCol="0" anchor="t">
            <a:spAutoFit/>
          </a:bodyPr>
          <a:lstStyle/>
          <a:p>
            <a:pPr algn="l">
              <a:lnSpc>
                <a:spcPts val="2940"/>
              </a:lnSpc>
            </a:pPr>
            <a:r>
              <a:rPr lang="en-US" sz="2100">
                <a:solidFill>
                  <a:srgbClr val="5B6475"/>
                </a:solidFill>
                <a:latin typeface="DM Sans"/>
                <a:ea typeface="DM Sans"/>
                <a:cs typeface="DM Sans"/>
                <a:sym typeface="DM Sans"/>
              </a:rPr>
              <a:t>Trained on 500 Irish Acts, the Residential Tenancies Act 2004 and a 10,000-clause LEDGAR sample</a:t>
            </a:r>
          </a:p>
        </p:txBody>
      </p:sp>
      <p:sp>
        <p:nvSpPr>
          <p:cNvPr id="8" name="TextBox 8"/>
          <p:cNvSpPr txBox="1"/>
          <p:nvPr/>
        </p:nvSpPr>
        <p:spPr>
          <a:xfrm>
            <a:off x="1609725" y="5790600"/>
            <a:ext cx="4427868" cy="737235"/>
          </a:xfrm>
          <a:prstGeom prst="rect">
            <a:avLst/>
          </a:prstGeom>
        </p:spPr>
        <p:txBody>
          <a:bodyPr lIns="0" tIns="0" rIns="0" bIns="0" rtlCol="0" anchor="t">
            <a:spAutoFit/>
          </a:bodyPr>
          <a:lstStyle/>
          <a:p>
            <a:pPr algn="l">
              <a:lnSpc>
                <a:spcPts val="2940"/>
              </a:lnSpc>
            </a:pPr>
            <a:r>
              <a:rPr lang="en-US" sz="2100">
                <a:solidFill>
                  <a:srgbClr val="5B6475"/>
                </a:solidFill>
                <a:latin typeface="DM Sans"/>
                <a:ea typeface="DM Sans"/>
                <a:cs typeface="DM Sans"/>
                <a:sym typeface="DM Sans"/>
              </a:rPr>
              <a:t>Perplexity 2.38 → 1.91 on a new held-out set.</a:t>
            </a:r>
          </a:p>
        </p:txBody>
      </p:sp>
      <p:grpSp>
        <p:nvGrpSpPr>
          <p:cNvPr id="9" name="Group 9"/>
          <p:cNvGrpSpPr/>
          <p:nvPr/>
        </p:nvGrpSpPr>
        <p:grpSpPr>
          <a:xfrm>
            <a:off x="6603949" y="3238500"/>
            <a:ext cx="5080102" cy="4114800"/>
            <a:chOff x="0" y="0"/>
            <a:chExt cx="6773469" cy="5486400"/>
          </a:xfrm>
        </p:grpSpPr>
        <p:sp>
          <p:nvSpPr>
            <p:cNvPr id="10" name="Freeform 10"/>
            <p:cNvSpPr/>
            <p:nvPr/>
          </p:nvSpPr>
          <p:spPr>
            <a:xfrm>
              <a:off x="0" y="0"/>
              <a:ext cx="6773418" cy="5486400"/>
            </a:xfrm>
            <a:custGeom>
              <a:avLst/>
              <a:gdLst/>
              <a:ahLst/>
              <a:cxnLst/>
              <a:rect l="l" t="t" r="r" b="b"/>
              <a:pathLst>
                <a:path w="6773418" h="5486400">
                  <a:moveTo>
                    <a:pt x="0" y="197231"/>
                  </a:moveTo>
                  <a:cubicBezTo>
                    <a:pt x="0" y="88392"/>
                    <a:pt x="88392" y="0"/>
                    <a:pt x="197231" y="0"/>
                  </a:cubicBezTo>
                  <a:lnTo>
                    <a:pt x="6576187" y="0"/>
                  </a:lnTo>
                  <a:cubicBezTo>
                    <a:pt x="6685153" y="0"/>
                    <a:pt x="6773418" y="88392"/>
                    <a:pt x="6773418" y="197231"/>
                  </a:cubicBezTo>
                  <a:lnTo>
                    <a:pt x="6773418" y="5289169"/>
                  </a:lnTo>
                  <a:cubicBezTo>
                    <a:pt x="6773418" y="5398135"/>
                    <a:pt x="6685026" y="5486400"/>
                    <a:pt x="6576187" y="5486400"/>
                  </a:cubicBezTo>
                  <a:lnTo>
                    <a:pt x="197231" y="5486400"/>
                  </a:lnTo>
                  <a:cubicBezTo>
                    <a:pt x="88392" y="5486400"/>
                    <a:pt x="0" y="5398008"/>
                    <a:pt x="0" y="5289169"/>
                  </a:cubicBezTo>
                  <a:close/>
                </a:path>
              </a:pathLst>
            </a:custGeom>
            <a:solidFill>
              <a:srgbClr val="FFFFFF"/>
            </a:solidFill>
            <a:ln w="9525" cap="sq">
              <a:solidFill>
                <a:srgbClr val="DCD9CF"/>
              </a:solidFill>
              <a:prstDash val="solid"/>
              <a:miter/>
            </a:ln>
          </p:spPr>
        </p:sp>
      </p:grpSp>
      <p:sp>
        <p:nvSpPr>
          <p:cNvPr id="11" name="TextBox 11"/>
          <p:cNvSpPr txBox="1"/>
          <p:nvPr/>
        </p:nvSpPr>
        <p:spPr>
          <a:xfrm>
            <a:off x="6994474" y="3629025"/>
            <a:ext cx="4428020" cy="449466"/>
          </a:xfrm>
          <a:prstGeom prst="rect">
            <a:avLst/>
          </a:prstGeom>
        </p:spPr>
        <p:txBody>
          <a:bodyPr lIns="0" tIns="0" rIns="0" bIns="0" rtlCol="0" anchor="t">
            <a:spAutoFit/>
          </a:bodyPr>
          <a:lstStyle/>
          <a:p>
            <a:pPr algn="l">
              <a:lnSpc>
                <a:spcPts val="3240"/>
              </a:lnSpc>
            </a:pPr>
            <a:r>
              <a:rPr lang="en-US" sz="2700" b="1">
                <a:solidFill>
                  <a:srgbClr val="1B2233"/>
                </a:solidFill>
                <a:latin typeface="DM Sans Bold"/>
                <a:ea typeface="DM Sans Bold"/>
                <a:cs typeface="DM Sans Bold"/>
                <a:sym typeface="DM Sans Bold"/>
              </a:rPr>
              <a:t>2. A fairer test</a:t>
            </a:r>
          </a:p>
        </p:txBody>
      </p:sp>
      <p:sp>
        <p:nvSpPr>
          <p:cNvPr id="12" name="TextBox 12"/>
          <p:cNvSpPr txBox="1"/>
          <p:nvPr/>
        </p:nvSpPr>
        <p:spPr>
          <a:xfrm>
            <a:off x="6994474" y="4145166"/>
            <a:ext cx="4428020" cy="1578769"/>
          </a:xfrm>
          <a:prstGeom prst="rect">
            <a:avLst/>
          </a:prstGeom>
        </p:spPr>
        <p:txBody>
          <a:bodyPr lIns="0" tIns="0" rIns="0" bIns="0" rtlCol="0" anchor="t">
            <a:spAutoFit/>
          </a:bodyPr>
          <a:lstStyle/>
          <a:p>
            <a:pPr algn="l">
              <a:lnSpc>
                <a:spcPts val="2940"/>
              </a:lnSpc>
            </a:pPr>
            <a:r>
              <a:rPr lang="en-US" sz="2100">
                <a:solidFill>
                  <a:srgbClr val="5B6475"/>
                </a:solidFill>
                <a:latin typeface="DM Sans"/>
                <a:ea typeface="DM Sans"/>
                <a:cs typeface="DM Sans"/>
                <a:sym typeface="DM Sans"/>
              </a:rPr>
              <a:t>Legal-BERT and two Irish LegalBERT models, the same hidden words, 10 random masks, two leases</a:t>
            </a:r>
          </a:p>
        </p:txBody>
      </p:sp>
      <p:sp>
        <p:nvSpPr>
          <p:cNvPr id="13" name="TextBox 13"/>
          <p:cNvSpPr txBox="1"/>
          <p:nvPr/>
        </p:nvSpPr>
        <p:spPr>
          <a:xfrm>
            <a:off x="6994474" y="5790600"/>
            <a:ext cx="4428020" cy="365760"/>
          </a:xfrm>
          <a:prstGeom prst="rect">
            <a:avLst/>
          </a:prstGeom>
        </p:spPr>
        <p:txBody>
          <a:bodyPr lIns="0" tIns="0" rIns="0" bIns="0" rtlCol="0" anchor="t">
            <a:spAutoFit/>
          </a:bodyPr>
          <a:lstStyle/>
          <a:p>
            <a:pPr algn="l">
              <a:lnSpc>
                <a:spcPts val="2940"/>
              </a:lnSpc>
            </a:pPr>
            <a:r>
              <a:rPr lang="en-US" sz="2100">
                <a:solidFill>
                  <a:srgbClr val="5B6475"/>
                </a:solidFill>
                <a:latin typeface="DM Sans"/>
                <a:ea typeface="DM Sans"/>
                <a:cs typeface="DM Sans"/>
                <a:sym typeface="DM Sans"/>
              </a:rPr>
              <a:t>Accuracy 59–62%.</a:t>
            </a:r>
          </a:p>
        </p:txBody>
      </p:sp>
      <p:grpSp>
        <p:nvGrpSpPr>
          <p:cNvPr id="14" name="Group 14"/>
          <p:cNvGrpSpPr/>
          <p:nvPr/>
        </p:nvGrpSpPr>
        <p:grpSpPr>
          <a:xfrm>
            <a:off x="11988851" y="3238500"/>
            <a:ext cx="5079949" cy="4114800"/>
            <a:chOff x="0" y="0"/>
            <a:chExt cx="6773266" cy="5486400"/>
          </a:xfrm>
        </p:grpSpPr>
        <p:sp>
          <p:nvSpPr>
            <p:cNvPr id="15" name="Freeform 15"/>
            <p:cNvSpPr/>
            <p:nvPr/>
          </p:nvSpPr>
          <p:spPr>
            <a:xfrm>
              <a:off x="0" y="0"/>
              <a:ext cx="6773164" cy="5486400"/>
            </a:xfrm>
            <a:custGeom>
              <a:avLst/>
              <a:gdLst/>
              <a:ahLst/>
              <a:cxnLst/>
              <a:rect l="l" t="t" r="r" b="b"/>
              <a:pathLst>
                <a:path w="6773164" h="5486400">
                  <a:moveTo>
                    <a:pt x="0" y="197231"/>
                  </a:moveTo>
                  <a:cubicBezTo>
                    <a:pt x="0" y="88392"/>
                    <a:pt x="88392" y="0"/>
                    <a:pt x="197231" y="0"/>
                  </a:cubicBezTo>
                  <a:lnTo>
                    <a:pt x="6575933" y="0"/>
                  </a:lnTo>
                  <a:cubicBezTo>
                    <a:pt x="6684899" y="0"/>
                    <a:pt x="6773164" y="88392"/>
                    <a:pt x="6773164" y="197231"/>
                  </a:cubicBezTo>
                  <a:lnTo>
                    <a:pt x="6773164" y="5289169"/>
                  </a:lnTo>
                  <a:cubicBezTo>
                    <a:pt x="6773164" y="5398135"/>
                    <a:pt x="6684772" y="5486400"/>
                    <a:pt x="6575933" y="5486400"/>
                  </a:cubicBezTo>
                  <a:lnTo>
                    <a:pt x="197231" y="5486400"/>
                  </a:lnTo>
                  <a:cubicBezTo>
                    <a:pt x="88392" y="5486400"/>
                    <a:pt x="0" y="5398008"/>
                    <a:pt x="0" y="5289169"/>
                  </a:cubicBezTo>
                  <a:close/>
                </a:path>
              </a:pathLst>
            </a:custGeom>
            <a:solidFill>
              <a:srgbClr val="FFFFFF"/>
            </a:solidFill>
            <a:ln w="9525" cap="sq">
              <a:solidFill>
                <a:srgbClr val="DCD9CF"/>
              </a:solidFill>
              <a:prstDash val="solid"/>
              <a:miter/>
            </a:ln>
          </p:spPr>
        </p:sp>
      </p:grpSp>
      <p:sp>
        <p:nvSpPr>
          <p:cNvPr id="16" name="TextBox 16"/>
          <p:cNvSpPr txBox="1"/>
          <p:nvPr/>
        </p:nvSpPr>
        <p:spPr>
          <a:xfrm>
            <a:off x="12379376" y="3629025"/>
            <a:ext cx="4427868" cy="449466"/>
          </a:xfrm>
          <a:prstGeom prst="rect">
            <a:avLst/>
          </a:prstGeom>
        </p:spPr>
        <p:txBody>
          <a:bodyPr lIns="0" tIns="0" rIns="0" bIns="0" rtlCol="0" anchor="t">
            <a:spAutoFit/>
          </a:bodyPr>
          <a:lstStyle/>
          <a:p>
            <a:pPr algn="l">
              <a:lnSpc>
                <a:spcPts val="3240"/>
              </a:lnSpc>
            </a:pPr>
            <a:r>
              <a:rPr lang="en-US" sz="2700" b="1">
                <a:solidFill>
                  <a:srgbClr val="1B2233"/>
                </a:solidFill>
                <a:latin typeface="DM Sans Bold"/>
                <a:ea typeface="DM Sans Bold"/>
                <a:cs typeface="DM Sans Bold"/>
                <a:sym typeface="DM Sans Bold"/>
              </a:rPr>
              <a:t>3. A second lease</a:t>
            </a:r>
          </a:p>
        </p:txBody>
      </p:sp>
      <p:sp>
        <p:nvSpPr>
          <p:cNvPr id="17" name="TextBox 17"/>
          <p:cNvSpPr txBox="1"/>
          <p:nvPr/>
        </p:nvSpPr>
        <p:spPr>
          <a:xfrm>
            <a:off x="12379376" y="4145166"/>
            <a:ext cx="4427868" cy="737235"/>
          </a:xfrm>
          <a:prstGeom prst="rect">
            <a:avLst/>
          </a:prstGeom>
        </p:spPr>
        <p:txBody>
          <a:bodyPr lIns="0" tIns="0" rIns="0" bIns="0" rtlCol="0" anchor="t">
            <a:spAutoFit/>
          </a:bodyPr>
          <a:lstStyle/>
          <a:p>
            <a:pPr algn="l">
              <a:lnSpc>
                <a:spcPts val="2940"/>
              </a:lnSpc>
            </a:pPr>
            <a:r>
              <a:rPr lang="en-US" sz="2100">
                <a:solidFill>
                  <a:srgbClr val="5B6475"/>
                </a:solidFill>
                <a:latin typeface="DM Sans"/>
                <a:ea typeface="DM Sans"/>
                <a:cs typeface="DM Sans"/>
                <a:sym typeface="DM Sans"/>
              </a:rPr>
              <a:t>A real student contract with names and addresses removed</a:t>
            </a:r>
          </a:p>
        </p:txBody>
      </p:sp>
      <p:sp>
        <p:nvSpPr>
          <p:cNvPr id="18" name="TextBox 18"/>
          <p:cNvSpPr txBox="1"/>
          <p:nvPr/>
        </p:nvSpPr>
        <p:spPr>
          <a:xfrm>
            <a:off x="12379376" y="5044088"/>
            <a:ext cx="4427868" cy="832247"/>
          </a:xfrm>
          <a:prstGeom prst="rect">
            <a:avLst/>
          </a:prstGeom>
        </p:spPr>
        <p:txBody>
          <a:bodyPr lIns="0" tIns="0" rIns="0" bIns="0" rtlCol="0" anchor="t">
            <a:spAutoFit/>
          </a:bodyPr>
          <a:lstStyle/>
          <a:p>
            <a:pPr algn="l">
              <a:lnSpc>
                <a:spcPts val="2940"/>
              </a:lnSpc>
            </a:pPr>
            <a:r>
              <a:rPr lang="en-US" sz="2100">
                <a:solidFill>
                  <a:srgbClr val="5B6475"/>
                </a:solidFill>
                <a:latin typeface="DM Sans"/>
                <a:ea typeface="DM Sans"/>
                <a:cs typeface="DM Sans"/>
                <a:sym typeface="DM Sans"/>
              </a:rPr>
              <a:t>100 of 120 clauses kept, and a privacy check found nothing left</a:t>
            </a:r>
          </a:p>
        </p:txBody>
      </p:sp>
      <p:grpSp>
        <p:nvGrpSpPr>
          <p:cNvPr id="19" name="Group 19"/>
          <p:cNvGrpSpPr/>
          <p:nvPr/>
        </p:nvGrpSpPr>
        <p:grpSpPr>
          <a:xfrm>
            <a:off x="1219200" y="8143875"/>
            <a:ext cx="15849600" cy="933450"/>
            <a:chOff x="0" y="0"/>
            <a:chExt cx="21132800" cy="1244600"/>
          </a:xfrm>
        </p:grpSpPr>
        <p:sp>
          <p:nvSpPr>
            <p:cNvPr id="20" name="Freeform 20"/>
            <p:cNvSpPr/>
            <p:nvPr/>
          </p:nvSpPr>
          <p:spPr>
            <a:xfrm>
              <a:off x="0" y="0"/>
              <a:ext cx="21132800" cy="1244600"/>
            </a:xfrm>
            <a:custGeom>
              <a:avLst/>
              <a:gdLst/>
              <a:ahLst/>
              <a:cxnLst/>
              <a:rect l="l" t="t" r="r" b="b"/>
              <a:pathLst>
                <a:path w="21132800" h="1244600">
                  <a:moveTo>
                    <a:pt x="0" y="198882"/>
                  </a:moveTo>
                  <a:cubicBezTo>
                    <a:pt x="0" y="89027"/>
                    <a:pt x="89027" y="0"/>
                    <a:pt x="198882" y="0"/>
                  </a:cubicBezTo>
                  <a:lnTo>
                    <a:pt x="20933918" y="0"/>
                  </a:lnTo>
                  <a:cubicBezTo>
                    <a:pt x="21043773" y="0"/>
                    <a:pt x="21132800" y="89027"/>
                    <a:pt x="21132800" y="198882"/>
                  </a:cubicBezTo>
                  <a:lnTo>
                    <a:pt x="21132800" y="1045718"/>
                  </a:lnTo>
                  <a:cubicBezTo>
                    <a:pt x="21132800" y="1155573"/>
                    <a:pt x="21043773" y="1244600"/>
                    <a:pt x="20933918" y="1244600"/>
                  </a:cubicBezTo>
                  <a:lnTo>
                    <a:pt x="198882" y="1244600"/>
                  </a:lnTo>
                  <a:cubicBezTo>
                    <a:pt x="89027" y="1244600"/>
                    <a:pt x="0" y="1155573"/>
                    <a:pt x="0" y="1045718"/>
                  </a:cubicBezTo>
                  <a:close/>
                </a:path>
              </a:pathLst>
            </a:custGeom>
            <a:solidFill>
              <a:srgbClr val="E9E6FB"/>
            </a:solidFill>
            <a:ln w="9525" cap="sq">
              <a:solidFill>
                <a:srgbClr val="5B4BC4"/>
              </a:solidFill>
              <a:prstDash val="solid"/>
              <a:miter/>
            </a:ln>
          </p:spPr>
        </p:sp>
        <p:sp>
          <p:nvSpPr>
            <p:cNvPr id="21" name="TextBox 21"/>
            <p:cNvSpPr txBox="1"/>
            <p:nvPr/>
          </p:nvSpPr>
          <p:spPr>
            <a:xfrm>
              <a:off x="0" y="-47625"/>
              <a:ext cx="21132800" cy="1292225"/>
            </a:xfrm>
            <a:prstGeom prst="rect">
              <a:avLst/>
            </a:prstGeom>
          </p:spPr>
          <p:txBody>
            <a:bodyPr lIns="50800" tIns="50800" rIns="50800" bIns="50800" rtlCol="0" anchor="t"/>
            <a:lstStyle/>
            <a:p>
              <a:pPr algn="l">
                <a:lnSpc>
                  <a:spcPts val="2940"/>
                </a:lnSpc>
              </a:pPr>
              <a:r>
                <a:rPr lang="en-US" sz="2100" b="1">
                  <a:solidFill>
                    <a:srgbClr val="3A2F8F"/>
                  </a:solidFill>
                  <a:latin typeface="DM Sans Bold"/>
                  <a:ea typeface="DM Sans Bold"/>
                  <a:cs typeface="DM Sans Bold"/>
                  <a:sym typeface="DM Sans Bold"/>
                </a:rPr>
                <a:t>Result:</a:t>
              </a:r>
              <a:r>
                <a:rPr lang="en-US" sz="2100">
                  <a:solidFill>
                    <a:srgbClr val="3A2F8F"/>
                  </a:solidFill>
                  <a:latin typeface="DM Sans"/>
                  <a:ea typeface="DM Sans"/>
                  <a:cs typeface="DM Sans"/>
                  <a:sym typeface="DM Sans"/>
                </a:rPr>
                <a:t> extra law and contract text did not help on lease wording</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19200" y="1114425"/>
            <a:ext cx="8763000" cy="680085"/>
          </a:xfrm>
          <a:prstGeom prst="rect">
            <a:avLst/>
          </a:prstGeom>
        </p:spPr>
        <p:txBody>
          <a:bodyPr wrap="square" lIns="0" tIns="0" rIns="0" bIns="0" rtlCol="0" anchor="t">
            <a:spAutoFit/>
          </a:bodyPr>
          <a:lstStyle/>
          <a:p>
            <a:pPr algn="l">
              <a:lnSpc>
                <a:spcPts val="5280"/>
              </a:lnSpc>
            </a:pPr>
            <a:r>
              <a:rPr lang="en-US" sz="4800" b="1" dirty="0">
                <a:solidFill>
                  <a:srgbClr val="1B2233"/>
                </a:solidFill>
                <a:latin typeface="DM Sans Bold"/>
                <a:ea typeface="DM Sans Bold"/>
                <a:cs typeface="DM Sans Bold"/>
                <a:sym typeface="DM Sans Bold"/>
              </a:rPr>
              <a:t>Labelling, and classifier test</a:t>
            </a:r>
          </a:p>
        </p:txBody>
      </p:sp>
      <p:sp>
        <p:nvSpPr>
          <p:cNvPr id="3" name="TextBox 3"/>
          <p:cNvSpPr txBox="1"/>
          <p:nvPr/>
        </p:nvSpPr>
        <p:spPr>
          <a:xfrm>
            <a:off x="1219200" y="1842049"/>
            <a:ext cx="16325088" cy="485775"/>
          </a:xfrm>
          <a:prstGeom prst="rect">
            <a:avLst/>
          </a:prstGeom>
        </p:spPr>
        <p:txBody>
          <a:bodyPr lIns="0" tIns="0" rIns="0" bIns="0" rtlCol="0" anchor="t">
            <a:spAutoFit/>
          </a:bodyPr>
          <a:lstStyle/>
          <a:p>
            <a:pPr algn="l">
              <a:lnSpc>
                <a:spcPts val="3149"/>
              </a:lnSpc>
            </a:pPr>
            <a:r>
              <a:rPr lang="en-US" sz="2250">
                <a:solidFill>
                  <a:srgbClr val="5B6475"/>
                </a:solidFill>
                <a:latin typeface="DM Sans"/>
                <a:ea typeface="DM Sans"/>
                <a:cs typeface="DM Sans"/>
                <a:sym typeface="DM Sans"/>
              </a:rPr>
              <a:t>Clauses from two leases labelled by topic, models trained on one lease and tested on the other</a:t>
            </a:r>
          </a:p>
        </p:txBody>
      </p:sp>
      <p:grpSp>
        <p:nvGrpSpPr>
          <p:cNvPr id="4" name="Group 4"/>
          <p:cNvGrpSpPr/>
          <p:nvPr/>
        </p:nvGrpSpPr>
        <p:grpSpPr>
          <a:xfrm>
            <a:off x="1219200" y="3612356"/>
            <a:ext cx="7772400" cy="3592116"/>
            <a:chOff x="0" y="0"/>
            <a:chExt cx="10363200" cy="4789488"/>
          </a:xfrm>
        </p:grpSpPr>
        <p:sp>
          <p:nvSpPr>
            <p:cNvPr id="5" name="Freeform 5"/>
            <p:cNvSpPr/>
            <p:nvPr/>
          </p:nvSpPr>
          <p:spPr>
            <a:xfrm>
              <a:off x="0" y="0"/>
              <a:ext cx="10363200" cy="4789424"/>
            </a:xfrm>
            <a:custGeom>
              <a:avLst/>
              <a:gdLst/>
              <a:ahLst/>
              <a:cxnLst/>
              <a:rect l="l" t="t" r="r" b="b"/>
              <a:pathLst>
                <a:path w="10363200" h="4789424">
                  <a:moveTo>
                    <a:pt x="0" y="197358"/>
                  </a:moveTo>
                  <a:cubicBezTo>
                    <a:pt x="0" y="88392"/>
                    <a:pt x="88392" y="0"/>
                    <a:pt x="197358" y="0"/>
                  </a:cubicBezTo>
                  <a:lnTo>
                    <a:pt x="10165842" y="0"/>
                  </a:lnTo>
                  <a:cubicBezTo>
                    <a:pt x="10274808" y="0"/>
                    <a:pt x="10363200" y="88392"/>
                    <a:pt x="10363200" y="197358"/>
                  </a:cubicBezTo>
                  <a:lnTo>
                    <a:pt x="10363200" y="4592066"/>
                  </a:lnTo>
                  <a:cubicBezTo>
                    <a:pt x="10363200" y="4701032"/>
                    <a:pt x="10274808" y="4789424"/>
                    <a:pt x="10165842" y="4789424"/>
                  </a:cubicBezTo>
                  <a:lnTo>
                    <a:pt x="197358" y="4789424"/>
                  </a:lnTo>
                  <a:cubicBezTo>
                    <a:pt x="88392" y="4789551"/>
                    <a:pt x="0" y="4701159"/>
                    <a:pt x="0" y="4592066"/>
                  </a:cubicBezTo>
                  <a:close/>
                </a:path>
              </a:pathLst>
            </a:custGeom>
            <a:solidFill>
              <a:srgbClr val="FFFFFF"/>
            </a:solidFill>
            <a:ln w="9525" cap="sq">
              <a:solidFill>
                <a:srgbClr val="DCD9CF"/>
              </a:solidFill>
              <a:prstDash val="solid"/>
              <a:miter/>
            </a:ln>
          </p:spPr>
        </p:sp>
      </p:grpSp>
      <p:sp>
        <p:nvSpPr>
          <p:cNvPr id="6" name="TextBox 6"/>
          <p:cNvSpPr txBox="1"/>
          <p:nvPr/>
        </p:nvSpPr>
        <p:spPr>
          <a:xfrm>
            <a:off x="1609725" y="4002881"/>
            <a:ext cx="7201090" cy="449466"/>
          </a:xfrm>
          <a:prstGeom prst="rect">
            <a:avLst/>
          </a:prstGeom>
        </p:spPr>
        <p:txBody>
          <a:bodyPr lIns="0" tIns="0" rIns="0" bIns="0" rtlCol="0" anchor="t">
            <a:spAutoFit/>
          </a:bodyPr>
          <a:lstStyle/>
          <a:p>
            <a:pPr algn="l">
              <a:lnSpc>
                <a:spcPts val="3240"/>
              </a:lnSpc>
            </a:pPr>
            <a:r>
              <a:rPr lang="en-US" sz="2700" b="1">
                <a:solidFill>
                  <a:srgbClr val="1B2233"/>
                </a:solidFill>
                <a:latin typeface="DM Sans Bold"/>
                <a:ea typeface="DM Sans Bold"/>
                <a:cs typeface="DM Sans Bold"/>
                <a:sym typeface="DM Sans Bold"/>
              </a:rPr>
              <a:t>What we built</a:t>
            </a:r>
          </a:p>
        </p:txBody>
      </p:sp>
      <p:sp>
        <p:nvSpPr>
          <p:cNvPr id="7" name="TextBox 7"/>
          <p:cNvSpPr txBox="1"/>
          <p:nvPr/>
        </p:nvSpPr>
        <p:spPr>
          <a:xfrm>
            <a:off x="1609725" y="4499962"/>
            <a:ext cx="7201090" cy="458991"/>
          </a:xfrm>
          <a:prstGeom prst="rect">
            <a:avLst/>
          </a:prstGeom>
        </p:spPr>
        <p:txBody>
          <a:bodyPr lIns="0" tIns="0" rIns="0" bIns="0" rtlCol="0" anchor="t">
            <a:spAutoFit/>
          </a:bodyPr>
          <a:lstStyle/>
          <a:p>
            <a:pPr algn="l">
              <a:lnSpc>
                <a:spcPts val="2940"/>
              </a:lnSpc>
            </a:pPr>
            <a:r>
              <a:rPr lang="en-US" sz="2100">
                <a:solidFill>
                  <a:srgbClr val="5B6475"/>
                </a:solidFill>
                <a:latin typeface="DM Sans"/>
                <a:ea typeface="DM Sans"/>
                <a:cs typeface="DM Sans"/>
                <a:sym typeface="DM Sans"/>
              </a:rPr>
              <a:t>A cleaner clause splitter: 120 → 110 clauses on lease 2</a:t>
            </a:r>
          </a:p>
        </p:txBody>
      </p:sp>
      <p:sp>
        <p:nvSpPr>
          <p:cNvPr id="8" name="TextBox 8"/>
          <p:cNvSpPr txBox="1"/>
          <p:nvPr/>
        </p:nvSpPr>
        <p:spPr>
          <a:xfrm>
            <a:off x="1609725" y="5006578"/>
            <a:ext cx="7201090" cy="737235"/>
          </a:xfrm>
          <a:prstGeom prst="rect">
            <a:avLst/>
          </a:prstGeom>
        </p:spPr>
        <p:txBody>
          <a:bodyPr lIns="0" tIns="0" rIns="0" bIns="0" rtlCol="0" anchor="t">
            <a:spAutoFit/>
          </a:bodyPr>
          <a:lstStyle/>
          <a:p>
            <a:pPr algn="l">
              <a:lnSpc>
                <a:spcPts val="2940"/>
              </a:lnSpc>
            </a:pPr>
            <a:r>
              <a:rPr lang="en-US" sz="2100">
                <a:solidFill>
                  <a:srgbClr val="5B6475"/>
                </a:solidFill>
                <a:latin typeface="DM Sans"/>
                <a:ea typeface="DM Sans"/>
                <a:cs typeface="DM Sans"/>
                <a:sym typeface="DM Sans"/>
              </a:rPr>
              <a:t>A split by lease, so one lease is never in both training and test</a:t>
            </a:r>
          </a:p>
        </p:txBody>
      </p:sp>
      <p:sp>
        <p:nvSpPr>
          <p:cNvPr id="9" name="TextBox 9"/>
          <p:cNvSpPr txBox="1"/>
          <p:nvPr/>
        </p:nvSpPr>
        <p:spPr>
          <a:xfrm>
            <a:off x="1609725" y="5886450"/>
            <a:ext cx="7201090" cy="365760"/>
          </a:xfrm>
          <a:prstGeom prst="rect">
            <a:avLst/>
          </a:prstGeom>
        </p:spPr>
        <p:txBody>
          <a:bodyPr lIns="0" tIns="0" rIns="0" bIns="0" rtlCol="0" anchor="t">
            <a:spAutoFit/>
          </a:bodyPr>
          <a:lstStyle/>
          <a:p>
            <a:pPr algn="l">
              <a:lnSpc>
                <a:spcPts val="2940"/>
              </a:lnSpc>
            </a:pPr>
            <a:r>
              <a:rPr lang="en-US" sz="2100">
                <a:solidFill>
                  <a:srgbClr val="5B6475"/>
                </a:solidFill>
                <a:latin typeface="DM Sans"/>
                <a:ea typeface="DM Sans"/>
                <a:cs typeface="DM Sans"/>
                <a:sym typeface="DM Sans"/>
              </a:rPr>
              <a:t>A labelling tool and 152 labelled clauses</a:t>
            </a:r>
          </a:p>
        </p:txBody>
      </p:sp>
      <p:sp>
        <p:nvSpPr>
          <p:cNvPr id="10" name="TextBox 10"/>
          <p:cNvSpPr txBox="1"/>
          <p:nvPr/>
        </p:nvSpPr>
        <p:spPr>
          <a:xfrm>
            <a:off x="1609725" y="6393066"/>
            <a:ext cx="7372350" cy="458991"/>
          </a:xfrm>
          <a:prstGeom prst="rect">
            <a:avLst/>
          </a:prstGeom>
        </p:spPr>
        <p:txBody>
          <a:bodyPr lIns="0" tIns="0" rIns="0" bIns="0" rtlCol="0" anchor="t">
            <a:spAutoFit/>
          </a:bodyPr>
          <a:lstStyle/>
          <a:p>
            <a:pPr algn="l">
              <a:lnSpc>
                <a:spcPts val="2940"/>
              </a:lnSpc>
            </a:pPr>
            <a:r>
              <a:rPr lang="en-US" sz="2100">
                <a:solidFill>
                  <a:srgbClr val="5B6475"/>
                </a:solidFill>
                <a:latin typeface="DM Sans"/>
                <a:ea typeface="DM Sans"/>
                <a:cs typeface="DM Sans"/>
                <a:sym typeface="DM Sans"/>
              </a:rPr>
              <a:t>A keyword baseline: 68%, against 74% for always “other”</a:t>
            </a:r>
          </a:p>
        </p:txBody>
      </p:sp>
      <p:grpSp>
        <p:nvGrpSpPr>
          <p:cNvPr id="11" name="Group 11"/>
          <p:cNvGrpSpPr/>
          <p:nvPr/>
        </p:nvGrpSpPr>
        <p:grpSpPr>
          <a:xfrm>
            <a:off x="9296400" y="3612356"/>
            <a:ext cx="7772400" cy="3592116"/>
            <a:chOff x="0" y="0"/>
            <a:chExt cx="10363200" cy="4789488"/>
          </a:xfrm>
        </p:grpSpPr>
        <p:sp>
          <p:nvSpPr>
            <p:cNvPr id="12" name="Freeform 12"/>
            <p:cNvSpPr/>
            <p:nvPr/>
          </p:nvSpPr>
          <p:spPr>
            <a:xfrm>
              <a:off x="0" y="0"/>
              <a:ext cx="10363200" cy="4789424"/>
            </a:xfrm>
            <a:custGeom>
              <a:avLst/>
              <a:gdLst/>
              <a:ahLst/>
              <a:cxnLst/>
              <a:rect l="l" t="t" r="r" b="b"/>
              <a:pathLst>
                <a:path w="10363200" h="4789424">
                  <a:moveTo>
                    <a:pt x="0" y="197358"/>
                  </a:moveTo>
                  <a:cubicBezTo>
                    <a:pt x="0" y="88392"/>
                    <a:pt x="88392" y="0"/>
                    <a:pt x="197358" y="0"/>
                  </a:cubicBezTo>
                  <a:lnTo>
                    <a:pt x="10165842" y="0"/>
                  </a:lnTo>
                  <a:cubicBezTo>
                    <a:pt x="10274808" y="0"/>
                    <a:pt x="10363200" y="88392"/>
                    <a:pt x="10363200" y="197358"/>
                  </a:cubicBezTo>
                  <a:lnTo>
                    <a:pt x="10363200" y="4592066"/>
                  </a:lnTo>
                  <a:cubicBezTo>
                    <a:pt x="10363200" y="4701032"/>
                    <a:pt x="10274808" y="4789424"/>
                    <a:pt x="10165842" y="4789424"/>
                  </a:cubicBezTo>
                  <a:lnTo>
                    <a:pt x="197358" y="4789424"/>
                  </a:lnTo>
                  <a:cubicBezTo>
                    <a:pt x="88392" y="4789551"/>
                    <a:pt x="0" y="4701159"/>
                    <a:pt x="0" y="4592066"/>
                  </a:cubicBezTo>
                  <a:close/>
                </a:path>
              </a:pathLst>
            </a:custGeom>
            <a:solidFill>
              <a:srgbClr val="E9E6FB"/>
            </a:solidFill>
            <a:ln w="9525" cap="sq">
              <a:solidFill>
                <a:srgbClr val="5B4BC4"/>
              </a:solidFill>
              <a:prstDash val="solid"/>
              <a:miter/>
            </a:ln>
          </p:spPr>
        </p:sp>
      </p:grpSp>
      <p:sp>
        <p:nvSpPr>
          <p:cNvPr id="13" name="TextBox 13"/>
          <p:cNvSpPr txBox="1"/>
          <p:nvPr/>
        </p:nvSpPr>
        <p:spPr>
          <a:xfrm>
            <a:off x="9686925" y="4002881"/>
            <a:ext cx="7201090" cy="409575"/>
          </a:xfrm>
          <a:prstGeom prst="rect">
            <a:avLst/>
          </a:prstGeom>
        </p:spPr>
        <p:txBody>
          <a:bodyPr lIns="0" tIns="0" rIns="0" bIns="0" rtlCol="0" anchor="t">
            <a:spAutoFit/>
          </a:bodyPr>
          <a:lstStyle/>
          <a:p>
            <a:pPr algn="l">
              <a:lnSpc>
                <a:spcPts val="3240"/>
              </a:lnSpc>
            </a:pPr>
            <a:r>
              <a:rPr lang="en-US" sz="2700" b="1">
                <a:solidFill>
                  <a:srgbClr val="3A2F8F"/>
                </a:solidFill>
                <a:latin typeface="DM Sans Bold"/>
                <a:ea typeface="DM Sans Bold"/>
                <a:cs typeface="DM Sans Bold"/>
                <a:sym typeface="DM Sans Bold"/>
              </a:rPr>
              <a:t>Model comparison </a:t>
            </a:r>
          </a:p>
        </p:txBody>
      </p:sp>
      <p:sp>
        <p:nvSpPr>
          <p:cNvPr id="14" name="TextBox 14"/>
          <p:cNvSpPr txBox="1"/>
          <p:nvPr/>
        </p:nvSpPr>
        <p:spPr>
          <a:xfrm>
            <a:off x="9686925" y="4499962"/>
            <a:ext cx="7201090" cy="832247"/>
          </a:xfrm>
          <a:prstGeom prst="rect">
            <a:avLst/>
          </a:prstGeom>
        </p:spPr>
        <p:txBody>
          <a:bodyPr lIns="0" tIns="0" rIns="0" bIns="0" rtlCol="0" anchor="t">
            <a:spAutoFit/>
          </a:bodyPr>
          <a:lstStyle/>
          <a:p>
            <a:pPr algn="l">
              <a:lnSpc>
                <a:spcPts val="2940"/>
              </a:lnSpc>
            </a:pPr>
            <a:r>
              <a:rPr lang="en-US" sz="2100">
                <a:solidFill>
                  <a:srgbClr val="3A2F8F"/>
                </a:solidFill>
                <a:latin typeface="DM Sans"/>
                <a:ea typeface="DM Sans"/>
                <a:cs typeface="DM Sans"/>
                <a:sym typeface="DM Sans"/>
              </a:rPr>
              <a:t>Accuracy: models 0.731–0.759, always “other” 0.741 and 0.765</a:t>
            </a:r>
          </a:p>
        </p:txBody>
      </p:sp>
      <p:sp>
        <p:nvSpPr>
          <p:cNvPr id="15" name="TextBox 15"/>
          <p:cNvSpPr txBox="1"/>
          <p:nvPr/>
        </p:nvSpPr>
        <p:spPr>
          <a:xfrm>
            <a:off x="9686925" y="5360789"/>
            <a:ext cx="7201090" cy="365760"/>
          </a:xfrm>
          <a:prstGeom prst="rect">
            <a:avLst/>
          </a:prstGeom>
        </p:spPr>
        <p:txBody>
          <a:bodyPr lIns="0" tIns="0" rIns="0" bIns="0" rtlCol="0" anchor="t">
            <a:spAutoFit/>
          </a:bodyPr>
          <a:lstStyle/>
          <a:p>
            <a:pPr algn="l">
              <a:lnSpc>
                <a:spcPts val="2940"/>
              </a:lnSpc>
            </a:pPr>
            <a:r>
              <a:rPr lang="en-US" sz="2100">
                <a:solidFill>
                  <a:srgbClr val="3A2F8F"/>
                </a:solidFill>
                <a:latin typeface="DM Sans"/>
                <a:ea typeface="DM Sans"/>
                <a:cs typeface="DM Sans"/>
                <a:sym typeface="DM Sans"/>
              </a:rPr>
              <a:t>BERT, Legal-BERT and Irish LegalBERT: no major winner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19200" y="1266825"/>
            <a:ext cx="4114800" cy="680085"/>
          </a:xfrm>
          <a:prstGeom prst="rect">
            <a:avLst/>
          </a:prstGeom>
        </p:spPr>
        <p:txBody>
          <a:bodyPr wrap="square" lIns="0" tIns="0" rIns="0" bIns="0" rtlCol="0" anchor="t">
            <a:spAutoFit/>
          </a:bodyPr>
          <a:lstStyle/>
          <a:p>
            <a:pPr algn="l">
              <a:lnSpc>
                <a:spcPts val="5280"/>
              </a:lnSpc>
            </a:pPr>
            <a:r>
              <a:rPr lang="en-US" sz="4800" b="1" dirty="0">
                <a:solidFill>
                  <a:srgbClr val="1B2233"/>
                </a:solidFill>
                <a:latin typeface="DM Sans Bold"/>
                <a:ea typeface="DM Sans Bold"/>
                <a:cs typeface="DM Sans Bold"/>
                <a:sym typeface="DM Sans Bold"/>
              </a:rPr>
              <a:t>What is Next</a:t>
            </a:r>
          </a:p>
        </p:txBody>
      </p:sp>
      <p:sp>
        <p:nvSpPr>
          <p:cNvPr id="3" name="TextBox 3"/>
          <p:cNvSpPr txBox="1"/>
          <p:nvPr/>
        </p:nvSpPr>
        <p:spPr>
          <a:xfrm>
            <a:off x="1219200" y="1994449"/>
            <a:ext cx="16325088" cy="485775"/>
          </a:xfrm>
          <a:prstGeom prst="rect">
            <a:avLst/>
          </a:prstGeom>
        </p:spPr>
        <p:txBody>
          <a:bodyPr lIns="0" tIns="0" rIns="0" bIns="0" rtlCol="0" anchor="t">
            <a:spAutoFit/>
          </a:bodyPr>
          <a:lstStyle/>
          <a:p>
            <a:pPr algn="l">
              <a:lnSpc>
                <a:spcPts val="3149"/>
              </a:lnSpc>
            </a:pPr>
            <a:r>
              <a:rPr lang="en-US" sz="2250" dirty="0">
                <a:solidFill>
                  <a:srgbClr val="5B6475"/>
                </a:solidFill>
                <a:latin typeface="DM Sans"/>
                <a:ea typeface="DM Sans"/>
                <a:cs typeface="DM Sans"/>
                <a:sym typeface="DM Sans"/>
              </a:rPr>
              <a:t>The limit is labelled data, not the model</a:t>
            </a:r>
          </a:p>
        </p:txBody>
      </p:sp>
      <p:grpSp>
        <p:nvGrpSpPr>
          <p:cNvPr id="4" name="Group 4"/>
          <p:cNvGrpSpPr/>
          <p:nvPr/>
        </p:nvGrpSpPr>
        <p:grpSpPr>
          <a:xfrm>
            <a:off x="1219200" y="3976087"/>
            <a:ext cx="6002956" cy="3211116"/>
            <a:chOff x="0" y="0"/>
            <a:chExt cx="8003941" cy="4281488"/>
          </a:xfrm>
        </p:grpSpPr>
        <p:sp>
          <p:nvSpPr>
            <p:cNvPr id="5" name="Freeform 5"/>
            <p:cNvSpPr/>
            <p:nvPr/>
          </p:nvSpPr>
          <p:spPr>
            <a:xfrm>
              <a:off x="0" y="0"/>
              <a:ext cx="8003822" cy="4281424"/>
            </a:xfrm>
            <a:custGeom>
              <a:avLst/>
              <a:gdLst/>
              <a:ahLst/>
              <a:cxnLst/>
              <a:rect l="l" t="t" r="r" b="b"/>
              <a:pathLst>
                <a:path w="8003822" h="4281424">
                  <a:moveTo>
                    <a:pt x="0" y="197358"/>
                  </a:moveTo>
                  <a:cubicBezTo>
                    <a:pt x="0" y="88392"/>
                    <a:pt x="104452" y="0"/>
                    <a:pt x="233217" y="0"/>
                  </a:cubicBezTo>
                  <a:lnTo>
                    <a:pt x="7770604" y="0"/>
                  </a:lnTo>
                  <a:cubicBezTo>
                    <a:pt x="7899519" y="0"/>
                    <a:pt x="8003822" y="88392"/>
                    <a:pt x="8003822" y="197358"/>
                  </a:cubicBezTo>
                  <a:lnTo>
                    <a:pt x="8003822" y="4084066"/>
                  </a:lnTo>
                  <a:cubicBezTo>
                    <a:pt x="8003822" y="4193159"/>
                    <a:pt x="7899369" y="4281424"/>
                    <a:pt x="7770604" y="4281424"/>
                  </a:cubicBezTo>
                  <a:lnTo>
                    <a:pt x="233217" y="4281424"/>
                  </a:lnTo>
                  <a:cubicBezTo>
                    <a:pt x="104452" y="4281551"/>
                    <a:pt x="0" y="4193159"/>
                    <a:pt x="0" y="4084066"/>
                  </a:cubicBezTo>
                  <a:close/>
                </a:path>
              </a:pathLst>
            </a:custGeom>
            <a:solidFill>
              <a:srgbClr val="E9E6FB"/>
            </a:solidFill>
            <a:ln w="9525" cap="sq">
              <a:solidFill>
                <a:srgbClr val="5B4BC4"/>
              </a:solidFill>
              <a:prstDash val="solid"/>
              <a:miter/>
            </a:ln>
          </p:spPr>
        </p:sp>
      </p:grpSp>
      <p:sp>
        <p:nvSpPr>
          <p:cNvPr id="6" name="TextBox 6"/>
          <p:cNvSpPr txBox="1"/>
          <p:nvPr/>
        </p:nvSpPr>
        <p:spPr>
          <a:xfrm>
            <a:off x="1609725" y="4366612"/>
            <a:ext cx="4427868" cy="449466"/>
          </a:xfrm>
          <a:prstGeom prst="rect">
            <a:avLst/>
          </a:prstGeom>
        </p:spPr>
        <p:txBody>
          <a:bodyPr lIns="0" tIns="0" rIns="0" bIns="0" rtlCol="0" anchor="t">
            <a:spAutoFit/>
          </a:bodyPr>
          <a:lstStyle/>
          <a:p>
            <a:pPr algn="l">
              <a:lnSpc>
                <a:spcPts val="3240"/>
              </a:lnSpc>
            </a:pPr>
            <a:r>
              <a:rPr lang="en-US" sz="2700" b="1">
                <a:solidFill>
                  <a:srgbClr val="3A2F8F"/>
                </a:solidFill>
                <a:latin typeface="DM Sans Bold"/>
                <a:ea typeface="DM Sans Bold"/>
                <a:cs typeface="DM Sans Bold"/>
                <a:sym typeface="DM Sans Bold"/>
              </a:rPr>
              <a:t>What it means</a:t>
            </a:r>
          </a:p>
        </p:txBody>
      </p:sp>
      <p:sp>
        <p:nvSpPr>
          <p:cNvPr id="7" name="TextBox 7"/>
          <p:cNvSpPr txBox="1"/>
          <p:nvPr/>
        </p:nvSpPr>
        <p:spPr>
          <a:xfrm>
            <a:off x="1609725" y="4882753"/>
            <a:ext cx="4427868" cy="1952025"/>
          </a:xfrm>
          <a:prstGeom prst="rect">
            <a:avLst/>
          </a:prstGeom>
        </p:spPr>
        <p:txBody>
          <a:bodyPr lIns="0" tIns="0" rIns="0" bIns="0" rtlCol="0" anchor="t">
            <a:spAutoFit/>
          </a:bodyPr>
          <a:lstStyle/>
          <a:p>
            <a:pPr algn="l">
              <a:lnSpc>
                <a:spcPts val="2940"/>
              </a:lnSpc>
            </a:pPr>
            <a:r>
              <a:rPr lang="en-US" sz="2100">
                <a:solidFill>
                  <a:srgbClr val="3A2F8F"/>
                </a:solidFill>
                <a:latin typeface="DM Sans"/>
                <a:ea typeface="DM Sans"/>
                <a:cs typeface="DM Sans"/>
                <a:sym typeface="DM Sans"/>
              </a:rPr>
              <a:t>Training on Irish law helped on Irish Acts, but not on lease wording or clause classification. With about 150 labels, the models cannot be told apart</a:t>
            </a:r>
          </a:p>
        </p:txBody>
      </p:sp>
      <p:grpSp>
        <p:nvGrpSpPr>
          <p:cNvPr id="8" name="Group 8"/>
          <p:cNvGrpSpPr/>
          <p:nvPr/>
        </p:nvGrpSpPr>
        <p:grpSpPr>
          <a:xfrm>
            <a:off x="9533552" y="3976087"/>
            <a:ext cx="5288370" cy="3211116"/>
            <a:chOff x="0" y="0"/>
            <a:chExt cx="7051160" cy="4281488"/>
          </a:xfrm>
        </p:grpSpPr>
        <p:sp>
          <p:nvSpPr>
            <p:cNvPr id="9" name="Freeform 9"/>
            <p:cNvSpPr/>
            <p:nvPr/>
          </p:nvSpPr>
          <p:spPr>
            <a:xfrm>
              <a:off x="0" y="0"/>
              <a:ext cx="7051054" cy="4281424"/>
            </a:xfrm>
            <a:custGeom>
              <a:avLst/>
              <a:gdLst/>
              <a:ahLst/>
              <a:cxnLst/>
              <a:rect l="l" t="t" r="r" b="b"/>
              <a:pathLst>
                <a:path w="7051054" h="4281424">
                  <a:moveTo>
                    <a:pt x="0" y="197358"/>
                  </a:moveTo>
                  <a:cubicBezTo>
                    <a:pt x="0" y="88392"/>
                    <a:pt x="92019" y="0"/>
                    <a:pt x="205455" y="0"/>
                  </a:cubicBezTo>
                  <a:lnTo>
                    <a:pt x="6845599" y="0"/>
                  </a:lnTo>
                  <a:cubicBezTo>
                    <a:pt x="6959169" y="0"/>
                    <a:pt x="7051054" y="88392"/>
                    <a:pt x="7051054" y="197358"/>
                  </a:cubicBezTo>
                  <a:lnTo>
                    <a:pt x="7051054" y="4084066"/>
                  </a:lnTo>
                  <a:cubicBezTo>
                    <a:pt x="7051054" y="4193159"/>
                    <a:pt x="6959036" y="4281424"/>
                    <a:pt x="6845599" y="4281424"/>
                  </a:cubicBezTo>
                  <a:lnTo>
                    <a:pt x="205455" y="4281424"/>
                  </a:lnTo>
                  <a:cubicBezTo>
                    <a:pt x="92019" y="4281551"/>
                    <a:pt x="0" y="4193159"/>
                    <a:pt x="0" y="4084066"/>
                  </a:cubicBezTo>
                  <a:close/>
                </a:path>
              </a:pathLst>
            </a:custGeom>
            <a:solidFill>
              <a:srgbClr val="FFFFFF"/>
            </a:solidFill>
            <a:ln w="9525" cap="sq">
              <a:solidFill>
                <a:srgbClr val="DCD9CF"/>
              </a:solidFill>
              <a:prstDash val="solid"/>
              <a:miter/>
            </a:ln>
          </p:spPr>
        </p:sp>
      </p:grpSp>
      <p:sp>
        <p:nvSpPr>
          <p:cNvPr id="10" name="TextBox 10"/>
          <p:cNvSpPr txBox="1"/>
          <p:nvPr/>
        </p:nvSpPr>
        <p:spPr>
          <a:xfrm>
            <a:off x="9967649" y="4366612"/>
            <a:ext cx="4427868" cy="409575"/>
          </a:xfrm>
          <a:prstGeom prst="rect">
            <a:avLst/>
          </a:prstGeom>
        </p:spPr>
        <p:txBody>
          <a:bodyPr lIns="0" tIns="0" rIns="0" bIns="0" rtlCol="0" anchor="t">
            <a:spAutoFit/>
          </a:bodyPr>
          <a:lstStyle/>
          <a:p>
            <a:pPr algn="l">
              <a:lnSpc>
                <a:spcPts val="3240"/>
              </a:lnSpc>
            </a:pPr>
            <a:r>
              <a:rPr lang="en-US" sz="2700" b="1">
                <a:solidFill>
                  <a:srgbClr val="1B2233"/>
                </a:solidFill>
                <a:latin typeface="DM Sans Bold"/>
                <a:ea typeface="DM Sans Bold"/>
                <a:cs typeface="DM Sans Bold"/>
                <a:sym typeface="DM Sans Bold"/>
              </a:rPr>
              <a:t>Then: the law</a:t>
            </a:r>
          </a:p>
        </p:txBody>
      </p:sp>
      <p:sp>
        <p:nvSpPr>
          <p:cNvPr id="11" name="TextBox 11"/>
          <p:cNvSpPr txBox="1"/>
          <p:nvPr/>
        </p:nvSpPr>
        <p:spPr>
          <a:xfrm>
            <a:off x="10056972" y="5003478"/>
            <a:ext cx="4427868" cy="1108710"/>
          </a:xfrm>
          <a:prstGeom prst="rect">
            <a:avLst/>
          </a:prstGeom>
        </p:spPr>
        <p:txBody>
          <a:bodyPr lIns="0" tIns="0" rIns="0" bIns="0" rtlCol="0" anchor="t">
            <a:spAutoFit/>
          </a:bodyPr>
          <a:lstStyle/>
          <a:p>
            <a:pPr algn="l">
              <a:lnSpc>
                <a:spcPts val="2940"/>
              </a:lnSpc>
            </a:pPr>
            <a:r>
              <a:rPr lang="en-US" sz="2100">
                <a:solidFill>
                  <a:srgbClr val="5B6475"/>
                </a:solidFill>
                <a:latin typeface="DM Sans"/>
                <a:ea typeface="DM Sans"/>
                <a:cs typeface="DM Sans"/>
                <a:sym typeface="DM Sans"/>
              </a:rPr>
              <a:t>Find the right Act for each clause, check citations, and send unsure cases to “needs review”</a:t>
            </a:r>
          </a:p>
        </p:txBody>
      </p:sp>
      <p:sp>
        <p:nvSpPr>
          <p:cNvPr id="12" name="TextBox 12"/>
          <p:cNvSpPr txBox="1"/>
          <p:nvPr/>
        </p:nvSpPr>
        <p:spPr>
          <a:xfrm>
            <a:off x="1219200" y="8692601"/>
            <a:ext cx="16325088" cy="413299"/>
          </a:xfrm>
          <a:prstGeom prst="rect">
            <a:avLst/>
          </a:prstGeom>
        </p:spPr>
        <p:txBody>
          <a:bodyPr lIns="0" tIns="0" rIns="0" bIns="0" rtlCol="0" anchor="t">
            <a:spAutoFit/>
          </a:bodyPr>
          <a:lstStyle/>
          <a:p>
            <a:pPr algn="l">
              <a:lnSpc>
                <a:spcPts val="2729"/>
              </a:lnSpc>
            </a:pPr>
            <a:r>
              <a:rPr lang="en-US" sz="1950">
                <a:solidFill>
                  <a:srgbClr val="5B6475"/>
                </a:solidFill>
                <a:latin typeface="DM Sans"/>
                <a:ea typeface="DM Sans"/>
                <a:cs typeface="DM Sans"/>
                <a:sym typeface="DM Sans"/>
              </a:rPr>
              <a:t>Open items for the team: a second annotator, more template leases, GPU access, ethics approval for real leases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5659571" y="4195179"/>
            <a:ext cx="7813444" cy="781344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45B">
                    <a:alpha val="37000"/>
                  </a:srgbClr>
                </a:gs>
                <a:gs pos="100000">
                  <a:srgbClr val="A1529C">
                    <a:alpha val="37000"/>
                  </a:srgbClr>
                </a:gs>
              </a:gsLst>
              <a:lin ang="5400000"/>
            </a:gradFill>
          </p:spPr>
        </p:sp>
        <p:sp>
          <p:nvSpPr>
            <p:cNvPr id="4" name="TextBox 4"/>
            <p:cNvSpPr txBox="1"/>
            <p:nvPr/>
          </p:nvSpPr>
          <p:spPr>
            <a:xfrm>
              <a:off x="76200" y="28575"/>
              <a:ext cx="660400" cy="708025"/>
            </a:xfrm>
            <a:prstGeom prst="rect">
              <a:avLst/>
            </a:prstGeom>
          </p:spPr>
          <p:txBody>
            <a:bodyPr lIns="50800" tIns="50800" rIns="50800" bIns="50800" rtlCol="0" anchor="ctr"/>
            <a:lstStyle/>
            <a:p>
              <a:pPr marL="0" lvl="0" indent="0" algn="ctr">
                <a:lnSpc>
                  <a:spcPts val="3740"/>
                </a:lnSpc>
              </a:pPr>
              <a:endParaRPr/>
            </a:p>
          </p:txBody>
        </p:sp>
      </p:grpSp>
      <p:sp>
        <p:nvSpPr>
          <p:cNvPr id="5" name="Freeform 5"/>
          <p:cNvSpPr/>
          <p:nvPr/>
        </p:nvSpPr>
        <p:spPr>
          <a:xfrm>
            <a:off x="3328735" y="2220796"/>
            <a:ext cx="9884211" cy="5881106"/>
          </a:xfrm>
          <a:custGeom>
            <a:avLst/>
            <a:gdLst/>
            <a:ahLst/>
            <a:cxnLst/>
            <a:rect l="l" t="t" r="r" b="b"/>
            <a:pathLst>
              <a:path w="9884211" h="5881106">
                <a:moveTo>
                  <a:pt x="0" y="0"/>
                </a:moveTo>
                <a:lnTo>
                  <a:pt x="9884211" y="0"/>
                </a:lnTo>
                <a:lnTo>
                  <a:pt x="9884211" y="5881106"/>
                </a:lnTo>
                <a:lnTo>
                  <a:pt x="0" y="5881106"/>
                </a:lnTo>
                <a:lnTo>
                  <a:pt x="0" y="0"/>
                </a:lnTo>
                <a:close/>
              </a:path>
            </a:pathLst>
          </a:custGeom>
          <a:blipFill>
            <a:blip r:embed="rId2"/>
            <a:stretch>
              <a:fillRect/>
            </a:stretch>
          </a:blipFill>
        </p:spPr>
      </p:sp>
      <p:sp>
        <p:nvSpPr>
          <p:cNvPr id="6" name="Freeform 6"/>
          <p:cNvSpPr/>
          <p:nvPr/>
        </p:nvSpPr>
        <p:spPr>
          <a:xfrm rot="5400000">
            <a:off x="-5223687" y="-3232147"/>
            <a:ext cx="9046406" cy="8949264"/>
          </a:xfrm>
          <a:custGeom>
            <a:avLst/>
            <a:gdLst/>
            <a:ahLst/>
            <a:cxnLst/>
            <a:rect l="l" t="t" r="r" b="b"/>
            <a:pathLst>
              <a:path w="9046406" h="8949264">
                <a:moveTo>
                  <a:pt x="0" y="0"/>
                </a:moveTo>
                <a:lnTo>
                  <a:pt x="9046407" y="0"/>
                </a:lnTo>
                <a:lnTo>
                  <a:pt x="9046407" y="8949264"/>
                </a:lnTo>
                <a:lnTo>
                  <a:pt x="0" y="8949264"/>
                </a:lnTo>
                <a:lnTo>
                  <a:pt x="0" y="0"/>
                </a:lnTo>
                <a:close/>
              </a:path>
            </a:pathLst>
          </a:custGeom>
          <a:blipFill>
            <a:blip r:embed="rId3"/>
            <a:stretch>
              <a:fillRect/>
            </a:stretch>
          </a:blipFill>
        </p:spPr>
      </p:sp>
      <p:grpSp>
        <p:nvGrpSpPr>
          <p:cNvPr id="7" name="Group 7"/>
          <p:cNvGrpSpPr/>
          <p:nvPr/>
        </p:nvGrpSpPr>
        <p:grpSpPr>
          <a:xfrm>
            <a:off x="17050084" y="7078205"/>
            <a:ext cx="4360190" cy="4360190"/>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11145B">
                    <a:alpha val="100000"/>
                  </a:srgbClr>
                </a:gs>
                <a:gs pos="100000">
                  <a:srgbClr val="A1529C">
                    <a:alpha val="100000"/>
                  </a:srgbClr>
                </a:gs>
              </a:gsLst>
              <a:lin ang="5400000"/>
            </a:gradFill>
          </p:spPr>
        </p:sp>
        <p:sp>
          <p:nvSpPr>
            <p:cNvPr id="9" name="TextBox 9"/>
            <p:cNvSpPr txBox="1"/>
            <p:nvPr/>
          </p:nvSpPr>
          <p:spPr>
            <a:xfrm>
              <a:off x="76200" y="28575"/>
              <a:ext cx="660400" cy="708025"/>
            </a:xfrm>
            <a:prstGeom prst="rect">
              <a:avLst/>
            </a:prstGeom>
          </p:spPr>
          <p:txBody>
            <a:bodyPr lIns="50800" tIns="50800" rIns="50800" bIns="50800" rtlCol="0" anchor="ctr"/>
            <a:lstStyle/>
            <a:p>
              <a:pPr marL="0" lvl="0" indent="0" algn="ctr">
                <a:lnSpc>
                  <a:spcPts val="3740"/>
                </a:lnSpc>
              </a:pPr>
              <a:endParaRPr/>
            </a:p>
          </p:txBody>
        </p:sp>
      </p:grpSp>
      <p:grpSp>
        <p:nvGrpSpPr>
          <p:cNvPr id="10" name="Group 10"/>
          <p:cNvGrpSpPr/>
          <p:nvPr/>
        </p:nvGrpSpPr>
        <p:grpSpPr>
          <a:xfrm>
            <a:off x="17691834" y="7702310"/>
            <a:ext cx="3111980" cy="311198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2" name="TextBox 12"/>
            <p:cNvSpPr txBox="1"/>
            <p:nvPr/>
          </p:nvSpPr>
          <p:spPr>
            <a:xfrm>
              <a:off x="76200" y="28575"/>
              <a:ext cx="660400" cy="708025"/>
            </a:xfrm>
            <a:prstGeom prst="rect">
              <a:avLst/>
            </a:prstGeom>
          </p:spPr>
          <p:txBody>
            <a:bodyPr lIns="50800" tIns="50800" rIns="50800" bIns="50800" rtlCol="0" anchor="ctr"/>
            <a:lstStyle/>
            <a:p>
              <a:pPr marL="0" lvl="0" indent="0" algn="ctr">
                <a:lnSpc>
                  <a:spcPts val="3740"/>
                </a:lnSpc>
              </a:pPr>
              <a:endParaRPr/>
            </a:p>
          </p:txBody>
        </p:sp>
      </p:grpSp>
      <p:sp>
        <p:nvSpPr>
          <p:cNvPr id="13" name="TextBox 13"/>
          <p:cNvSpPr txBox="1"/>
          <p:nvPr/>
        </p:nvSpPr>
        <p:spPr>
          <a:xfrm>
            <a:off x="5659571" y="4677903"/>
            <a:ext cx="6047137" cy="1100242"/>
          </a:xfrm>
          <a:prstGeom prst="rect">
            <a:avLst/>
          </a:prstGeom>
        </p:spPr>
        <p:txBody>
          <a:bodyPr lIns="0" tIns="0" rIns="0" bIns="0" rtlCol="0" anchor="t">
            <a:spAutoFit/>
          </a:bodyPr>
          <a:lstStyle/>
          <a:p>
            <a:pPr marL="0" lvl="0" indent="0" algn="ctr">
              <a:lnSpc>
                <a:spcPts val="8292"/>
              </a:lnSpc>
            </a:pPr>
            <a:r>
              <a:rPr lang="en-US" sz="8129" b="1">
                <a:solidFill>
                  <a:srgbClr val="523079"/>
                </a:solidFill>
                <a:latin typeface="Aileron Bold"/>
                <a:ea typeface="Aileron Bold"/>
                <a:cs typeface="Aileron Bold"/>
                <a:sym typeface="Aileron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698</Words>
  <Application>Microsoft Office PowerPoint</Application>
  <PresentationFormat>Custom</PresentationFormat>
  <Paragraphs>93</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Calibri</vt:lpstr>
      <vt:lpstr>Alata</vt:lpstr>
      <vt:lpstr>Aileron Bold</vt:lpstr>
      <vt:lpstr>DM Sans</vt:lpstr>
      <vt:lpstr>Arial</vt:lpstr>
      <vt:lpstr>DM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ClauseGuard- Week 4</dc:title>
  <cp:lastModifiedBy>Siddharth Varma Raja</cp:lastModifiedBy>
  <cp:revision>3</cp:revision>
  <dcterms:created xsi:type="dcterms:W3CDTF">2006-08-16T00:00:00Z</dcterms:created>
  <dcterms:modified xsi:type="dcterms:W3CDTF">2026-10-16T10:31:04Z</dcterms:modified>
  <dc:identifier>DAHYHmOdy2k</dc:identifier>
</cp:coreProperties>
</file>