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bril Fatface" panose="020F0502020204030204" pitchFamily="2" charset="0"/>
      <p:regular r:id="rId12"/>
    </p:embeddedFont>
    <p:embeddedFont>
      <p:font typeface="Calibri (MS)" panose="020B0604020202020204" charset="0"/>
      <p:regular r:id="rId13"/>
    </p:embeddedFont>
    <p:embeddedFont>
      <p:font typeface="Calibri (MS) Bold" panose="020B0604020202020204" charset="0"/>
      <p:regular r:id="rId14"/>
    </p:embeddedFont>
    <p:embeddedFont>
      <p:font typeface="Canva Sans" panose="020B0604020202020204" charset="0"/>
      <p:regular r:id="rId15"/>
    </p:embeddedFont>
    <p:embeddedFont>
      <p:font typeface="Canva Sans Bold" panose="020B0604020202020204" charset="0"/>
      <p:regular r:id="rId16"/>
    </p:embeddedFont>
    <p:embeddedFont>
      <p:font typeface="Fredoka" panose="020B0604020202020204" charset="0"/>
      <p:regular r:id="rId17"/>
    </p:embeddedFont>
    <p:embeddedFont>
      <p:font typeface="Georgia Bold" panose="02040802050405020203" pitchFamily="18" charset="0"/>
      <p:bold r:id="rId18"/>
    </p:embeddedFont>
    <p:embeddedFont>
      <p:font typeface="Trebuchet MS Bold" panose="020B0703020202020204" pitchFamily="34" charset="0"/>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4:51.432"/>
    </inkml:context>
    <inkml:brush xml:id="br0">
      <inkml:brushProperty name="width" value="0.035" units="cm"/>
      <inkml:brushProperty name="height" value="0.035" units="cm"/>
    </inkml:brush>
  </inkml:definitions>
  <inkml:trace contextRef="#ctx0" brushRef="#br0">1 3635 24575,'1'-9'0,"1"0"0,0 0 0,0 0 0,1 0 0,0 0 0,1 1 0,0-1 0,0 1 0,1 0 0,0 1 0,8-11 0,-3 4 0,329-453-219,61-94-398,-286 379 617,156-243 0,23 15 0,229-194 0,-497 576 140,-1-1-1,-2-1 0,0 0 1,-3-2-1,21-42 0,19-34-139,115-159 0,-160 247-102,138-185-1161,-121 169-5563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4:52.244"/>
    </inkml:context>
    <inkml:brush xml:id="br0">
      <inkml:brushProperty name="width" value="0.035" units="cm"/>
      <inkml:brushProperty name="height" value="0.035" units="cm"/>
    </inkml:brush>
  </inkml:definitions>
  <inkml:trace contextRef="#ctx0" brushRef="#br0">0 1 24575,'1128'0'0,"-1092"2"0,0 1 0,55 13 0,-53-8 0,75 6 0,470-13 0,-277-3 0,362 2-1365,-626 0-5461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4:54.925"/>
    </inkml:context>
    <inkml:brush xml:id="br0">
      <inkml:brushProperty name="width" value="0.035" units="cm"/>
      <inkml:brushProperty name="height" value="0.035" units="cm"/>
    </inkml:brush>
  </inkml:definitions>
  <inkml:trace contextRef="#ctx0" brushRef="#br0">1 1 24575,'211'154'0,"187"174"0,-189-147 0,298 286 0,-390-354 0,-26-30 0,-42-40 0,65 73 0,-42-33 0,-25-30 0,46 66 0,-40-43 0,75 82 0,-88-105 0,-30-38 0,1 0 0,24 25 0,-15-19 0,-1 2 0,-1 0 0,-1 1 0,16 30 0,33 48 0,-11-34 0,31 43 0,-68-86 0,2-2 0,0-1 0,37 31 0,-33-32 0,-2 1 0,41 49 0,-22-12-1365,-26-34-5461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4:57.688"/>
    </inkml:context>
    <inkml:brush xml:id="br0">
      <inkml:brushProperty name="width" value="0.035" units="cm"/>
      <inkml:brushProperty name="height" value="0.035" units="cm"/>
    </inkml:brush>
  </inkml:definitions>
  <inkml:trace contextRef="#ctx0" brushRef="#br0">1 1 24575,'1025'0'0,"-993"1"0,0 2 0,46 11 0,5 1 0,48 8 0,-80-12 0,84 7 0,64-17-154,-143-2-1057,-20 1-5615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4:59.133"/>
    </inkml:context>
    <inkml:brush xml:id="br0">
      <inkml:brushProperty name="width" value="0.035" units="cm"/>
      <inkml:brushProperty name="height" value="0.035" units="cm"/>
    </inkml:brush>
  </inkml:definitions>
  <inkml:trace contextRef="#ctx0" brushRef="#br0">0 0 24575,'14'7'0,"20"17"0,11 26 0,4 19 0,10 4 0,0 5 0,-1 4 0,-4-13 0,-4-11 0,-3 0 0,-10-3 0,-4-12 0,-7-4 0,-8-3 0,-1-8 0,-2 0 0,-4 1 0,-4-3-8191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5:00.130"/>
    </inkml:context>
    <inkml:brush xml:id="br0">
      <inkml:brushProperty name="width" value="0.035" units="cm"/>
      <inkml:brushProperty name="height" value="0.035" units="cm"/>
    </inkml:brush>
  </inkml:definitions>
  <inkml:trace contextRef="#ctx0" brushRef="#br0">392 0 24575,'0'7'0,"-14"17"0,-13 12 0,-8 6 0,-5 4 0,-11 1 0,-4 0 0,1-2 0,9 0 0,5-8 0,9-11-8191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5:03.141"/>
    </inkml:context>
    <inkml:brush xml:id="br0">
      <inkml:brushProperty name="width" value="0.035" units="cm"/>
      <inkml:brushProperty name="height" value="0.035" units="cm"/>
    </inkml:brush>
  </inkml:definitions>
  <inkml:trace contextRef="#ctx0" brushRef="#br0">1 0 24575,'1821'0'-1365,"-1784"0"-5461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5:05.839"/>
    </inkml:context>
    <inkml:brush xml:id="br0">
      <inkml:brushProperty name="width" value="0.035" units="cm"/>
      <inkml:brushProperty name="height" value="0.035" units="cm"/>
    </inkml:brush>
  </inkml:definitions>
  <inkml:trace contextRef="#ctx0" brushRef="#br0">0 1 24575,'84'74'0,"-22"-22"0,94 62 0,26 20 0,-128-88 0,128 100 0,-3-22 0,-173-120 0,0 0 0,-1 0 0,0 0 0,0 1 0,0 0 0,0 0 0,-1 0 0,7 12 0,-9-15 0,-1 0 0,0 1 0,0-1 0,0 1 0,0-1 0,-1 1 0,1 0 0,-1-1 0,1 1 0,-1 0 0,0-1 0,0 1 0,0 0 0,-1-1 0,1 1 0,-1-1 0,1 1 0,-1 0 0,0-1 0,0 1 0,0-1 0,0 1 0,0-1 0,-1 0 0,1 0 0,-3 3 0,-6 6 0,-1-1 0,-1 0 0,0 0 0,0-1 0,-1-1 0,0 0 0,-21 9 0,-26 17 0,7-1 0,26-16 0,1 0 0,-28 23 0,32-20 0,-133 121 0,146-131 33,0 1 0,0 0 0,-12 22 0,13-19-532,0-1 0,-15 17 0,5-12-6327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5:09.086"/>
    </inkml:context>
    <inkml:brush xml:id="br0">
      <inkml:brushProperty name="width" value="0.035" units="cm"/>
      <inkml:brushProperty name="height" value="0.035" units="cm"/>
    </inkml:brush>
  </inkml:definitions>
  <inkml:trace contextRef="#ctx0" brushRef="#br0">1 1 24575,'2077'0'-1365,"-2041"0"-5461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5:11.039"/>
    </inkml:context>
    <inkml:brush xml:id="br0">
      <inkml:brushProperty name="width" value="0.035" units="cm"/>
      <inkml:brushProperty name="height" value="0.035" units="cm"/>
    </inkml:brush>
  </inkml:definitions>
  <inkml:trace contextRef="#ctx0" brushRef="#br0">0 1 24575,'5'1'0,"0"0"0,-1 1 0,1 0 0,-1 0 0,1 0 0,-1 0 0,0 1 0,0 0 0,0 0 0,0 0 0,0 0 0,4 5 0,9 6 0,130 90 0,15 11 0,0 22 0,57 43 0,-42-52 0,-174-126 0,-1 0 0,0 0 0,1 0 0,-1 0 0,0 0 0,0 1 0,0-1 0,0 1 0,0 0 0,-1-1 0,1 1 0,1 3 0,-3-5 0,0 1 0,0-1 0,0 0 0,0 1 0,0-1 0,0 0 0,0 1 0,0-1 0,-1 0 0,1 0 0,0 1 0,-1-1 0,1 0 0,-1 0 0,1 0 0,-1 1 0,0-1 0,1 0 0,-1 0 0,0 0 0,0 0 0,0 0 0,0 0 0,0-1 0,0 1 0,0 0 0,0 0 0,0-1 0,0 1 0,-2 0 0,-25 13 0,-1 0 0,-44 12 0,36-12 0,-14 3 0,1 3 0,2 2 0,-75 45 0,-14 29-1365,100-66-5461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5:13.334"/>
    </inkml:context>
    <inkml:brush xml:id="br0">
      <inkml:brushProperty name="width" value="0.035" units="cm"/>
      <inkml:brushProperty name="height" value="0.035" units="cm"/>
    </inkml:brush>
  </inkml:definitions>
  <inkml:trace contextRef="#ctx0" brushRef="#br0">1 1 24575,'1567'0'-1365,"-1530"0"-5461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5:16.552"/>
    </inkml:context>
    <inkml:brush xml:id="br0">
      <inkml:brushProperty name="width" value="0.035" units="cm"/>
      <inkml:brushProperty name="height" value="0.035" units="cm"/>
    </inkml:brush>
  </inkml:definitions>
  <inkml:trace contextRef="#ctx0" brushRef="#br0">1 0 24575,'13'11'0,"0"0"0,1-1 0,24 13 0,5 4 0,59 55 0,-65-51 0,44 31 0,-58-46 0,-1 2 0,-2 0 0,20 22 0,-21-20 0,0-2 0,1 0 0,33 23 0,-38-32 0,0 2 0,-1 0 0,0 0 0,-1 2 0,0 0 0,-1 0 0,-1 1 0,0 0 0,13 23 0,4 6 0,-18-30 0,-1 1 0,0 0 0,-2 0 0,1 1 0,7 22 0,-14-33 0,0 0 0,-1 1 0,1-1 0,-1 0 0,1 0 0,-1 1 0,0-1 0,-1 0 0,1 1 0,-1-1 0,0 0 0,0 0 0,0 0 0,-1 0 0,1 0 0,-1 0 0,0 0 0,0 0 0,0-1 0,-1 1 0,0-1 0,1 1 0,-1-1 0,0 0 0,-6 4 0,-4 3 0,0 0 0,-1-1 0,0-1 0,-17 8 0,20-12 0,1 1 0,-1 1 0,1 0 0,0 0 0,1 1 0,-1 0 0,1 1 0,1 0 0,-1 0 0,-6 10 0,3 1 0,-15 33 0,21-39 0,0 0 0,-1-1 0,0 0 0,-1 0 0,0 0 0,-20 19 0,-91 78-1365,90-87-5461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5:19.812"/>
    </inkml:context>
    <inkml:brush xml:id="br0">
      <inkml:brushProperty name="width" value="0.035" units="cm"/>
      <inkml:brushProperty name="height" value="0.035" units="cm"/>
    </inkml:brush>
  </inkml:definitions>
  <inkml:trace contextRef="#ctx0" brushRef="#br0">1 0 24575,'129'5'0,"245"40"0,-287-31 0,178 37 0,-257-50 0,-1 2 0,1-1 0,-1 1 0,0 0 0,0 1 0,0 0 0,0 0 0,-1 0 0,1 1 0,9 9 0,-12-9 0,0 0 0,0 0 0,-1 1 0,1-1 0,-1 1 0,0 0 0,-1 0 0,1 0 0,-1 0 0,0 1 0,-1-1 0,0 1 0,1 8 0,2 119 0,-2-14 0,42 246 0,-18-172 0,-19-138 0,3-1 0,2 0 0,21 59 0,-16-50-1365,-11-35-5461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5:22.839"/>
    </inkml:context>
    <inkml:brush xml:id="br0">
      <inkml:brushProperty name="width" value="0.035" units="cm"/>
      <inkml:brushProperty name="height" value="0.035" units="cm"/>
    </inkml:brush>
  </inkml:definitions>
  <inkml:trace contextRef="#ctx0" brushRef="#br0">1 0 24575,'11'1'0,"0"0"0,0 0 0,1 2 0,-1-1 0,0 1 0,11 5 0,63 30 0,-65-28 0,222 125 0,-213-121 0,39 18 0,67 44 0,-115-63 0,-1 1 0,0 0 0,-1 2 0,-1 0 0,0 1 0,-1 0 0,22 33 0,-14-13 0,-11-20 0,-2 0 0,0 1 0,15 35 0,-24-46 0,0 1 0,0-1 0,0 0 0,-1 1 0,0 0 0,-1-1 0,1 1 0,-1 0 0,-1-1 0,0 1 0,0-1 0,0 1 0,-1-1 0,-3 11 0,-138 307 0,140-319 0,-29 59-682,-74 111-1,89-155-6143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5:26.832"/>
    </inkml:context>
    <inkml:brush xml:id="br0">
      <inkml:brushProperty name="width" value="0.035" units="cm"/>
      <inkml:brushProperty name="height" value="0.035" units="cm"/>
    </inkml:brush>
  </inkml:definitions>
  <inkml:trace contextRef="#ctx0" brushRef="#br0">1 0 24012,'85'1482'0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5:30.936"/>
    </inkml:context>
    <inkml:brush xml:id="br0">
      <inkml:brushProperty name="width" value="0.035" units="cm"/>
      <inkml:brushProperty name="height" value="0.035" units="cm"/>
    </inkml:brush>
  </inkml:definitions>
  <inkml:trace contextRef="#ctx0" brushRef="#br0">1222 1 24575,'-29'2'0,"1"1"0,-1 2 0,1 1 0,1 1 0,-53 21 0,8-3 0,-265 62 0,106-38 0,212-44 0,1 1 0,0 0 0,-29 15 0,29-12 0,0-2 0,0 0 0,-26 7 0,14-9-455,-1-2 0,-32 1 0,27-4-6371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3T23:05:32.030"/>
    </inkml:context>
    <inkml:brush xml:id="br0">
      <inkml:brushProperty name="width" value="0.035" units="cm"/>
      <inkml:brushProperty name="height" value="0.035" units="cm"/>
    </inkml:brush>
  </inkml:definitions>
  <inkml:trace contextRef="#ctx0" brushRef="#br0">0 0 24575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jpe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3" Type="http://schemas.openxmlformats.org/officeDocument/2006/relationships/customXml" Target="../ink/ink2.xml"/><Relationship Id="rId18" Type="http://schemas.openxmlformats.org/officeDocument/2006/relationships/image" Target="../media/image22.png"/><Relationship Id="rId26" Type="http://schemas.openxmlformats.org/officeDocument/2006/relationships/image" Target="../media/image26.png"/><Relationship Id="rId39" Type="http://schemas.openxmlformats.org/officeDocument/2006/relationships/customXml" Target="../ink/ink15.xml"/><Relationship Id="rId21" Type="http://schemas.openxmlformats.org/officeDocument/2006/relationships/customXml" Target="../ink/ink6.xml"/><Relationship Id="rId34" Type="http://schemas.openxmlformats.org/officeDocument/2006/relationships/image" Target="../media/image30.png"/><Relationship Id="rId42" Type="http://schemas.openxmlformats.org/officeDocument/2006/relationships/image" Target="../media/image34.png"/><Relationship Id="rId7" Type="http://schemas.openxmlformats.org/officeDocument/2006/relationships/image" Target="../media/image15.svg"/><Relationship Id="rId2" Type="http://schemas.openxmlformats.org/officeDocument/2006/relationships/image" Target="../media/image1.jpeg"/><Relationship Id="rId16" Type="http://schemas.openxmlformats.org/officeDocument/2006/relationships/image" Target="../media/image21.png"/><Relationship Id="rId29" Type="http://schemas.openxmlformats.org/officeDocument/2006/relationships/customXml" Target="../ink/ink10.xml"/><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customXml" Target="../ink/ink1.xml"/><Relationship Id="rId24" Type="http://schemas.openxmlformats.org/officeDocument/2006/relationships/image" Target="../media/image25.png"/><Relationship Id="rId32" Type="http://schemas.openxmlformats.org/officeDocument/2006/relationships/image" Target="../media/image29.png"/><Relationship Id="rId37" Type="http://schemas.openxmlformats.org/officeDocument/2006/relationships/customXml" Target="../ink/ink14.xml"/><Relationship Id="rId40" Type="http://schemas.openxmlformats.org/officeDocument/2006/relationships/image" Target="../media/image33.png"/><Relationship Id="rId45" Type="http://schemas.openxmlformats.org/officeDocument/2006/relationships/hyperlink" Target="https://clause-guard-ten-chi.vercel.app/" TargetMode="External"/><Relationship Id="rId5" Type="http://schemas.openxmlformats.org/officeDocument/2006/relationships/image" Target="../media/image13.svg"/><Relationship Id="rId15" Type="http://schemas.openxmlformats.org/officeDocument/2006/relationships/customXml" Target="../ink/ink3.xml"/><Relationship Id="rId23" Type="http://schemas.openxmlformats.org/officeDocument/2006/relationships/customXml" Target="../ink/ink7.xml"/><Relationship Id="rId28" Type="http://schemas.openxmlformats.org/officeDocument/2006/relationships/image" Target="../media/image27.png"/><Relationship Id="rId36"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customXml" Target="../ink/ink5.xml"/><Relationship Id="rId31" Type="http://schemas.openxmlformats.org/officeDocument/2006/relationships/customXml" Target="../ink/ink11.xml"/><Relationship Id="rId44" Type="http://schemas.openxmlformats.org/officeDocument/2006/relationships/image" Target="../media/image35.png"/><Relationship Id="rId4" Type="http://schemas.openxmlformats.org/officeDocument/2006/relationships/image" Target="../media/image12.svg"/><Relationship Id="rId9" Type="http://schemas.openxmlformats.org/officeDocument/2006/relationships/image" Target="../media/image17.svg"/><Relationship Id="rId14" Type="http://schemas.openxmlformats.org/officeDocument/2006/relationships/image" Target="../media/image20.png"/><Relationship Id="rId22" Type="http://schemas.openxmlformats.org/officeDocument/2006/relationships/image" Target="../media/image24.png"/><Relationship Id="rId27" Type="http://schemas.openxmlformats.org/officeDocument/2006/relationships/customXml" Target="../ink/ink9.xml"/><Relationship Id="rId30" Type="http://schemas.openxmlformats.org/officeDocument/2006/relationships/image" Target="../media/image28.png"/><Relationship Id="rId35" Type="http://schemas.openxmlformats.org/officeDocument/2006/relationships/customXml" Target="../ink/ink13.xml"/><Relationship Id="rId43" Type="http://schemas.openxmlformats.org/officeDocument/2006/relationships/customXml" Target="../ink/ink17.xml"/><Relationship Id="rId8" Type="http://schemas.openxmlformats.org/officeDocument/2006/relationships/image" Target="../media/image16.png"/><Relationship Id="rId3" Type="http://schemas.openxmlformats.org/officeDocument/2006/relationships/image" Target="../media/image11.png"/><Relationship Id="rId12" Type="http://schemas.openxmlformats.org/officeDocument/2006/relationships/image" Target="../media/image19.png"/><Relationship Id="rId17" Type="http://schemas.openxmlformats.org/officeDocument/2006/relationships/customXml" Target="../ink/ink4.xml"/><Relationship Id="rId25" Type="http://schemas.openxmlformats.org/officeDocument/2006/relationships/customXml" Target="../ink/ink8.xml"/><Relationship Id="rId33" Type="http://schemas.openxmlformats.org/officeDocument/2006/relationships/customXml" Target="../ink/ink12.xml"/><Relationship Id="rId38" Type="http://schemas.openxmlformats.org/officeDocument/2006/relationships/image" Target="../media/image32.png"/><Relationship Id="rId20" Type="http://schemas.openxmlformats.org/officeDocument/2006/relationships/image" Target="../media/image23.png"/><Relationship Id="rId41" Type="http://schemas.openxmlformats.org/officeDocument/2006/relationships/customXml" Target="../ink/ink16.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3314700" y="5848951"/>
            <a:ext cx="11658600" cy="3628262"/>
            <a:chOff x="0" y="0"/>
            <a:chExt cx="11054080" cy="3440130"/>
          </a:xfrm>
        </p:grpSpPr>
        <p:sp>
          <p:nvSpPr>
            <p:cNvPr id="3" name="Freeform 3"/>
            <p:cNvSpPr/>
            <p:nvPr/>
          </p:nvSpPr>
          <p:spPr>
            <a:xfrm>
              <a:off x="0" y="0"/>
              <a:ext cx="11054080" cy="3440133"/>
            </a:xfrm>
            <a:custGeom>
              <a:avLst/>
              <a:gdLst/>
              <a:ahLst/>
              <a:cxnLst/>
              <a:rect l="l" t="t" r="r" b="b"/>
              <a:pathLst>
                <a:path w="11054080" h="3440133">
                  <a:moveTo>
                    <a:pt x="0" y="0"/>
                  </a:moveTo>
                  <a:lnTo>
                    <a:pt x="11054080" y="0"/>
                  </a:lnTo>
                  <a:lnTo>
                    <a:pt x="11054080" y="3440133"/>
                  </a:lnTo>
                  <a:lnTo>
                    <a:pt x="0" y="3440133"/>
                  </a:lnTo>
                  <a:close/>
                </a:path>
              </a:pathLst>
            </a:custGeom>
            <a:blipFill>
              <a:blip r:embed="rId2">
                <a:alphaModFix amt="0"/>
              </a:blip>
              <a:stretch>
                <a:fillRect t="-32223" b="7002"/>
              </a:stretch>
            </a:blipFill>
          </p:spPr>
        </p:sp>
        <p:sp>
          <p:nvSpPr>
            <p:cNvPr id="4" name="TextBox 4"/>
            <p:cNvSpPr txBox="1"/>
            <p:nvPr/>
          </p:nvSpPr>
          <p:spPr>
            <a:xfrm>
              <a:off x="0" y="0"/>
              <a:ext cx="11054080" cy="3440130"/>
            </a:xfrm>
            <a:prstGeom prst="rect">
              <a:avLst/>
            </a:prstGeom>
          </p:spPr>
          <p:txBody>
            <a:bodyPr lIns="0" tIns="0" rIns="0" bIns="0" rtlCol="0" anchor="ctr"/>
            <a:lstStyle/>
            <a:p>
              <a:pPr algn="ctr">
                <a:lnSpc>
                  <a:spcPts val="5400"/>
                </a:lnSpc>
              </a:pPr>
              <a:r>
                <a:rPr lang="en-US" sz="4500" b="1">
                  <a:solidFill>
                    <a:srgbClr val="54AF9F"/>
                  </a:solidFill>
                  <a:latin typeface="Canva Sans Bold"/>
                  <a:ea typeface="Canva Sans Bold"/>
                  <a:cs typeface="Canva Sans Bold"/>
                  <a:sym typeface="Canva Sans Bold"/>
                </a:rPr>
                <a:t>Group 3 - ClauseGuard</a:t>
              </a:r>
            </a:p>
            <a:p>
              <a:pPr algn="ctr">
                <a:lnSpc>
                  <a:spcPts val="4680"/>
                </a:lnSpc>
              </a:pPr>
              <a:r>
                <a:rPr lang="en-US" sz="3900">
                  <a:solidFill>
                    <a:srgbClr val="54AF9F"/>
                  </a:solidFill>
                  <a:latin typeface="Fredoka"/>
                  <a:ea typeface="Fredoka"/>
                  <a:cs typeface="Fredoka"/>
                  <a:sym typeface="Fredoka"/>
                </a:rPr>
                <a:t>Interim Presentation</a:t>
              </a:r>
            </a:p>
            <a:p>
              <a:pPr algn="ctr">
                <a:lnSpc>
                  <a:spcPts val="2520"/>
                </a:lnSpc>
              </a:pPr>
              <a:r>
                <a:rPr lang="en-US" sz="2100">
                  <a:solidFill>
                    <a:srgbClr val="54AF9F"/>
                  </a:solidFill>
                  <a:latin typeface="Canva Sans"/>
                  <a:ea typeface="Canva Sans"/>
                  <a:cs typeface="Canva Sans"/>
                  <a:sym typeface="Canva Sans"/>
                </a:rPr>
                <a:t>A00047237 – Siddharth Varma Raja</a:t>
              </a:r>
            </a:p>
            <a:p>
              <a:pPr algn="ctr">
                <a:lnSpc>
                  <a:spcPts val="2520"/>
                </a:lnSpc>
              </a:pPr>
              <a:r>
                <a:rPr lang="en-US" sz="2100">
                  <a:solidFill>
                    <a:srgbClr val="54AF9F"/>
                  </a:solidFill>
                  <a:latin typeface="Canva Sans"/>
                  <a:ea typeface="Canva Sans"/>
                  <a:cs typeface="Canva Sans"/>
                  <a:sym typeface="Canva Sans"/>
                </a:rPr>
                <a:t>A00047190 – Prasad Nitin Pansare</a:t>
              </a:r>
            </a:p>
            <a:p>
              <a:pPr algn="ctr">
                <a:lnSpc>
                  <a:spcPts val="2520"/>
                </a:lnSpc>
              </a:pPr>
              <a:r>
                <a:rPr lang="en-US" sz="2100">
                  <a:solidFill>
                    <a:srgbClr val="54AF9F"/>
                  </a:solidFill>
                  <a:latin typeface="Canva Sans"/>
                  <a:ea typeface="Canva Sans"/>
                  <a:cs typeface="Canva Sans"/>
                  <a:sym typeface="Canva Sans"/>
                </a:rPr>
                <a:t>A00047193 – Shubham Tatyasaheb Patil</a:t>
              </a:r>
            </a:p>
            <a:p>
              <a:pPr algn="ctr">
                <a:lnSpc>
                  <a:spcPts val="2520"/>
                </a:lnSpc>
              </a:pPr>
              <a:r>
                <a:rPr lang="en-US" sz="2100">
                  <a:solidFill>
                    <a:srgbClr val="54AF9F"/>
                  </a:solidFill>
                  <a:latin typeface="Canva Sans"/>
                  <a:ea typeface="Canva Sans"/>
                  <a:cs typeface="Canva Sans"/>
                  <a:sym typeface="Canva Sans"/>
                </a:rPr>
                <a:t>A00046404 – Kameshwara Karthik Ayyalasomayajula</a:t>
              </a:r>
            </a:p>
            <a:p>
              <a:pPr algn="ctr">
                <a:lnSpc>
                  <a:spcPts val="2520"/>
                </a:lnSpc>
              </a:pPr>
              <a:r>
                <a:rPr lang="en-US" sz="2100">
                  <a:solidFill>
                    <a:srgbClr val="54AF9F"/>
                  </a:solidFill>
                  <a:latin typeface="Canva Sans"/>
                  <a:ea typeface="Canva Sans"/>
                  <a:cs typeface="Canva Sans"/>
                  <a:sym typeface="Canva Sans"/>
                </a:rPr>
                <a:t>A00046791 – Jude Fernandes</a:t>
              </a:r>
            </a:p>
            <a:p>
              <a:pPr algn="ctr">
                <a:lnSpc>
                  <a:spcPts val="2520"/>
                </a:lnSpc>
              </a:pPr>
              <a:endParaRPr lang="en-US" sz="2100">
                <a:solidFill>
                  <a:srgbClr val="54AF9F"/>
                </a:solidFill>
                <a:latin typeface="Canva Sans"/>
                <a:ea typeface="Canva Sans"/>
                <a:cs typeface="Canva Sans"/>
                <a:sym typeface="Canva Sans"/>
              </a:endParaRPr>
            </a:p>
            <a:p>
              <a:pPr algn="ctr">
                <a:lnSpc>
                  <a:spcPts val="2520"/>
                </a:lnSpc>
              </a:pPr>
              <a:r>
                <a:rPr lang="en-US" sz="2100">
                  <a:solidFill>
                    <a:srgbClr val="54AF9F"/>
                  </a:solidFill>
                  <a:latin typeface="Canva Sans"/>
                  <a:ea typeface="Canva Sans"/>
                  <a:cs typeface="Canva Sans"/>
                  <a:sym typeface="Canva Sans"/>
                </a:rPr>
                <a:t>23 October 2026</a:t>
              </a:r>
            </a:p>
          </p:txBody>
        </p:sp>
      </p:grpSp>
      <p:grpSp>
        <p:nvGrpSpPr>
          <p:cNvPr id="5" name="Group 5"/>
          <p:cNvGrpSpPr/>
          <p:nvPr/>
        </p:nvGrpSpPr>
        <p:grpSpPr>
          <a:xfrm>
            <a:off x="5508009" y="1227970"/>
            <a:ext cx="6741419" cy="4194666"/>
            <a:chOff x="0" y="0"/>
            <a:chExt cx="2998330" cy="1865630"/>
          </a:xfrm>
        </p:grpSpPr>
        <p:sp>
          <p:nvSpPr>
            <p:cNvPr id="6" name="Freeform 6"/>
            <p:cNvSpPr/>
            <p:nvPr/>
          </p:nvSpPr>
          <p:spPr>
            <a:xfrm>
              <a:off x="0" y="0"/>
              <a:ext cx="2998343" cy="1865630"/>
            </a:xfrm>
            <a:custGeom>
              <a:avLst/>
              <a:gdLst/>
              <a:ahLst/>
              <a:cxnLst/>
              <a:rect l="l" t="t" r="r" b="b"/>
              <a:pathLst>
                <a:path w="2998343" h="1865630">
                  <a:moveTo>
                    <a:pt x="0" y="0"/>
                  </a:moveTo>
                  <a:lnTo>
                    <a:pt x="2998343" y="0"/>
                  </a:lnTo>
                  <a:lnTo>
                    <a:pt x="2998343" y="1865630"/>
                  </a:lnTo>
                  <a:lnTo>
                    <a:pt x="0" y="1865630"/>
                  </a:lnTo>
                  <a:lnTo>
                    <a:pt x="0" y="0"/>
                  </a:lnTo>
                  <a:close/>
                </a:path>
              </a:pathLst>
            </a:custGeom>
            <a:blipFill>
              <a:blip r:embed="rId3"/>
              <a:stretch>
                <a:fillRect/>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971800" y="411962"/>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sp>
        <p:sp>
          <p:nvSpPr>
            <p:cNvPr id="4" name="TextBox 4"/>
            <p:cNvSpPr txBox="1"/>
            <p:nvPr/>
          </p:nvSpPr>
          <p:spPr>
            <a:xfrm>
              <a:off x="0" y="0"/>
              <a:ext cx="11704320" cy="1625600"/>
            </a:xfrm>
            <a:prstGeom prst="rect">
              <a:avLst/>
            </a:prstGeom>
          </p:spPr>
          <p:txBody>
            <a:bodyPr lIns="0" tIns="0" rIns="0" bIns="0" rtlCol="0" anchor="ctr"/>
            <a:lstStyle/>
            <a:p>
              <a:pPr algn="ctr">
                <a:lnSpc>
                  <a:spcPts val="7920"/>
                </a:lnSpc>
              </a:pPr>
              <a:r>
                <a:rPr lang="en-US" sz="6600">
                  <a:solidFill>
                    <a:srgbClr val="54AF9F"/>
                  </a:solidFill>
                  <a:latin typeface="Fredoka"/>
                  <a:ea typeface="Fredoka"/>
                  <a:cs typeface="Fredoka"/>
                  <a:sym typeface="Fredoka"/>
                </a:rPr>
                <a:t>Project Vision</a:t>
              </a:r>
            </a:p>
          </p:txBody>
        </p:sp>
      </p:grpSp>
      <p:sp>
        <p:nvSpPr>
          <p:cNvPr id="5" name="TextBox 5"/>
          <p:cNvSpPr txBox="1"/>
          <p:nvPr/>
        </p:nvSpPr>
        <p:spPr>
          <a:xfrm>
            <a:off x="456495" y="2980507"/>
            <a:ext cx="8687505" cy="2778102"/>
          </a:xfrm>
          <a:prstGeom prst="rect">
            <a:avLst/>
          </a:prstGeom>
        </p:spPr>
        <p:txBody>
          <a:bodyPr lIns="0" tIns="0" rIns="0" bIns="0" rtlCol="0" anchor="t">
            <a:spAutoFit/>
          </a:bodyPr>
          <a:lstStyle/>
          <a:p>
            <a:pPr algn="ctr">
              <a:lnSpc>
                <a:spcPts val="2770"/>
              </a:lnSpc>
              <a:spcBef>
                <a:spcPct val="0"/>
              </a:spcBef>
            </a:pPr>
            <a:r>
              <a:rPr lang="en-US" sz="2308">
                <a:solidFill>
                  <a:srgbClr val="000000"/>
                </a:solidFill>
                <a:latin typeface="Fredoka"/>
                <a:ea typeface="Fredoka"/>
                <a:cs typeface="Fredoka"/>
                <a:sym typeface="Fredoka"/>
              </a:rPr>
              <a:t>Tenancy agreements can be dense and there's always been a bit of a give and take with the laws governing tenancies in Ireland, especially the 2026 Act with its new national rent cap of either 2% or CPI. The Residential Tenancies Board (RTB) does not look at individual leases, but offers great general advice. Moreover, generic AI-powered chatbots for lease analysis can lead to harmful legal hallucinations and significant data privacy concerns for tenants.</a:t>
            </a:r>
          </a:p>
        </p:txBody>
      </p:sp>
      <p:sp>
        <p:nvSpPr>
          <p:cNvPr id="6" name="TextBox 6"/>
          <p:cNvSpPr txBox="1"/>
          <p:nvPr/>
        </p:nvSpPr>
        <p:spPr>
          <a:xfrm>
            <a:off x="2971800" y="1980382"/>
            <a:ext cx="3124200" cy="1013098"/>
          </a:xfrm>
          <a:prstGeom prst="rect">
            <a:avLst/>
          </a:prstGeom>
        </p:spPr>
        <p:txBody>
          <a:bodyPr wrap="square" lIns="0" tIns="0" rIns="0" bIns="0" rtlCol="0" anchor="t">
            <a:spAutoFit/>
          </a:bodyPr>
          <a:lstStyle/>
          <a:p>
            <a:pPr algn="ctr">
              <a:lnSpc>
                <a:spcPts val="7920"/>
              </a:lnSpc>
              <a:spcBef>
                <a:spcPct val="0"/>
              </a:spcBef>
            </a:pPr>
            <a:r>
              <a:rPr lang="en-US" sz="6600" dirty="0">
                <a:solidFill>
                  <a:srgbClr val="000000"/>
                </a:solidFill>
                <a:latin typeface="Fredoka"/>
                <a:ea typeface="Fredoka"/>
                <a:cs typeface="Fredoka"/>
                <a:sym typeface="Fredoka"/>
              </a:rPr>
              <a:t>WHAT</a:t>
            </a:r>
          </a:p>
        </p:txBody>
      </p:sp>
      <p:sp>
        <p:nvSpPr>
          <p:cNvPr id="7" name="TextBox 7"/>
          <p:cNvSpPr txBox="1"/>
          <p:nvPr/>
        </p:nvSpPr>
        <p:spPr>
          <a:xfrm>
            <a:off x="9936100" y="4368294"/>
            <a:ext cx="8090918" cy="4414706"/>
          </a:xfrm>
          <a:prstGeom prst="rect">
            <a:avLst/>
          </a:prstGeom>
        </p:spPr>
        <p:txBody>
          <a:bodyPr lIns="0" tIns="0" rIns="0" bIns="0" rtlCol="0" anchor="t">
            <a:spAutoFit/>
          </a:bodyPr>
          <a:lstStyle/>
          <a:p>
            <a:pPr algn="ctr">
              <a:lnSpc>
                <a:spcPts val="3496"/>
              </a:lnSpc>
              <a:spcBef>
                <a:spcPct val="0"/>
              </a:spcBef>
            </a:pPr>
            <a:r>
              <a:rPr lang="en-US" sz="2913">
                <a:solidFill>
                  <a:srgbClr val="000000"/>
                </a:solidFill>
                <a:latin typeface="Fredoka"/>
                <a:ea typeface="Fredoka"/>
                <a:cs typeface="Fredoka"/>
                <a:sym typeface="Fredoka"/>
              </a:rPr>
              <a:t>ClauseGuard is an automated lease-compliance system which checks residential leases in line with current Irish tenancy law. It helps to simplify legal language and identify problematic clauses, clarify the problem, and suggest actionable steps. Importantly, all documents containing Personally Identifiable Information (PII) are heavily redacted before they are stored or processed.</a:t>
            </a:r>
          </a:p>
        </p:txBody>
      </p:sp>
      <p:sp>
        <p:nvSpPr>
          <p:cNvPr id="8" name="TextBox 8"/>
          <p:cNvSpPr txBox="1"/>
          <p:nvPr/>
        </p:nvSpPr>
        <p:spPr>
          <a:xfrm>
            <a:off x="12945120" y="3368169"/>
            <a:ext cx="2072878" cy="1000125"/>
          </a:xfrm>
          <a:prstGeom prst="rect">
            <a:avLst/>
          </a:prstGeom>
        </p:spPr>
        <p:txBody>
          <a:bodyPr lIns="0" tIns="0" rIns="0" bIns="0" rtlCol="0" anchor="t">
            <a:spAutoFit/>
          </a:bodyPr>
          <a:lstStyle/>
          <a:p>
            <a:pPr algn="ctr">
              <a:lnSpc>
                <a:spcPts val="7920"/>
              </a:lnSpc>
              <a:spcBef>
                <a:spcPct val="0"/>
              </a:spcBef>
            </a:pPr>
            <a:r>
              <a:rPr lang="en-US" sz="6600">
                <a:solidFill>
                  <a:srgbClr val="000000"/>
                </a:solidFill>
                <a:latin typeface="Fredoka"/>
                <a:ea typeface="Fredoka"/>
                <a:cs typeface="Fredoka"/>
                <a:sym typeface="Fredoka"/>
              </a:rPr>
              <a:t>WHO</a:t>
            </a:r>
          </a:p>
        </p:txBody>
      </p:sp>
      <p:sp>
        <p:nvSpPr>
          <p:cNvPr id="9" name="TextBox 9"/>
          <p:cNvSpPr txBox="1"/>
          <p:nvPr/>
        </p:nvSpPr>
        <p:spPr>
          <a:xfrm>
            <a:off x="630705" y="7571589"/>
            <a:ext cx="7302589" cy="2382985"/>
          </a:xfrm>
          <a:prstGeom prst="rect">
            <a:avLst/>
          </a:prstGeom>
        </p:spPr>
        <p:txBody>
          <a:bodyPr lIns="0" tIns="0" rIns="0" bIns="0" rtlCol="0" anchor="t">
            <a:spAutoFit/>
          </a:bodyPr>
          <a:lstStyle/>
          <a:p>
            <a:pPr algn="ctr">
              <a:lnSpc>
                <a:spcPts val="2695"/>
              </a:lnSpc>
              <a:spcBef>
                <a:spcPct val="0"/>
              </a:spcBef>
            </a:pPr>
            <a:r>
              <a:rPr lang="en-US" sz="2246">
                <a:solidFill>
                  <a:srgbClr val="000000"/>
                </a:solidFill>
                <a:latin typeface="Fredoka"/>
                <a:ea typeface="Fredoka"/>
                <a:cs typeface="Fredoka"/>
                <a:sym typeface="Fredoka"/>
              </a:rPr>
              <a:t>People who are not lawyers and are living in the private rental sector in Ireland. This specifically caters to the vulnerable renters, such as domestic and international students, newly arrived expatriates and shift workers. The site is specifically geared towards empowering the tenant, not towards landlords or lawyers.</a:t>
            </a:r>
          </a:p>
        </p:txBody>
      </p:sp>
      <p:sp>
        <p:nvSpPr>
          <p:cNvPr id="10" name="TextBox 10"/>
          <p:cNvSpPr txBox="1"/>
          <p:nvPr/>
        </p:nvSpPr>
        <p:spPr>
          <a:xfrm>
            <a:off x="2801902" y="6571464"/>
            <a:ext cx="1998345" cy="1000125"/>
          </a:xfrm>
          <a:prstGeom prst="rect">
            <a:avLst/>
          </a:prstGeom>
        </p:spPr>
        <p:txBody>
          <a:bodyPr lIns="0" tIns="0" rIns="0" bIns="0" rtlCol="0" anchor="t">
            <a:spAutoFit/>
          </a:bodyPr>
          <a:lstStyle/>
          <a:p>
            <a:pPr algn="ctr">
              <a:lnSpc>
                <a:spcPts val="7920"/>
              </a:lnSpc>
              <a:spcBef>
                <a:spcPct val="0"/>
              </a:spcBef>
            </a:pPr>
            <a:r>
              <a:rPr lang="en-US" sz="6600">
                <a:solidFill>
                  <a:srgbClr val="000000"/>
                </a:solidFill>
                <a:latin typeface="Fredoka"/>
                <a:ea typeface="Fredoka"/>
                <a:cs typeface="Fredoka"/>
                <a:sym typeface="Fredoka"/>
              </a:rPr>
              <a:t>WHY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3119967" y="0"/>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4">
                <a:alphaModFix amt="0"/>
              </a:blip>
              <a:stretch>
                <a:fillRect t="-90292" b="-90292"/>
              </a:stretch>
            </a:blipFill>
          </p:spPr>
        </p:sp>
        <p:sp>
          <p:nvSpPr>
            <p:cNvPr id="4" name="TextBox 4"/>
            <p:cNvSpPr txBox="1"/>
            <p:nvPr/>
          </p:nvSpPr>
          <p:spPr>
            <a:xfrm>
              <a:off x="0" y="0"/>
              <a:ext cx="11704320" cy="1625600"/>
            </a:xfrm>
            <a:prstGeom prst="rect">
              <a:avLst/>
            </a:prstGeom>
          </p:spPr>
          <p:txBody>
            <a:bodyPr lIns="0" tIns="0" rIns="0" bIns="0" rtlCol="0" anchor="ctr"/>
            <a:lstStyle/>
            <a:p>
              <a:pPr algn="ctr">
                <a:lnSpc>
                  <a:spcPts val="7920"/>
                </a:lnSpc>
              </a:pPr>
              <a:r>
                <a:rPr lang="en-US" sz="6600">
                  <a:solidFill>
                    <a:srgbClr val="54AF9F"/>
                  </a:solidFill>
                  <a:latin typeface="Fredoka"/>
                  <a:ea typeface="Fredoka"/>
                  <a:cs typeface="Fredoka"/>
                  <a:sym typeface="Fredoka"/>
                </a:rPr>
                <a:t>Project Vision</a:t>
              </a:r>
            </a:p>
          </p:txBody>
        </p:sp>
      </p:grpSp>
      <p:pic>
        <p:nvPicPr>
          <p:cNvPr id="5" name="Picture 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l="280" r="135" b="2555"/>
          <a:stretch>
            <a:fillRect/>
          </a:stretch>
        </p:blipFill>
        <p:spPr>
          <a:xfrm>
            <a:off x="1587500" y="1333500"/>
            <a:ext cx="15409333" cy="8481495"/>
          </a:xfrm>
          <a:prstGeom prst="rect">
            <a:avLst/>
          </a:prstGeom>
        </p:spPr>
      </p:pic>
    </p:spTree>
  </p:cSld>
  <p:clrMapOvr>
    <a:masterClrMapping/>
  </p:clrMapOvr>
  <p:timing>
    <p:tnLst>
      <p:par>
        <p:cTn id="1" dur="indefinite" restart="never" nodeType="tmRoot">
          <p:childTnLst>
            <p:video>
              <p:cMediaNode vol="100000">
                <p:cTn id="2" fill="hold" display="0">
                  <p:stCondLst>
                    <p:cond delay="indefinite"/>
                  </p:stCondLst>
                </p:cTn>
                <p:tgtEl>
                  <p:spTgt spid="5"/>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841309" y="-305737"/>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sp>
        <p:sp>
          <p:nvSpPr>
            <p:cNvPr id="4" name="TextBox 4"/>
            <p:cNvSpPr txBox="1"/>
            <p:nvPr/>
          </p:nvSpPr>
          <p:spPr>
            <a:xfrm>
              <a:off x="0" y="0"/>
              <a:ext cx="11704320" cy="1625600"/>
            </a:xfrm>
            <a:prstGeom prst="rect">
              <a:avLst/>
            </a:prstGeom>
          </p:spPr>
          <p:txBody>
            <a:bodyPr lIns="0" tIns="0" rIns="0" bIns="0" rtlCol="0" anchor="ctr"/>
            <a:lstStyle/>
            <a:p>
              <a:pPr algn="ctr">
                <a:lnSpc>
                  <a:spcPts val="7920"/>
                </a:lnSpc>
              </a:pPr>
              <a:r>
                <a:rPr lang="en-US" sz="6600">
                  <a:solidFill>
                    <a:srgbClr val="54AF9F"/>
                  </a:solidFill>
                  <a:latin typeface="Fredoka"/>
                  <a:ea typeface="Fredoka"/>
                  <a:cs typeface="Fredoka"/>
                  <a:sym typeface="Fredoka"/>
                </a:rPr>
                <a:t>Technology Stack</a:t>
              </a:r>
            </a:p>
          </p:txBody>
        </p:sp>
      </p:grpSp>
      <p:pic>
        <p:nvPicPr>
          <p:cNvPr id="8" name="Picture 7">
            <a:extLst>
              <a:ext uri="{FF2B5EF4-FFF2-40B4-BE49-F238E27FC236}">
                <a16:creationId xmlns:a16="http://schemas.microsoft.com/office/drawing/2014/main" id="{05B3D9C8-29F3-6C6B-5A4E-B9A2A5E0D170}"/>
              </a:ext>
            </a:extLst>
          </p:cNvPr>
          <p:cNvPicPr>
            <a:picLocks noChangeAspect="1"/>
          </p:cNvPicPr>
          <p:nvPr/>
        </p:nvPicPr>
        <p:blipFill>
          <a:blip r:embed="rId3"/>
          <a:stretch>
            <a:fillRect/>
          </a:stretch>
        </p:blipFill>
        <p:spPr>
          <a:xfrm>
            <a:off x="685800" y="1104900"/>
            <a:ext cx="17221200" cy="89750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1028700" y="8399647"/>
            <a:ext cx="15287536" cy="858653"/>
          </a:xfrm>
          <a:custGeom>
            <a:avLst/>
            <a:gdLst/>
            <a:ahLst/>
            <a:cxnLst/>
            <a:rect l="l" t="t" r="r" b="b"/>
            <a:pathLst>
              <a:path w="15287536" h="858653">
                <a:moveTo>
                  <a:pt x="0" y="0"/>
                </a:moveTo>
                <a:lnTo>
                  <a:pt x="15287536" y="0"/>
                </a:lnTo>
                <a:lnTo>
                  <a:pt x="15287536" y="858653"/>
                </a:lnTo>
                <a:lnTo>
                  <a:pt x="0" y="858653"/>
                </a:lnTo>
                <a:lnTo>
                  <a:pt x="0" y="0"/>
                </a:lnTo>
                <a:close/>
              </a:path>
            </a:pathLst>
          </a:custGeom>
          <a:blipFill>
            <a:blip r:embed="rId2"/>
            <a:stretch>
              <a:fillRect t="-8419" b="-8419"/>
            </a:stretch>
          </a:blipFill>
        </p:spPr>
      </p:sp>
      <p:sp>
        <p:nvSpPr>
          <p:cNvPr id="3" name="Freeform 3"/>
          <p:cNvSpPr/>
          <p:nvPr/>
        </p:nvSpPr>
        <p:spPr>
          <a:xfrm>
            <a:off x="1028700" y="9258300"/>
            <a:ext cx="15108890" cy="572435"/>
          </a:xfrm>
          <a:custGeom>
            <a:avLst/>
            <a:gdLst/>
            <a:ahLst/>
            <a:cxnLst/>
            <a:rect l="l" t="t" r="r" b="b"/>
            <a:pathLst>
              <a:path w="15108890" h="572435">
                <a:moveTo>
                  <a:pt x="0" y="0"/>
                </a:moveTo>
                <a:lnTo>
                  <a:pt x="15108890" y="0"/>
                </a:lnTo>
                <a:lnTo>
                  <a:pt x="15108890" y="572435"/>
                </a:lnTo>
                <a:lnTo>
                  <a:pt x="0" y="572435"/>
                </a:lnTo>
                <a:lnTo>
                  <a:pt x="0" y="0"/>
                </a:lnTo>
                <a:close/>
              </a:path>
            </a:pathLst>
          </a:custGeom>
          <a:blipFill>
            <a:blip r:embed="rId3"/>
            <a:stretch>
              <a:fillRect t="-7737" b="-7737"/>
            </a:stretch>
          </a:blipFill>
        </p:spPr>
      </p:sp>
      <p:sp>
        <p:nvSpPr>
          <p:cNvPr id="4" name="TextBox 4"/>
          <p:cNvSpPr txBox="1"/>
          <p:nvPr/>
        </p:nvSpPr>
        <p:spPr>
          <a:xfrm>
            <a:off x="666750" y="657225"/>
            <a:ext cx="16954500" cy="1228725"/>
          </a:xfrm>
          <a:prstGeom prst="rect">
            <a:avLst/>
          </a:prstGeom>
        </p:spPr>
        <p:txBody>
          <a:bodyPr lIns="0" tIns="0" rIns="0" bIns="0" rtlCol="0" anchor="t">
            <a:spAutoFit/>
          </a:bodyPr>
          <a:lstStyle/>
          <a:p>
            <a:pPr marL="0" lvl="0" indent="0" algn="l">
              <a:lnSpc>
                <a:spcPts val="9600"/>
              </a:lnSpc>
              <a:spcBef>
                <a:spcPct val="0"/>
              </a:spcBef>
            </a:pPr>
            <a:r>
              <a:rPr lang="en-US" sz="8000">
                <a:solidFill>
                  <a:srgbClr val="54AF9F"/>
                </a:solidFill>
                <a:latin typeface="Fredoka"/>
                <a:ea typeface="Fredoka"/>
                <a:cs typeface="Fredoka"/>
                <a:sym typeface="Fredoka"/>
              </a:rPr>
              <a:t>Data Sta</a:t>
            </a:r>
            <a:r>
              <a:rPr lang="en-US" sz="8000" u="none">
                <a:solidFill>
                  <a:srgbClr val="54AF9F"/>
                </a:solidFill>
                <a:latin typeface="Fredoka"/>
                <a:ea typeface="Fredoka"/>
                <a:cs typeface="Fredoka"/>
                <a:sym typeface="Fredoka"/>
              </a:rPr>
              <a:t>ck</a:t>
            </a:r>
          </a:p>
        </p:txBody>
      </p:sp>
      <p:grpSp>
        <p:nvGrpSpPr>
          <p:cNvPr id="5" name="Group 5"/>
          <p:cNvGrpSpPr/>
          <p:nvPr/>
        </p:nvGrpSpPr>
        <p:grpSpPr>
          <a:xfrm>
            <a:off x="666750" y="3009900"/>
            <a:ext cx="4314825" cy="4809744"/>
            <a:chOff x="0" y="0"/>
            <a:chExt cx="5753100" cy="6412992"/>
          </a:xfrm>
        </p:grpSpPr>
        <p:sp>
          <p:nvSpPr>
            <p:cNvPr id="6" name="TextBox 6"/>
            <p:cNvSpPr txBox="1"/>
            <p:nvPr/>
          </p:nvSpPr>
          <p:spPr>
            <a:xfrm>
              <a:off x="0" y="1460500"/>
              <a:ext cx="5753100" cy="609600"/>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000000"/>
                  </a:solidFill>
                  <a:latin typeface="Canva Sans Bold"/>
                  <a:ea typeface="Canva Sans Bold"/>
                  <a:cs typeface="Canva Sans Bold"/>
                  <a:sym typeface="Canva Sans Bold"/>
                </a:rPr>
                <a:t>The law</a:t>
              </a:r>
            </a:p>
          </p:txBody>
        </p:sp>
        <p:sp>
          <p:nvSpPr>
            <p:cNvPr id="7" name="TextBox 7"/>
            <p:cNvSpPr txBox="1"/>
            <p:nvPr/>
          </p:nvSpPr>
          <p:spPr>
            <a:xfrm>
              <a:off x="0" y="2544572"/>
              <a:ext cx="5753100" cy="3868420"/>
            </a:xfrm>
            <a:prstGeom prst="rect">
              <a:avLst/>
            </a:prstGeom>
          </p:spPr>
          <p:txBody>
            <a:bodyPr lIns="0" tIns="0" rIns="0" bIns="0" rtlCol="0" anchor="t">
              <a:spAutoFit/>
            </a:bodyPr>
            <a:lstStyle/>
            <a:p>
              <a:pPr marL="0" lvl="0" indent="0" algn="l">
                <a:lnSpc>
                  <a:spcPts val="3359"/>
                </a:lnSpc>
                <a:spcBef>
                  <a:spcPct val="0"/>
                </a:spcBef>
              </a:pPr>
              <a:r>
                <a:rPr lang="en-US" sz="2400">
                  <a:solidFill>
                    <a:srgbClr val="000000"/>
                  </a:solidFill>
                  <a:latin typeface="Canva Sans"/>
                  <a:ea typeface="Canva Sans"/>
                  <a:cs typeface="Canva Sans"/>
                  <a:sym typeface="Canva Sans"/>
                </a:rPr>
                <a:t>18 I</a:t>
              </a:r>
              <a:r>
                <a:rPr lang="en-US" sz="2400" u="none">
                  <a:solidFill>
                    <a:srgbClr val="000000"/>
                  </a:solidFill>
                  <a:latin typeface="Canva Sans"/>
                  <a:ea typeface="Canva Sans"/>
                  <a:cs typeface="Canva Sans"/>
                  <a:sym typeface="Canva Sans"/>
                </a:rPr>
                <a:t>rish laws and RTB guidance, split into 27 provisions. 23 checked against RTB wording; rules stay draft until a solicitor reviews them.</a:t>
              </a:r>
            </a:p>
            <a:p>
              <a:pPr marL="0" lvl="0" indent="0" algn="l">
                <a:lnSpc>
                  <a:spcPts val="3359"/>
                </a:lnSpc>
                <a:spcBef>
                  <a:spcPct val="0"/>
                </a:spcBef>
              </a:pPr>
              <a:endParaRPr lang="en-US" sz="2400" u="none">
                <a:solidFill>
                  <a:srgbClr val="000000"/>
                </a:solidFill>
                <a:latin typeface="Canva Sans"/>
                <a:ea typeface="Canva Sans"/>
                <a:cs typeface="Canva Sans"/>
                <a:sym typeface="Canva Sans"/>
              </a:endParaRPr>
            </a:p>
          </p:txBody>
        </p:sp>
        <p:sp>
          <p:nvSpPr>
            <p:cNvPr id="8" name="TextBox 8"/>
            <p:cNvSpPr txBox="1"/>
            <p:nvPr/>
          </p:nvSpPr>
          <p:spPr>
            <a:xfrm>
              <a:off x="0" y="-9525"/>
              <a:ext cx="5753100" cy="1025525"/>
            </a:xfrm>
            <a:prstGeom prst="rect">
              <a:avLst/>
            </a:prstGeom>
          </p:spPr>
          <p:txBody>
            <a:bodyPr lIns="0" tIns="0" rIns="0" bIns="0" rtlCol="0" anchor="t">
              <a:spAutoFit/>
            </a:bodyPr>
            <a:lstStyle/>
            <a:p>
              <a:pPr marL="0" lvl="0" indent="0" algn="l">
                <a:lnSpc>
                  <a:spcPts val="6000"/>
                </a:lnSpc>
                <a:spcBef>
                  <a:spcPct val="0"/>
                </a:spcBef>
              </a:pPr>
              <a:r>
                <a:rPr lang="en-US" sz="5000" u="none">
                  <a:solidFill>
                    <a:srgbClr val="000000"/>
                  </a:solidFill>
                  <a:latin typeface="Canva Sans"/>
                  <a:ea typeface="Canva Sans"/>
                  <a:cs typeface="Canva Sans"/>
                  <a:sym typeface="Canva Sans"/>
                </a:rPr>
                <a:t>01</a:t>
              </a:r>
            </a:p>
          </p:txBody>
        </p:sp>
      </p:grpSp>
      <p:grpSp>
        <p:nvGrpSpPr>
          <p:cNvPr id="9" name="Group 9"/>
          <p:cNvGrpSpPr/>
          <p:nvPr/>
        </p:nvGrpSpPr>
        <p:grpSpPr>
          <a:xfrm>
            <a:off x="11868150" y="3251091"/>
            <a:ext cx="4619625" cy="3971544"/>
            <a:chOff x="0" y="0"/>
            <a:chExt cx="6159500" cy="5295392"/>
          </a:xfrm>
        </p:grpSpPr>
        <p:sp>
          <p:nvSpPr>
            <p:cNvPr id="10" name="TextBox 10"/>
            <p:cNvSpPr txBox="1"/>
            <p:nvPr/>
          </p:nvSpPr>
          <p:spPr>
            <a:xfrm>
              <a:off x="0" y="1460500"/>
              <a:ext cx="6159500" cy="609600"/>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000000"/>
                  </a:solidFill>
                  <a:latin typeface="Canva Sans Bold"/>
                  <a:ea typeface="Canva Sans Bold"/>
                  <a:cs typeface="Canva Sans Bold"/>
                  <a:sym typeface="Canva Sans Bold"/>
                </a:rPr>
                <a:t>Tes</a:t>
              </a:r>
              <a:r>
                <a:rPr lang="en-US" sz="3000" b="1" u="none">
                  <a:solidFill>
                    <a:srgbClr val="000000"/>
                  </a:solidFill>
                  <a:latin typeface="Canva Sans Bold"/>
                  <a:ea typeface="Canva Sans Bold"/>
                  <a:cs typeface="Canva Sans Bold"/>
                  <a:sym typeface="Canva Sans Bold"/>
                </a:rPr>
                <a:t>t leases</a:t>
              </a:r>
            </a:p>
          </p:txBody>
        </p:sp>
        <p:sp>
          <p:nvSpPr>
            <p:cNvPr id="11" name="TextBox 11"/>
            <p:cNvSpPr txBox="1"/>
            <p:nvPr/>
          </p:nvSpPr>
          <p:spPr>
            <a:xfrm>
              <a:off x="0" y="2544572"/>
              <a:ext cx="6159500" cy="2750820"/>
            </a:xfrm>
            <a:prstGeom prst="rect">
              <a:avLst/>
            </a:prstGeom>
          </p:spPr>
          <p:txBody>
            <a:bodyPr lIns="0" tIns="0" rIns="0" bIns="0" rtlCol="0" anchor="t">
              <a:spAutoFit/>
            </a:bodyPr>
            <a:lstStyle/>
            <a:p>
              <a:pPr marL="0" lvl="0" indent="0" algn="l">
                <a:lnSpc>
                  <a:spcPts val="3359"/>
                </a:lnSpc>
                <a:spcBef>
                  <a:spcPct val="0"/>
                </a:spcBef>
              </a:pPr>
              <a:r>
                <a:rPr lang="en-US" sz="2400">
                  <a:solidFill>
                    <a:srgbClr val="000000"/>
                  </a:solidFill>
                  <a:latin typeface="Canva Sans"/>
                  <a:ea typeface="Canva Sans"/>
                  <a:cs typeface="Canva Sans"/>
                  <a:sym typeface="Canva Sans"/>
                </a:rPr>
                <a:t>Fiction</a:t>
              </a:r>
              <a:r>
                <a:rPr lang="en-US" sz="2400" u="none">
                  <a:solidFill>
                    <a:srgbClr val="000000"/>
                  </a:solidFill>
                  <a:latin typeface="Canva Sans"/>
                  <a:ea typeface="Canva Sans"/>
                  <a:cs typeface="Canva Sans"/>
                  <a:sym typeface="Canva Sans"/>
                </a:rPr>
                <a:t>al leases with planted problems, so we know what the system should find without using personal data.</a:t>
              </a:r>
            </a:p>
            <a:p>
              <a:pPr marL="0" lvl="0" indent="0" algn="l">
                <a:lnSpc>
                  <a:spcPts val="3359"/>
                </a:lnSpc>
                <a:spcBef>
                  <a:spcPct val="0"/>
                </a:spcBef>
              </a:pPr>
              <a:endParaRPr lang="en-US" sz="2400" u="none">
                <a:solidFill>
                  <a:srgbClr val="000000"/>
                </a:solidFill>
                <a:latin typeface="Canva Sans"/>
                <a:ea typeface="Canva Sans"/>
                <a:cs typeface="Canva Sans"/>
                <a:sym typeface="Canva Sans"/>
              </a:endParaRPr>
            </a:p>
          </p:txBody>
        </p:sp>
        <p:sp>
          <p:nvSpPr>
            <p:cNvPr id="12" name="TextBox 12"/>
            <p:cNvSpPr txBox="1"/>
            <p:nvPr/>
          </p:nvSpPr>
          <p:spPr>
            <a:xfrm>
              <a:off x="0" y="-9525"/>
              <a:ext cx="6159500" cy="1025525"/>
            </a:xfrm>
            <a:prstGeom prst="rect">
              <a:avLst/>
            </a:prstGeom>
          </p:spPr>
          <p:txBody>
            <a:bodyPr lIns="0" tIns="0" rIns="0" bIns="0" rtlCol="0" anchor="t">
              <a:spAutoFit/>
            </a:bodyPr>
            <a:lstStyle/>
            <a:p>
              <a:pPr marL="0" lvl="0" indent="0" algn="l">
                <a:lnSpc>
                  <a:spcPts val="6000"/>
                </a:lnSpc>
                <a:spcBef>
                  <a:spcPct val="0"/>
                </a:spcBef>
              </a:pPr>
              <a:r>
                <a:rPr lang="en-US" sz="5000" u="none">
                  <a:solidFill>
                    <a:srgbClr val="000000"/>
                  </a:solidFill>
                  <a:latin typeface="Canva Sans"/>
                  <a:ea typeface="Canva Sans"/>
                  <a:cs typeface="Canva Sans"/>
                  <a:sym typeface="Canva Sans"/>
                </a:rPr>
                <a:t>03</a:t>
              </a:r>
            </a:p>
          </p:txBody>
        </p:sp>
      </p:grpSp>
      <p:grpSp>
        <p:nvGrpSpPr>
          <p:cNvPr id="13" name="Group 13"/>
          <p:cNvGrpSpPr/>
          <p:nvPr/>
        </p:nvGrpSpPr>
        <p:grpSpPr>
          <a:xfrm>
            <a:off x="6115050" y="3009900"/>
            <a:ext cx="4619625" cy="3971544"/>
            <a:chOff x="0" y="0"/>
            <a:chExt cx="6159500" cy="5295392"/>
          </a:xfrm>
        </p:grpSpPr>
        <p:sp>
          <p:nvSpPr>
            <p:cNvPr id="14" name="TextBox 14"/>
            <p:cNvSpPr txBox="1"/>
            <p:nvPr/>
          </p:nvSpPr>
          <p:spPr>
            <a:xfrm>
              <a:off x="0" y="1460500"/>
              <a:ext cx="6159500" cy="609600"/>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000000"/>
                  </a:solidFill>
                  <a:latin typeface="Canva Sans Bold"/>
                  <a:ea typeface="Canva Sans Bold"/>
                  <a:cs typeface="Canva Sans Bold"/>
                  <a:sym typeface="Canva Sans Bold"/>
                </a:rPr>
                <a:t>Real leases</a:t>
              </a:r>
            </a:p>
          </p:txBody>
        </p:sp>
        <p:sp>
          <p:nvSpPr>
            <p:cNvPr id="15" name="TextBox 15"/>
            <p:cNvSpPr txBox="1"/>
            <p:nvPr/>
          </p:nvSpPr>
          <p:spPr>
            <a:xfrm>
              <a:off x="0" y="2544572"/>
              <a:ext cx="6159500" cy="2750820"/>
            </a:xfrm>
            <a:prstGeom prst="rect">
              <a:avLst/>
            </a:prstGeom>
          </p:spPr>
          <p:txBody>
            <a:bodyPr lIns="0" tIns="0" rIns="0" bIns="0" rtlCol="0" anchor="t">
              <a:spAutoFit/>
            </a:bodyPr>
            <a:lstStyle/>
            <a:p>
              <a:pPr marL="0" lvl="0" indent="0" algn="l">
                <a:lnSpc>
                  <a:spcPts val="3359"/>
                </a:lnSpc>
                <a:spcBef>
                  <a:spcPct val="0"/>
                </a:spcBef>
              </a:pPr>
              <a:r>
                <a:rPr lang="en-US" sz="2400">
                  <a:solidFill>
                    <a:srgbClr val="000000"/>
                  </a:solidFill>
                  <a:latin typeface="Canva Sans"/>
                  <a:ea typeface="Canva Sans"/>
                  <a:cs typeface="Canva Sans"/>
                  <a:sym typeface="Canva Sans"/>
                </a:rPr>
                <a:t>289 cl</a:t>
              </a:r>
              <a:r>
                <a:rPr lang="en-US" sz="2400" u="none">
                  <a:solidFill>
                    <a:srgbClr val="000000"/>
                  </a:solidFill>
                  <a:latin typeface="Canva Sans"/>
                  <a:ea typeface="Canva Sans"/>
                  <a:cs typeface="Canva Sans"/>
                  <a:sym typeface="Canva Sans"/>
                </a:rPr>
                <a:t>auses from 3 leases, labelled by hand (deposit, entry, notice...). Kept on laptops, never in the repo.</a:t>
              </a:r>
            </a:p>
            <a:p>
              <a:pPr marL="0" lvl="0" indent="0" algn="l">
                <a:lnSpc>
                  <a:spcPts val="3359"/>
                </a:lnSpc>
                <a:spcBef>
                  <a:spcPct val="0"/>
                </a:spcBef>
              </a:pPr>
              <a:endParaRPr lang="en-US" sz="2400" u="none">
                <a:solidFill>
                  <a:srgbClr val="000000"/>
                </a:solidFill>
                <a:latin typeface="Canva Sans"/>
                <a:ea typeface="Canva Sans"/>
                <a:cs typeface="Canva Sans"/>
                <a:sym typeface="Canva Sans"/>
              </a:endParaRPr>
            </a:p>
          </p:txBody>
        </p:sp>
        <p:sp>
          <p:nvSpPr>
            <p:cNvPr id="16" name="TextBox 16"/>
            <p:cNvSpPr txBox="1"/>
            <p:nvPr/>
          </p:nvSpPr>
          <p:spPr>
            <a:xfrm>
              <a:off x="0" y="-9525"/>
              <a:ext cx="6159500" cy="1025525"/>
            </a:xfrm>
            <a:prstGeom prst="rect">
              <a:avLst/>
            </a:prstGeom>
          </p:spPr>
          <p:txBody>
            <a:bodyPr lIns="0" tIns="0" rIns="0" bIns="0" rtlCol="0" anchor="t">
              <a:spAutoFit/>
            </a:bodyPr>
            <a:lstStyle/>
            <a:p>
              <a:pPr marL="0" lvl="0" indent="0" algn="l">
                <a:lnSpc>
                  <a:spcPts val="6000"/>
                </a:lnSpc>
                <a:spcBef>
                  <a:spcPct val="0"/>
                </a:spcBef>
              </a:pPr>
              <a:r>
                <a:rPr lang="en-US" sz="5000" u="none">
                  <a:solidFill>
                    <a:srgbClr val="000000"/>
                  </a:solidFill>
                  <a:latin typeface="Canva Sans"/>
                  <a:ea typeface="Canva Sans"/>
                  <a:cs typeface="Canva Sans"/>
                  <a:sym typeface="Canva Sans"/>
                </a:rPr>
                <a:t>02</a:t>
              </a:r>
            </a:p>
          </p:txBody>
        </p:sp>
      </p:grpSp>
      <p:sp>
        <p:nvSpPr>
          <p:cNvPr id="17" name="TextBox 17"/>
          <p:cNvSpPr txBox="1"/>
          <p:nvPr/>
        </p:nvSpPr>
        <p:spPr>
          <a:xfrm>
            <a:off x="666750" y="1932940"/>
            <a:ext cx="16458841" cy="679450"/>
          </a:xfrm>
          <a:prstGeom prst="rect">
            <a:avLst/>
          </a:prstGeom>
        </p:spPr>
        <p:txBody>
          <a:bodyPr lIns="0" tIns="0" rIns="0" bIns="0" rtlCol="0" anchor="t">
            <a:spAutoFit/>
          </a:bodyPr>
          <a:lstStyle/>
          <a:p>
            <a:pPr algn="ctr">
              <a:lnSpc>
                <a:spcPts val="5599"/>
              </a:lnSpc>
            </a:pPr>
            <a:r>
              <a:rPr lang="en-US" sz="3999" b="1">
                <a:solidFill>
                  <a:srgbClr val="000000"/>
                </a:solidFill>
                <a:latin typeface="Canva Sans Bold"/>
                <a:ea typeface="Canva Sans Bold"/>
                <a:cs typeface="Canva Sans Bold"/>
                <a:sym typeface="Canva Sans Bold"/>
              </a:rPr>
              <a:t>Law in, leases cleaned, results out. Personal data is never stored</a:t>
            </a:r>
          </a:p>
        </p:txBody>
      </p:sp>
      <p:sp>
        <p:nvSpPr>
          <p:cNvPr id="18" name="TextBox 18"/>
          <p:cNvSpPr txBox="1"/>
          <p:nvPr/>
        </p:nvSpPr>
        <p:spPr>
          <a:xfrm>
            <a:off x="1028700" y="7943469"/>
            <a:ext cx="6734919" cy="390525"/>
          </a:xfrm>
          <a:prstGeom prst="rect">
            <a:avLst/>
          </a:prstGeom>
        </p:spPr>
        <p:txBody>
          <a:bodyPr lIns="0" tIns="0" rIns="0" bIns="0" rtlCol="0" anchor="t">
            <a:spAutoFit/>
          </a:bodyPr>
          <a:lstStyle/>
          <a:p>
            <a:pPr algn="ctr">
              <a:lnSpc>
                <a:spcPts val="3120"/>
              </a:lnSpc>
              <a:spcBef>
                <a:spcPct val="0"/>
              </a:spcBef>
            </a:pPr>
            <a:r>
              <a:rPr lang="en-US" sz="2600">
                <a:solidFill>
                  <a:srgbClr val="0C2A4A"/>
                </a:solidFill>
                <a:latin typeface="Abril Fatface"/>
                <a:ea typeface="Abril Fatface"/>
                <a:cs typeface="Abril Fatface"/>
                <a:sym typeface="Abril Fatface"/>
              </a:rPr>
              <a:t>What happens when a tenant uploads a lease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TextBox 2"/>
          <p:cNvSpPr txBox="1"/>
          <p:nvPr/>
        </p:nvSpPr>
        <p:spPr>
          <a:xfrm>
            <a:off x="777773" y="379362"/>
            <a:ext cx="16700992" cy="1153487"/>
          </a:xfrm>
          <a:prstGeom prst="rect">
            <a:avLst/>
          </a:prstGeom>
        </p:spPr>
        <p:txBody>
          <a:bodyPr lIns="0" tIns="0" rIns="0" bIns="0" rtlCol="0" anchor="t">
            <a:spAutoFit/>
          </a:bodyPr>
          <a:lstStyle/>
          <a:p>
            <a:pPr algn="ctr">
              <a:lnSpc>
                <a:spcPts val="7926"/>
              </a:lnSpc>
            </a:pPr>
            <a:r>
              <a:rPr lang="en-US" sz="6605" b="1">
                <a:solidFill>
                  <a:srgbClr val="4FAE9C"/>
                </a:solidFill>
                <a:latin typeface="Trebuchet MS Bold"/>
                <a:ea typeface="Trebuchet MS Bold"/>
                <a:cs typeface="Trebuchet MS Bold"/>
                <a:sym typeface="Trebuchet MS Bold"/>
              </a:rPr>
              <a:t>Evaluation</a:t>
            </a:r>
          </a:p>
        </p:txBody>
      </p:sp>
      <p:sp>
        <p:nvSpPr>
          <p:cNvPr id="3" name="TextBox 3"/>
          <p:cNvSpPr txBox="1"/>
          <p:nvPr/>
        </p:nvSpPr>
        <p:spPr>
          <a:xfrm>
            <a:off x="777773" y="1605239"/>
            <a:ext cx="16700992" cy="888482"/>
          </a:xfrm>
          <a:prstGeom prst="rect">
            <a:avLst/>
          </a:prstGeom>
        </p:spPr>
        <p:txBody>
          <a:bodyPr lIns="0" tIns="0" rIns="0" bIns="0" rtlCol="0" anchor="t">
            <a:spAutoFit/>
          </a:bodyPr>
          <a:lstStyle/>
          <a:p>
            <a:pPr algn="ctr">
              <a:lnSpc>
                <a:spcPts val="5404"/>
              </a:lnSpc>
            </a:pPr>
            <a:r>
              <a:rPr lang="en-US" sz="4503" b="1">
                <a:solidFill>
                  <a:srgbClr val="0B2A4A"/>
                </a:solidFill>
                <a:latin typeface="Georgia Bold"/>
                <a:ea typeface="Georgia Bold"/>
                <a:cs typeface="Georgia Bold"/>
                <a:sym typeface="Georgia Bold"/>
              </a:rPr>
              <a:t>What we have measured so far</a:t>
            </a:r>
          </a:p>
        </p:txBody>
      </p:sp>
      <p:grpSp>
        <p:nvGrpSpPr>
          <p:cNvPr id="4" name="Group 4"/>
          <p:cNvGrpSpPr/>
          <p:nvPr/>
        </p:nvGrpSpPr>
        <p:grpSpPr>
          <a:xfrm>
            <a:off x="953719" y="2875464"/>
            <a:ext cx="6054061" cy="2073307"/>
            <a:chOff x="0" y="0"/>
            <a:chExt cx="8072082" cy="2764409"/>
          </a:xfrm>
        </p:grpSpPr>
        <p:sp>
          <p:nvSpPr>
            <p:cNvPr id="5" name="Freeform 5"/>
            <p:cNvSpPr/>
            <p:nvPr/>
          </p:nvSpPr>
          <p:spPr>
            <a:xfrm>
              <a:off x="0" y="0"/>
              <a:ext cx="8072120" cy="2764409"/>
            </a:xfrm>
            <a:custGeom>
              <a:avLst/>
              <a:gdLst/>
              <a:ahLst/>
              <a:cxnLst/>
              <a:rect l="l" t="t" r="r" b="b"/>
              <a:pathLst>
                <a:path w="8072120" h="2764409">
                  <a:moveTo>
                    <a:pt x="0" y="276479"/>
                  </a:moveTo>
                  <a:cubicBezTo>
                    <a:pt x="0" y="123825"/>
                    <a:pt x="123825" y="0"/>
                    <a:pt x="276479" y="0"/>
                  </a:cubicBezTo>
                  <a:lnTo>
                    <a:pt x="7795641" y="0"/>
                  </a:lnTo>
                  <a:cubicBezTo>
                    <a:pt x="7948295" y="0"/>
                    <a:pt x="8072120" y="123825"/>
                    <a:pt x="8072120" y="276479"/>
                  </a:cubicBezTo>
                  <a:lnTo>
                    <a:pt x="8072120" y="2487930"/>
                  </a:lnTo>
                  <a:cubicBezTo>
                    <a:pt x="8072120" y="2640584"/>
                    <a:pt x="7948295" y="2764409"/>
                    <a:pt x="7795641" y="2764409"/>
                  </a:cubicBezTo>
                  <a:lnTo>
                    <a:pt x="276479" y="2764409"/>
                  </a:lnTo>
                  <a:cubicBezTo>
                    <a:pt x="123825" y="2764409"/>
                    <a:pt x="0" y="2640584"/>
                    <a:pt x="0" y="2487930"/>
                  </a:cubicBezTo>
                  <a:close/>
                </a:path>
              </a:pathLst>
            </a:custGeom>
            <a:solidFill>
              <a:srgbClr val="FFFFFF"/>
            </a:solidFill>
            <a:ln w="14299" cap="sq">
              <a:solidFill>
                <a:srgbClr val="E3E8EE"/>
              </a:solidFill>
              <a:prstDash val="solid"/>
              <a:miter/>
            </a:ln>
          </p:spPr>
        </p:sp>
      </p:grpSp>
      <p:sp>
        <p:nvSpPr>
          <p:cNvPr id="6" name="TextBox 6"/>
          <p:cNvSpPr txBox="1"/>
          <p:nvPr/>
        </p:nvSpPr>
        <p:spPr>
          <a:xfrm>
            <a:off x="1052312" y="2914317"/>
            <a:ext cx="5856875" cy="1130522"/>
          </a:xfrm>
          <a:prstGeom prst="rect">
            <a:avLst/>
          </a:prstGeom>
        </p:spPr>
        <p:txBody>
          <a:bodyPr lIns="0" tIns="0" rIns="0" bIns="0" rtlCol="0" anchor="t">
            <a:spAutoFit/>
          </a:bodyPr>
          <a:lstStyle/>
          <a:p>
            <a:pPr algn="ctr">
              <a:lnSpc>
                <a:spcPts val="7205"/>
              </a:lnSpc>
            </a:pPr>
            <a:r>
              <a:rPr lang="en-US" sz="6004" b="1">
                <a:solidFill>
                  <a:srgbClr val="3AA55D"/>
                </a:solidFill>
                <a:latin typeface="Calibri (MS) Bold"/>
                <a:ea typeface="Calibri (MS) Bold"/>
                <a:cs typeface="Calibri (MS) Bold"/>
                <a:sym typeface="Calibri (MS) Bold"/>
              </a:rPr>
              <a:t>19/19</a:t>
            </a:r>
          </a:p>
        </p:txBody>
      </p:sp>
      <p:sp>
        <p:nvSpPr>
          <p:cNvPr id="7" name="TextBox 7"/>
          <p:cNvSpPr txBox="1"/>
          <p:nvPr/>
        </p:nvSpPr>
        <p:spPr>
          <a:xfrm>
            <a:off x="1258214" y="4088663"/>
            <a:ext cx="5445071" cy="779793"/>
          </a:xfrm>
          <a:prstGeom prst="rect">
            <a:avLst/>
          </a:prstGeom>
        </p:spPr>
        <p:txBody>
          <a:bodyPr lIns="0" tIns="0" rIns="0" bIns="0" rtlCol="0" anchor="t">
            <a:spAutoFit/>
          </a:bodyPr>
          <a:lstStyle/>
          <a:p>
            <a:pPr algn="ctr">
              <a:lnSpc>
                <a:spcPts val="2341"/>
              </a:lnSpc>
            </a:pPr>
            <a:r>
              <a:rPr lang="en-US" sz="1951">
                <a:solidFill>
                  <a:srgbClr val="5F6B78"/>
                </a:solidFill>
                <a:latin typeface="Calibri (MS)"/>
                <a:ea typeface="Calibri (MS)"/>
                <a:cs typeface="Calibri (MS)"/>
                <a:sym typeface="Calibri (MS)"/>
              </a:rPr>
              <a:t>automated software tests pass</a:t>
            </a:r>
          </a:p>
        </p:txBody>
      </p:sp>
      <p:grpSp>
        <p:nvGrpSpPr>
          <p:cNvPr id="8" name="Group 8"/>
          <p:cNvGrpSpPr/>
          <p:nvPr/>
        </p:nvGrpSpPr>
        <p:grpSpPr>
          <a:xfrm>
            <a:off x="953719" y="5140376"/>
            <a:ext cx="6054061" cy="2073307"/>
            <a:chOff x="0" y="0"/>
            <a:chExt cx="8072082" cy="2764409"/>
          </a:xfrm>
        </p:grpSpPr>
        <p:sp>
          <p:nvSpPr>
            <p:cNvPr id="9" name="Freeform 9"/>
            <p:cNvSpPr/>
            <p:nvPr/>
          </p:nvSpPr>
          <p:spPr>
            <a:xfrm>
              <a:off x="0" y="0"/>
              <a:ext cx="8072120" cy="2764409"/>
            </a:xfrm>
            <a:custGeom>
              <a:avLst/>
              <a:gdLst/>
              <a:ahLst/>
              <a:cxnLst/>
              <a:rect l="l" t="t" r="r" b="b"/>
              <a:pathLst>
                <a:path w="8072120" h="2764409">
                  <a:moveTo>
                    <a:pt x="0" y="276479"/>
                  </a:moveTo>
                  <a:cubicBezTo>
                    <a:pt x="0" y="123825"/>
                    <a:pt x="123825" y="0"/>
                    <a:pt x="276479" y="0"/>
                  </a:cubicBezTo>
                  <a:lnTo>
                    <a:pt x="7795641" y="0"/>
                  </a:lnTo>
                  <a:cubicBezTo>
                    <a:pt x="7948295" y="0"/>
                    <a:pt x="8072120" y="123825"/>
                    <a:pt x="8072120" y="276479"/>
                  </a:cubicBezTo>
                  <a:lnTo>
                    <a:pt x="8072120" y="2487930"/>
                  </a:lnTo>
                  <a:cubicBezTo>
                    <a:pt x="8072120" y="2640584"/>
                    <a:pt x="7948295" y="2764409"/>
                    <a:pt x="7795641" y="2764409"/>
                  </a:cubicBezTo>
                  <a:lnTo>
                    <a:pt x="276479" y="2764409"/>
                  </a:lnTo>
                  <a:cubicBezTo>
                    <a:pt x="123825" y="2764409"/>
                    <a:pt x="0" y="2640584"/>
                    <a:pt x="0" y="2487930"/>
                  </a:cubicBezTo>
                  <a:close/>
                </a:path>
              </a:pathLst>
            </a:custGeom>
            <a:solidFill>
              <a:srgbClr val="FFFFFF"/>
            </a:solidFill>
            <a:ln w="14299" cap="sq">
              <a:solidFill>
                <a:srgbClr val="E3E8EE"/>
              </a:solidFill>
              <a:prstDash val="solid"/>
              <a:miter/>
            </a:ln>
          </p:spPr>
        </p:sp>
      </p:grpSp>
      <p:sp>
        <p:nvSpPr>
          <p:cNvPr id="10" name="TextBox 10"/>
          <p:cNvSpPr txBox="1"/>
          <p:nvPr/>
        </p:nvSpPr>
        <p:spPr>
          <a:xfrm>
            <a:off x="1052312" y="5179228"/>
            <a:ext cx="5856875" cy="1130522"/>
          </a:xfrm>
          <a:prstGeom prst="rect">
            <a:avLst/>
          </a:prstGeom>
        </p:spPr>
        <p:txBody>
          <a:bodyPr lIns="0" tIns="0" rIns="0" bIns="0" rtlCol="0" anchor="t">
            <a:spAutoFit/>
          </a:bodyPr>
          <a:lstStyle/>
          <a:p>
            <a:pPr algn="ctr">
              <a:lnSpc>
                <a:spcPts val="7205"/>
              </a:lnSpc>
            </a:pPr>
            <a:r>
              <a:rPr lang="en-US" sz="6004" b="1">
                <a:solidFill>
                  <a:srgbClr val="E8A317"/>
                </a:solidFill>
                <a:latin typeface="Calibri (MS) Bold"/>
                <a:ea typeface="Calibri (MS) Bold"/>
                <a:cs typeface="Calibri (MS) Bold"/>
                <a:sym typeface="Calibri (MS) Bold"/>
              </a:rPr>
              <a:t>~0.80</a:t>
            </a:r>
          </a:p>
        </p:txBody>
      </p:sp>
      <p:sp>
        <p:nvSpPr>
          <p:cNvPr id="11" name="TextBox 11"/>
          <p:cNvSpPr txBox="1"/>
          <p:nvPr/>
        </p:nvSpPr>
        <p:spPr>
          <a:xfrm>
            <a:off x="1258214" y="6353566"/>
            <a:ext cx="5445071" cy="638175"/>
          </a:xfrm>
          <a:prstGeom prst="rect">
            <a:avLst/>
          </a:prstGeom>
        </p:spPr>
        <p:txBody>
          <a:bodyPr lIns="0" tIns="0" rIns="0" bIns="0" rtlCol="0" anchor="t">
            <a:spAutoFit/>
          </a:bodyPr>
          <a:lstStyle/>
          <a:p>
            <a:pPr algn="ctr">
              <a:lnSpc>
                <a:spcPts val="2341"/>
              </a:lnSpc>
            </a:pPr>
            <a:r>
              <a:rPr lang="en-US" sz="1951">
                <a:solidFill>
                  <a:srgbClr val="5F6B78"/>
                </a:solidFill>
                <a:latin typeface="Calibri (MS)"/>
                <a:ea typeface="Calibri (MS)"/>
                <a:cs typeface="Calibri (MS)"/>
                <a:sym typeface="Calibri (MS)"/>
              </a:rPr>
              <a:t>keyword baseline accuracy, just above always-"other" (0.78)</a:t>
            </a:r>
          </a:p>
        </p:txBody>
      </p:sp>
      <p:grpSp>
        <p:nvGrpSpPr>
          <p:cNvPr id="12" name="Group 12"/>
          <p:cNvGrpSpPr/>
          <p:nvPr/>
        </p:nvGrpSpPr>
        <p:grpSpPr>
          <a:xfrm>
            <a:off x="953719" y="7405278"/>
            <a:ext cx="6054061" cy="2073307"/>
            <a:chOff x="0" y="0"/>
            <a:chExt cx="8072082" cy="2764409"/>
          </a:xfrm>
        </p:grpSpPr>
        <p:sp>
          <p:nvSpPr>
            <p:cNvPr id="13" name="Freeform 13"/>
            <p:cNvSpPr/>
            <p:nvPr/>
          </p:nvSpPr>
          <p:spPr>
            <a:xfrm>
              <a:off x="0" y="0"/>
              <a:ext cx="8072120" cy="2764409"/>
            </a:xfrm>
            <a:custGeom>
              <a:avLst/>
              <a:gdLst/>
              <a:ahLst/>
              <a:cxnLst/>
              <a:rect l="l" t="t" r="r" b="b"/>
              <a:pathLst>
                <a:path w="8072120" h="2764409">
                  <a:moveTo>
                    <a:pt x="0" y="276479"/>
                  </a:moveTo>
                  <a:cubicBezTo>
                    <a:pt x="0" y="123825"/>
                    <a:pt x="123825" y="0"/>
                    <a:pt x="276479" y="0"/>
                  </a:cubicBezTo>
                  <a:lnTo>
                    <a:pt x="7795641" y="0"/>
                  </a:lnTo>
                  <a:cubicBezTo>
                    <a:pt x="7948295" y="0"/>
                    <a:pt x="8072120" y="123825"/>
                    <a:pt x="8072120" y="276479"/>
                  </a:cubicBezTo>
                  <a:lnTo>
                    <a:pt x="8072120" y="2487930"/>
                  </a:lnTo>
                  <a:cubicBezTo>
                    <a:pt x="8072120" y="2640584"/>
                    <a:pt x="7948295" y="2764409"/>
                    <a:pt x="7795641" y="2764409"/>
                  </a:cubicBezTo>
                  <a:lnTo>
                    <a:pt x="276479" y="2764409"/>
                  </a:lnTo>
                  <a:cubicBezTo>
                    <a:pt x="123825" y="2764409"/>
                    <a:pt x="0" y="2640584"/>
                    <a:pt x="0" y="2487930"/>
                  </a:cubicBezTo>
                  <a:close/>
                </a:path>
              </a:pathLst>
            </a:custGeom>
            <a:solidFill>
              <a:srgbClr val="FFFFFF"/>
            </a:solidFill>
            <a:ln w="14299" cap="sq">
              <a:solidFill>
                <a:srgbClr val="E3E8EE"/>
              </a:solidFill>
              <a:prstDash val="solid"/>
              <a:miter/>
            </a:ln>
          </p:spPr>
        </p:sp>
      </p:grpSp>
      <p:sp>
        <p:nvSpPr>
          <p:cNvPr id="14" name="TextBox 14"/>
          <p:cNvSpPr txBox="1"/>
          <p:nvPr/>
        </p:nvSpPr>
        <p:spPr>
          <a:xfrm>
            <a:off x="1052312" y="7444140"/>
            <a:ext cx="5856875" cy="1130522"/>
          </a:xfrm>
          <a:prstGeom prst="rect">
            <a:avLst/>
          </a:prstGeom>
        </p:spPr>
        <p:txBody>
          <a:bodyPr lIns="0" tIns="0" rIns="0" bIns="0" rtlCol="0" anchor="t">
            <a:spAutoFit/>
          </a:bodyPr>
          <a:lstStyle/>
          <a:p>
            <a:pPr algn="ctr">
              <a:lnSpc>
                <a:spcPts val="7205"/>
              </a:lnSpc>
            </a:pPr>
            <a:r>
              <a:rPr lang="en-US" sz="6004" b="1">
                <a:solidFill>
                  <a:srgbClr val="D64545"/>
                </a:solidFill>
                <a:latin typeface="Calibri (MS) Bold"/>
                <a:ea typeface="Calibri (MS) Bold"/>
                <a:cs typeface="Calibri (MS) Bold"/>
                <a:sym typeface="Calibri (MS) Bold"/>
              </a:rPr>
              <a:t>~0.40</a:t>
            </a:r>
          </a:p>
        </p:txBody>
      </p:sp>
      <p:sp>
        <p:nvSpPr>
          <p:cNvPr id="15" name="TextBox 15"/>
          <p:cNvSpPr txBox="1"/>
          <p:nvPr/>
        </p:nvSpPr>
        <p:spPr>
          <a:xfrm>
            <a:off x="1258214" y="8618477"/>
            <a:ext cx="5445071" cy="342900"/>
          </a:xfrm>
          <a:prstGeom prst="rect">
            <a:avLst/>
          </a:prstGeom>
        </p:spPr>
        <p:txBody>
          <a:bodyPr lIns="0" tIns="0" rIns="0" bIns="0" rtlCol="0" anchor="t">
            <a:spAutoFit/>
          </a:bodyPr>
          <a:lstStyle/>
          <a:p>
            <a:pPr algn="ctr">
              <a:lnSpc>
                <a:spcPts val="2341"/>
              </a:lnSpc>
            </a:pPr>
            <a:r>
              <a:rPr lang="en-US" sz="1951">
                <a:solidFill>
                  <a:srgbClr val="5F6B78"/>
                </a:solidFill>
                <a:latin typeface="Calibri (MS)"/>
                <a:ea typeface="Calibri (MS)"/>
                <a:cs typeface="Calibri (MS)"/>
                <a:sym typeface="Calibri (MS)"/>
              </a:rPr>
              <a:t>macro-F1 score</a:t>
            </a:r>
          </a:p>
        </p:txBody>
      </p:sp>
      <p:sp>
        <p:nvSpPr>
          <p:cNvPr id="16" name="TextBox 16"/>
          <p:cNvSpPr txBox="1"/>
          <p:nvPr/>
        </p:nvSpPr>
        <p:spPr>
          <a:xfrm>
            <a:off x="7915675" y="2861653"/>
            <a:ext cx="9425826" cy="661568"/>
          </a:xfrm>
          <a:prstGeom prst="rect">
            <a:avLst/>
          </a:prstGeom>
        </p:spPr>
        <p:txBody>
          <a:bodyPr lIns="0" tIns="0" rIns="0" bIns="0" rtlCol="0" anchor="t">
            <a:spAutoFit/>
          </a:bodyPr>
          <a:lstStyle/>
          <a:p>
            <a:pPr algn="l">
              <a:lnSpc>
                <a:spcPts val="3963"/>
              </a:lnSpc>
            </a:pPr>
            <a:r>
              <a:rPr lang="en-US" sz="3302" b="1">
                <a:solidFill>
                  <a:srgbClr val="1A1A1A"/>
                </a:solidFill>
                <a:latin typeface="Calibri (MS) Bold"/>
                <a:ea typeface="Calibri (MS) Bold"/>
                <a:cs typeface="Calibri (MS) Bold"/>
                <a:sym typeface="Calibri (MS) Bold"/>
              </a:rPr>
              <a:t>How we will evaluate</a:t>
            </a:r>
          </a:p>
        </p:txBody>
      </p:sp>
      <p:sp>
        <p:nvSpPr>
          <p:cNvPr id="17" name="TextBox 17"/>
          <p:cNvSpPr txBox="1"/>
          <p:nvPr/>
        </p:nvSpPr>
        <p:spPr>
          <a:xfrm>
            <a:off x="7915675" y="3635673"/>
            <a:ext cx="9425826" cy="1190625"/>
          </a:xfrm>
          <a:prstGeom prst="rect">
            <a:avLst/>
          </a:prstGeom>
        </p:spPr>
        <p:txBody>
          <a:bodyPr lIns="0" tIns="0" rIns="0" bIns="0" rtlCol="0" anchor="t">
            <a:spAutoFit/>
          </a:bodyPr>
          <a:lstStyle/>
          <a:p>
            <a:pPr algn="l">
              <a:lnSpc>
                <a:spcPts val="3062"/>
              </a:lnSpc>
            </a:pPr>
            <a:r>
              <a:rPr lang="en-US" sz="2551">
                <a:solidFill>
                  <a:srgbClr val="1A1A1A"/>
                </a:solidFill>
                <a:latin typeface="Calibri (MS)"/>
                <a:ea typeface="Calibri (MS)"/>
                <a:cs typeface="Calibri (MS)"/>
                <a:sym typeface="Calibri (MS)"/>
              </a:rPr>
              <a:t>Frozen test set with a second annotator</a:t>
            </a:r>
          </a:p>
          <a:p>
            <a:pPr algn="l">
              <a:lnSpc>
                <a:spcPts val="3062"/>
              </a:lnSpc>
            </a:pPr>
            <a:r>
              <a:rPr lang="en-US" sz="2551">
                <a:solidFill>
                  <a:srgbClr val="1A1A1A"/>
                </a:solidFill>
                <a:latin typeface="Calibri (MS)"/>
                <a:ea typeface="Calibri (MS)"/>
                <a:cs typeface="Calibri (MS)"/>
                <a:sym typeface="Calibri (MS)"/>
              </a:rPr>
              <a:t>Four-way comparison: keyword, zero-shot, fine-tuned, hybrid RAG</a:t>
            </a:r>
          </a:p>
          <a:p>
            <a:pPr algn="l">
              <a:lnSpc>
                <a:spcPts val="3062"/>
              </a:lnSpc>
            </a:pPr>
            <a:r>
              <a:rPr lang="en-US" sz="2551">
                <a:solidFill>
                  <a:srgbClr val="1A1A1A"/>
                </a:solidFill>
                <a:latin typeface="Calibri (MS)"/>
                <a:ea typeface="Calibri (MS)"/>
                <a:cs typeface="Calibri (MS)"/>
                <a:sym typeface="Calibri (MS)"/>
              </a:rPr>
              <a:t>Per-class F1, false-green rate and abstention</a:t>
            </a:r>
          </a:p>
        </p:txBody>
      </p:sp>
      <p:sp>
        <p:nvSpPr>
          <p:cNvPr id="18" name="TextBox 18"/>
          <p:cNvSpPr txBox="1"/>
          <p:nvPr/>
        </p:nvSpPr>
        <p:spPr>
          <a:xfrm>
            <a:off x="7915675" y="6224702"/>
            <a:ext cx="9425826" cy="661568"/>
          </a:xfrm>
          <a:prstGeom prst="rect">
            <a:avLst/>
          </a:prstGeom>
        </p:spPr>
        <p:txBody>
          <a:bodyPr lIns="0" tIns="0" rIns="0" bIns="0" rtlCol="0" anchor="t">
            <a:spAutoFit/>
          </a:bodyPr>
          <a:lstStyle/>
          <a:p>
            <a:pPr algn="l">
              <a:lnSpc>
                <a:spcPts val="3963"/>
              </a:lnSpc>
            </a:pPr>
            <a:r>
              <a:rPr lang="en-US" sz="3302" b="1">
                <a:solidFill>
                  <a:srgbClr val="1A1A1A"/>
                </a:solidFill>
                <a:latin typeface="Calibri (MS) Bold"/>
                <a:ea typeface="Calibri (MS) Bold"/>
                <a:cs typeface="Calibri (MS) Bold"/>
                <a:sym typeface="Calibri (MS) Bold"/>
              </a:rPr>
              <a:t>What it tells us</a:t>
            </a:r>
          </a:p>
        </p:txBody>
      </p:sp>
      <p:sp>
        <p:nvSpPr>
          <p:cNvPr id="19" name="TextBox 19"/>
          <p:cNvSpPr txBox="1"/>
          <p:nvPr/>
        </p:nvSpPr>
        <p:spPr>
          <a:xfrm>
            <a:off x="7915675" y="6998722"/>
            <a:ext cx="9425826" cy="1571625"/>
          </a:xfrm>
          <a:prstGeom prst="rect">
            <a:avLst/>
          </a:prstGeom>
        </p:spPr>
        <p:txBody>
          <a:bodyPr lIns="0" tIns="0" rIns="0" bIns="0" rtlCol="0" anchor="t">
            <a:spAutoFit/>
          </a:bodyPr>
          <a:lstStyle/>
          <a:p>
            <a:pPr algn="l">
              <a:lnSpc>
                <a:spcPts val="3062"/>
              </a:lnSpc>
            </a:pPr>
            <a:r>
              <a:rPr lang="en-US" sz="2551">
                <a:solidFill>
                  <a:srgbClr val="1A1A1A"/>
                </a:solidFill>
                <a:latin typeface="Calibri (MS)"/>
                <a:ea typeface="Calibri (MS)"/>
                <a:cs typeface="Calibri (MS)"/>
                <a:sym typeface="Calibri (MS)"/>
              </a:rPr>
              <a:t>The rules are correct on the cases we tested</a:t>
            </a:r>
          </a:p>
          <a:p>
            <a:pPr algn="l">
              <a:lnSpc>
                <a:spcPts val="3062"/>
              </a:lnSpc>
            </a:pPr>
            <a:r>
              <a:rPr lang="en-US" sz="2551">
                <a:solidFill>
                  <a:srgbClr val="1A1A1A"/>
                </a:solidFill>
                <a:latin typeface="Calibri (MS)"/>
                <a:ea typeface="Calibri (MS)"/>
                <a:cs typeface="Calibri (MS)"/>
                <a:sym typeface="Calibri (MS)"/>
              </a:rPr>
              <a:t>The model is not ready: with 289 labelled clauses it cannot beat "always other"</a:t>
            </a:r>
          </a:p>
          <a:p>
            <a:pPr algn="l">
              <a:lnSpc>
                <a:spcPts val="3062"/>
              </a:lnSpc>
            </a:pPr>
            <a:r>
              <a:rPr lang="en-US" sz="2551">
                <a:solidFill>
                  <a:srgbClr val="1A1A1A"/>
                </a:solidFill>
                <a:latin typeface="Calibri (MS)"/>
                <a:ea typeface="Calibri (MS)"/>
                <a:cs typeface="Calibri (MS)"/>
                <a:sym typeface="Calibri (MS)"/>
              </a:rPr>
              <a:t>Next: more labelled data and a user study.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0" y="0"/>
            <a:ext cx="13084230" cy="5331824"/>
          </a:xfrm>
          <a:custGeom>
            <a:avLst/>
            <a:gdLst/>
            <a:ahLst/>
            <a:cxnLst/>
            <a:rect l="l" t="t" r="r" b="b"/>
            <a:pathLst>
              <a:path w="13084230" h="5331824">
                <a:moveTo>
                  <a:pt x="0" y="0"/>
                </a:moveTo>
                <a:lnTo>
                  <a:pt x="13084230" y="0"/>
                </a:lnTo>
                <a:lnTo>
                  <a:pt x="13084230" y="5331824"/>
                </a:lnTo>
                <a:lnTo>
                  <a:pt x="0" y="5331824"/>
                </a:lnTo>
                <a:lnTo>
                  <a:pt x="0" y="0"/>
                </a:lnTo>
                <a:close/>
              </a:path>
            </a:pathLst>
          </a:custGeom>
          <a:blipFill>
            <a:blip r:embed="rId2"/>
            <a:stretch>
              <a:fillRect/>
            </a:stretch>
          </a:blipFill>
        </p:spPr>
      </p:sp>
      <p:sp>
        <p:nvSpPr>
          <p:cNvPr id="3" name="Freeform 3"/>
          <p:cNvSpPr/>
          <p:nvPr/>
        </p:nvSpPr>
        <p:spPr>
          <a:xfrm>
            <a:off x="0" y="5331824"/>
            <a:ext cx="9338377" cy="4955176"/>
          </a:xfrm>
          <a:custGeom>
            <a:avLst/>
            <a:gdLst/>
            <a:ahLst/>
            <a:cxnLst/>
            <a:rect l="l" t="t" r="r" b="b"/>
            <a:pathLst>
              <a:path w="9338377" h="4955176">
                <a:moveTo>
                  <a:pt x="0" y="0"/>
                </a:moveTo>
                <a:lnTo>
                  <a:pt x="9338377" y="0"/>
                </a:lnTo>
                <a:lnTo>
                  <a:pt x="9338377" y="4955176"/>
                </a:lnTo>
                <a:lnTo>
                  <a:pt x="0" y="4955176"/>
                </a:lnTo>
                <a:lnTo>
                  <a:pt x="0" y="0"/>
                </a:lnTo>
                <a:close/>
              </a:path>
            </a:pathLst>
          </a:custGeom>
          <a:blipFill>
            <a:blip r:embed="rId3"/>
            <a:stretch>
              <a:fillRect/>
            </a:stretch>
          </a:blipFill>
        </p:spPr>
      </p:sp>
      <p:sp>
        <p:nvSpPr>
          <p:cNvPr id="4" name="Freeform 4"/>
          <p:cNvSpPr/>
          <p:nvPr/>
        </p:nvSpPr>
        <p:spPr>
          <a:xfrm>
            <a:off x="9338377" y="5331824"/>
            <a:ext cx="8949623" cy="4497186"/>
          </a:xfrm>
          <a:custGeom>
            <a:avLst/>
            <a:gdLst/>
            <a:ahLst/>
            <a:cxnLst/>
            <a:rect l="l" t="t" r="r" b="b"/>
            <a:pathLst>
              <a:path w="8949623" h="4497186">
                <a:moveTo>
                  <a:pt x="0" y="0"/>
                </a:moveTo>
                <a:lnTo>
                  <a:pt x="8949623" y="0"/>
                </a:lnTo>
                <a:lnTo>
                  <a:pt x="8949623" y="4497185"/>
                </a:lnTo>
                <a:lnTo>
                  <a:pt x="0" y="4497185"/>
                </a:lnTo>
                <a:lnTo>
                  <a:pt x="0" y="0"/>
                </a:lnTo>
                <a:close/>
              </a:path>
            </a:pathLst>
          </a:custGeom>
          <a:blipFill>
            <a:blip r:embed="rId4"/>
            <a:stretch>
              <a:fillRect/>
            </a:stretch>
          </a:blipFill>
        </p:spPr>
      </p:sp>
      <p:sp>
        <p:nvSpPr>
          <p:cNvPr id="5" name="Freeform 5"/>
          <p:cNvSpPr/>
          <p:nvPr/>
        </p:nvSpPr>
        <p:spPr>
          <a:xfrm>
            <a:off x="13084230" y="2475580"/>
            <a:ext cx="5203770" cy="2484839"/>
          </a:xfrm>
          <a:custGeom>
            <a:avLst/>
            <a:gdLst/>
            <a:ahLst/>
            <a:cxnLst/>
            <a:rect l="l" t="t" r="r" b="b"/>
            <a:pathLst>
              <a:path w="5203770" h="2484839">
                <a:moveTo>
                  <a:pt x="0" y="0"/>
                </a:moveTo>
                <a:lnTo>
                  <a:pt x="5203770" y="0"/>
                </a:lnTo>
                <a:lnTo>
                  <a:pt x="5203770" y="2484839"/>
                </a:lnTo>
                <a:lnTo>
                  <a:pt x="0" y="2484839"/>
                </a:lnTo>
                <a:lnTo>
                  <a:pt x="0" y="0"/>
                </a:lnTo>
                <a:close/>
              </a:path>
            </a:pathLst>
          </a:custGeom>
          <a:blipFill>
            <a:blip r:embed="rId5"/>
            <a:stretch>
              <a:fillRect l="-99480"/>
            </a:stretch>
          </a:blipFill>
        </p:spPr>
      </p:sp>
      <p:sp>
        <p:nvSpPr>
          <p:cNvPr id="6" name="Freeform 6"/>
          <p:cNvSpPr/>
          <p:nvPr/>
        </p:nvSpPr>
        <p:spPr>
          <a:xfrm>
            <a:off x="13084230" y="0"/>
            <a:ext cx="5203770" cy="2475580"/>
          </a:xfrm>
          <a:custGeom>
            <a:avLst/>
            <a:gdLst/>
            <a:ahLst/>
            <a:cxnLst/>
            <a:rect l="l" t="t" r="r" b="b"/>
            <a:pathLst>
              <a:path w="5203770" h="2475580">
                <a:moveTo>
                  <a:pt x="0" y="0"/>
                </a:moveTo>
                <a:lnTo>
                  <a:pt x="5203770" y="0"/>
                </a:lnTo>
                <a:lnTo>
                  <a:pt x="5203770" y="2475580"/>
                </a:lnTo>
                <a:lnTo>
                  <a:pt x="0" y="2475580"/>
                </a:lnTo>
                <a:lnTo>
                  <a:pt x="0" y="0"/>
                </a:lnTo>
                <a:close/>
              </a:path>
            </a:pathLst>
          </a:custGeom>
          <a:blipFill>
            <a:blip r:embed="rId5"/>
            <a:stretch>
              <a:fillRect r="-98737"/>
            </a:stretch>
          </a:blipFill>
        </p:spPr>
      </p:sp>
      <p:sp>
        <p:nvSpPr>
          <p:cNvPr id="7" name="TextBox 7"/>
          <p:cNvSpPr txBox="1"/>
          <p:nvPr/>
        </p:nvSpPr>
        <p:spPr>
          <a:xfrm>
            <a:off x="12730676" y="9829009"/>
            <a:ext cx="5557324" cy="457200"/>
          </a:xfrm>
          <a:prstGeom prst="rect">
            <a:avLst/>
          </a:prstGeom>
        </p:spPr>
        <p:txBody>
          <a:bodyPr lIns="0" tIns="0" rIns="0" bIns="0" rtlCol="0" anchor="t">
            <a:spAutoFit/>
          </a:bodyPr>
          <a:lstStyle/>
          <a:p>
            <a:pPr algn="ctr">
              <a:lnSpc>
                <a:spcPts val="3600"/>
              </a:lnSpc>
              <a:spcBef>
                <a:spcPct val="0"/>
              </a:spcBef>
            </a:pPr>
            <a:r>
              <a:rPr lang="en-US" sz="3000" b="1">
                <a:solidFill>
                  <a:srgbClr val="000000"/>
                </a:solidFill>
                <a:latin typeface="Canva Sans Bold"/>
                <a:ea typeface="Canva Sans Bold"/>
                <a:cs typeface="Canva Sans Bold"/>
                <a:sym typeface="Canva Sans Bold"/>
              </a:rPr>
              <a:t>INITIAL USER EVALUATION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3211930" y="411962"/>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sp>
        <p:sp>
          <p:nvSpPr>
            <p:cNvPr id="4" name="TextBox 4"/>
            <p:cNvSpPr txBox="1"/>
            <p:nvPr/>
          </p:nvSpPr>
          <p:spPr>
            <a:xfrm>
              <a:off x="0" y="0"/>
              <a:ext cx="11704320" cy="1625600"/>
            </a:xfrm>
            <a:prstGeom prst="rect">
              <a:avLst/>
            </a:prstGeom>
          </p:spPr>
          <p:txBody>
            <a:bodyPr lIns="0" tIns="0" rIns="0" bIns="0" rtlCol="0" anchor="ctr"/>
            <a:lstStyle/>
            <a:p>
              <a:pPr algn="ctr">
                <a:lnSpc>
                  <a:spcPts val="7920"/>
                </a:lnSpc>
              </a:pPr>
              <a:r>
                <a:rPr lang="en-US" sz="6600">
                  <a:solidFill>
                    <a:srgbClr val="54AF9F"/>
                  </a:solidFill>
                  <a:latin typeface="Fredoka"/>
                  <a:ea typeface="Fredoka"/>
                  <a:cs typeface="Fredoka"/>
                  <a:sym typeface="Fredoka"/>
                </a:rPr>
                <a:t>Current Prototype Demo</a:t>
              </a:r>
            </a:p>
          </p:txBody>
        </p:sp>
      </p:grpSp>
      <p:sp>
        <p:nvSpPr>
          <p:cNvPr id="5" name="Freeform 5"/>
          <p:cNvSpPr/>
          <p:nvPr/>
        </p:nvSpPr>
        <p:spPr>
          <a:xfrm>
            <a:off x="284435" y="3716472"/>
            <a:ext cx="1697262" cy="2459800"/>
          </a:xfrm>
          <a:custGeom>
            <a:avLst/>
            <a:gdLst/>
            <a:ahLst/>
            <a:cxnLst/>
            <a:rect l="l" t="t" r="r" b="b"/>
            <a:pathLst>
              <a:path w="1697262" h="2459800">
                <a:moveTo>
                  <a:pt x="0" y="0"/>
                </a:moveTo>
                <a:lnTo>
                  <a:pt x="1697263" y="0"/>
                </a:lnTo>
                <a:lnTo>
                  <a:pt x="1697263" y="2459801"/>
                </a:lnTo>
                <a:lnTo>
                  <a:pt x="0" y="2459801"/>
                </a:lnTo>
                <a:lnTo>
                  <a:pt x="0" y="0"/>
                </a:lnTo>
                <a:close/>
              </a:path>
            </a:pathLst>
          </a:custGeom>
          <a:blipFill>
            <a:blip r:embed="rId3"/>
            <a:stretch>
              <a:fillRect/>
            </a:stretch>
          </a:blipFill>
        </p:spPr>
      </p:sp>
      <p:sp>
        <p:nvSpPr>
          <p:cNvPr id="6" name="Freeform 6"/>
          <p:cNvSpPr/>
          <p:nvPr/>
        </p:nvSpPr>
        <p:spPr>
          <a:xfrm>
            <a:off x="3146450" y="4289936"/>
            <a:ext cx="1297416" cy="1707127"/>
          </a:xfrm>
          <a:custGeom>
            <a:avLst/>
            <a:gdLst/>
            <a:ahLst/>
            <a:cxnLst/>
            <a:rect l="l" t="t" r="r" b="b"/>
            <a:pathLst>
              <a:path w="1297416" h="1707127">
                <a:moveTo>
                  <a:pt x="0" y="0"/>
                </a:moveTo>
                <a:lnTo>
                  <a:pt x="1297416" y="0"/>
                </a:lnTo>
                <a:lnTo>
                  <a:pt x="1297416" y="1707126"/>
                </a:lnTo>
                <a:lnTo>
                  <a:pt x="0" y="170712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3211930" y="2216675"/>
            <a:ext cx="1158294" cy="1438874"/>
          </a:xfrm>
          <a:custGeom>
            <a:avLst/>
            <a:gdLst/>
            <a:ahLst/>
            <a:cxnLst/>
            <a:rect l="l" t="t" r="r" b="b"/>
            <a:pathLst>
              <a:path w="1158294" h="1438874">
                <a:moveTo>
                  <a:pt x="0" y="0"/>
                </a:moveTo>
                <a:lnTo>
                  <a:pt x="1158294" y="0"/>
                </a:lnTo>
                <a:lnTo>
                  <a:pt x="1158294" y="1438874"/>
                </a:lnTo>
                <a:lnTo>
                  <a:pt x="0" y="143887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3211930" y="6685839"/>
            <a:ext cx="1297416" cy="1474337"/>
          </a:xfrm>
          <a:custGeom>
            <a:avLst/>
            <a:gdLst/>
            <a:ahLst/>
            <a:cxnLst/>
            <a:rect l="l" t="t" r="r" b="b"/>
            <a:pathLst>
              <a:path w="1297416" h="1474337">
                <a:moveTo>
                  <a:pt x="0" y="0"/>
                </a:moveTo>
                <a:lnTo>
                  <a:pt x="1297417" y="0"/>
                </a:lnTo>
                <a:lnTo>
                  <a:pt x="1297417" y="1474337"/>
                </a:lnTo>
                <a:lnTo>
                  <a:pt x="0" y="147433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Freeform 9"/>
          <p:cNvSpPr/>
          <p:nvPr/>
        </p:nvSpPr>
        <p:spPr>
          <a:xfrm>
            <a:off x="5281079" y="4088406"/>
            <a:ext cx="2151973" cy="2151973"/>
          </a:xfrm>
          <a:custGeom>
            <a:avLst/>
            <a:gdLst/>
            <a:ahLst/>
            <a:cxnLst/>
            <a:rect l="l" t="t" r="r" b="b"/>
            <a:pathLst>
              <a:path w="2151973" h="2151973">
                <a:moveTo>
                  <a:pt x="0" y="0"/>
                </a:moveTo>
                <a:lnTo>
                  <a:pt x="2151973" y="0"/>
                </a:lnTo>
                <a:lnTo>
                  <a:pt x="2151973" y="2151973"/>
                </a:lnTo>
                <a:lnTo>
                  <a:pt x="0" y="215197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0" name="Freeform 10"/>
          <p:cNvSpPr/>
          <p:nvPr/>
        </p:nvSpPr>
        <p:spPr>
          <a:xfrm>
            <a:off x="8274346" y="4067514"/>
            <a:ext cx="1548808" cy="2196891"/>
          </a:xfrm>
          <a:custGeom>
            <a:avLst/>
            <a:gdLst/>
            <a:ahLst/>
            <a:cxnLst/>
            <a:rect l="l" t="t" r="r" b="b"/>
            <a:pathLst>
              <a:path w="1548808" h="2196891">
                <a:moveTo>
                  <a:pt x="0" y="0"/>
                </a:moveTo>
                <a:lnTo>
                  <a:pt x="1548808" y="0"/>
                </a:lnTo>
                <a:lnTo>
                  <a:pt x="1548808" y="2196891"/>
                </a:lnTo>
                <a:lnTo>
                  <a:pt x="0" y="2196891"/>
                </a:lnTo>
                <a:lnTo>
                  <a:pt x="0" y="0"/>
                </a:lnTo>
                <a:close/>
              </a:path>
            </a:pathLst>
          </a:custGeom>
          <a:blipFill>
            <a:blip r:embed="rId8"/>
            <a:stretch>
              <a:fillRect/>
            </a:stretch>
          </a:blipFill>
        </p:spPr>
      </p:sp>
      <p:sp>
        <p:nvSpPr>
          <p:cNvPr id="11" name="Freeform 11"/>
          <p:cNvSpPr/>
          <p:nvPr/>
        </p:nvSpPr>
        <p:spPr>
          <a:xfrm>
            <a:off x="10987907" y="4067514"/>
            <a:ext cx="2193758" cy="2193758"/>
          </a:xfrm>
          <a:custGeom>
            <a:avLst/>
            <a:gdLst/>
            <a:ahLst/>
            <a:cxnLst/>
            <a:rect l="l" t="t" r="r" b="b"/>
            <a:pathLst>
              <a:path w="2193758" h="2193758">
                <a:moveTo>
                  <a:pt x="0" y="0"/>
                </a:moveTo>
                <a:lnTo>
                  <a:pt x="2193758" y="0"/>
                </a:lnTo>
                <a:lnTo>
                  <a:pt x="2193758" y="2193757"/>
                </a:lnTo>
                <a:lnTo>
                  <a:pt x="0" y="2193757"/>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12" name="Group 12"/>
          <p:cNvGrpSpPr/>
          <p:nvPr/>
        </p:nvGrpSpPr>
        <p:grpSpPr>
          <a:xfrm>
            <a:off x="14346418" y="3551253"/>
            <a:ext cx="2371314" cy="3226277"/>
            <a:chOff x="0" y="0"/>
            <a:chExt cx="3161752" cy="4301703"/>
          </a:xfrm>
        </p:grpSpPr>
        <p:sp>
          <p:nvSpPr>
            <p:cNvPr id="13" name="Freeform 13"/>
            <p:cNvSpPr/>
            <p:nvPr/>
          </p:nvSpPr>
          <p:spPr>
            <a:xfrm>
              <a:off x="0" y="0"/>
              <a:ext cx="3161752" cy="4301703"/>
            </a:xfrm>
            <a:custGeom>
              <a:avLst/>
              <a:gdLst/>
              <a:ahLst/>
              <a:cxnLst/>
              <a:rect l="l" t="t" r="r" b="b"/>
              <a:pathLst>
                <a:path w="3161752" h="4301703">
                  <a:moveTo>
                    <a:pt x="0" y="0"/>
                  </a:moveTo>
                  <a:lnTo>
                    <a:pt x="3161752" y="0"/>
                  </a:lnTo>
                  <a:lnTo>
                    <a:pt x="3161752" y="4301703"/>
                  </a:lnTo>
                  <a:lnTo>
                    <a:pt x="0" y="4301703"/>
                  </a:lnTo>
                  <a:lnTo>
                    <a:pt x="0" y="0"/>
                  </a:lnTo>
                  <a:close/>
                </a:path>
              </a:pathLst>
            </a:custGeom>
            <a:blipFill>
              <a:blip r:embed="rId10"/>
              <a:stretch>
                <a:fillRect/>
              </a:stretch>
            </a:blipFill>
          </p:spPr>
        </p:sp>
        <p:sp>
          <p:nvSpPr>
            <p:cNvPr id="14" name="AutoShape 14"/>
            <p:cNvSpPr/>
            <p:nvPr/>
          </p:nvSpPr>
          <p:spPr>
            <a:xfrm>
              <a:off x="497542" y="1860159"/>
              <a:ext cx="1957635" cy="0"/>
            </a:xfrm>
            <a:prstGeom prst="line">
              <a:avLst/>
            </a:prstGeom>
            <a:ln w="76200" cap="rnd">
              <a:solidFill>
                <a:srgbClr val="FE5152"/>
              </a:solidFill>
              <a:prstDash val="solid"/>
              <a:headEnd type="none" w="sm" len="sm"/>
              <a:tailEnd type="none" w="sm" len="sm"/>
            </a:ln>
          </p:spPr>
        </p:sp>
        <p:sp>
          <p:nvSpPr>
            <p:cNvPr id="15" name="AutoShape 15"/>
            <p:cNvSpPr/>
            <p:nvPr/>
          </p:nvSpPr>
          <p:spPr>
            <a:xfrm>
              <a:off x="497542" y="2112751"/>
              <a:ext cx="1957635" cy="0"/>
            </a:xfrm>
            <a:prstGeom prst="line">
              <a:avLst/>
            </a:prstGeom>
            <a:ln w="76200" cap="rnd">
              <a:solidFill>
                <a:srgbClr val="FBE29D"/>
              </a:solidFill>
              <a:prstDash val="solid"/>
              <a:headEnd type="none" w="sm" len="sm"/>
              <a:tailEnd type="none" w="sm" len="sm"/>
            </a:ln>
          </p:spPr>
        </p:sp>
        <p:sp>
          <p:nvSpPr>
            <p:cNvPr id="16" name="AutoShape 16"/>
            <p:cNvSpPr/>
            <p:nvPr/>
          </p:nvSpPr>
          <p:spPr>
            <a:xfrm>
              <a:off x="410297" y="2493445"/>
              <a:ext cx="2110941" cy="0"/>
            </a:xfrm>
            <a:prstGeom prst="line">
              <a:avLst/>
            </a:prstGeom>
            <a:ln w="76200" cap="rnd">
              <a:solidFill>
                <a:srgbClr val="54AF9F"/>
              </a:solidFill>
              <a:prstDash val="solid"/>
              <a:headEnd type="none" w="sm" len="sm"/>
              <a:tailEnd type="none" w="sm" len="sm"/>
            </a:ln>
          </p:spPr>
        </p:sp>
      </p:grpSp>
      <mc:AlternateContent xmlns:mc="http://schemas.openxmlformats.org/markup-compatibility/2006">
        <mc:Choice xmlns:p14="http://schemas.microsoft.com/office/powerpoint/2010/main" Requires="p14">
          <p:contentPart p14:bwMode="auto" r:id="rId11">
            <p14:nvContentPartPr>
              <p14:cNvPr id="17" name="Ink 16">
                <a:extLst>
                  <a:ext uri="{FF2B5EF4-FFF2-40B4-BE49-F238E27FC236}">
                    <a16:creationId xmlns:a16="http://schemas.microsoft.com/office/drawing/2014/main" id="{F027D78B-427D-BE02-6DE8-9D0F77F3FB2E}"/>
                  </a:ext>
                </a:extLst>
              </p14:cNvPr>
              <p14:cNvContentPartPr/>
              <p14:nvPr/>
            </p14:nvContentPartPr>
            <p14:xfrm>
              <a:off x="1782840" y="2928120"/>
              <a:ext cx="928440" cy="1308600"/>
            </p14:xfrm>
          </p:contentPart>
        </mc:Choice>
        <mc:Fallback>
          <p:pic>
            <p:nvPicPr>
              <p:cNvPr id="17" name="Ink 16">
                <a:extLst>
                  <a:ext uri="{FF2B5EF4-FFF2-40B4-BE49-F238E27FC236}">
                    <a16:creationId xmlns:a16="http://schemas.microsoft.com/office/drawing/2014/main" id="{F027D78B-427D-BE02-6DE8-9D0F77F3FB2E}"/>
                  </a:ext>
                </a:extLst>
              </p:cNvPr>
              <p:cNvPicPr/>
              <p:nvPr/>
            </p:nvPicPr>
            <p:blipFill>
              <a:blip r:embed="rId12"/>
              <a:stretch>
                <a:fillRect/>
              </a:stretch>
            </p:blipFill>
            <p:spPr>
              <a:xfrm>
                <a:off x="1776720" y="2922000"/>
                <a:ext cx="940680" cy="13208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8" name="Ink 17">
                <a:extLst>
                  <a:ext uri="{FF2B5EF4-FFF2-40B4-BE49-F238E27FC236}">
                    <a16:creationId xmlns:a16="http://schemas.microsoft.com/office/drawing/2014/main" id="{F47CD557-A12E-2038-5C20-034495A6CF11}"/>
                  </a:ext>
                </a:extLst>
              </p14:cNvPr>
              <p14:cNvContentPartPr/>
              <p14:nvPr/>
            </p14:nvContentPartPr>
            <p14:xfrm>
              <a:off x="2026920" y="5227080"/>
              <a:ext cx="1095120" cy="16560"/>
            </p14:xfrm>
          </p:contentPart>
        </mc:Choice>
        <mc:Fallback>
          <p:pic>
            <p:nvPicPr>
              <p:cNvPr id="18" name="Ink 17">
                <a:extLst>
                  <a:ext uri="{FF2B5EF4-FFF2-40B4-BE49-F238E27FC236}">
                    <a16:creationId xmlns:a16="http://schemas.microsoft.com/office/drawing/2014/main" id="{F47CD557-A12E-2038-5C20-034495A6CF11}"/>
                  </a:ext>
                </a:extLst>
              </p:cNvPr>
              <p:cNvPicPr/>
              <p:nvPr/>
            </p:nvPicPr>
            <p:blipFill>
              <a:blip r:embed="rId14"/>
              <a:stretch>
                <a:fillRect/>
              </a:stretch>
            </p:blipFill>
            <p:spPr>
              <a:xfrm>
                <a:off x="2020440" y="5220960"/>
                <a:ext cx="110736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9" name="Ink 18">
                <a:extLst>
                  <a:ext uri="{FF2B5EF4-FFF2-40B4-BE49-F238E27FC236}">
                    <a16:creationId xmlns:a16="http://schemas.microsoft.com/office/drawing/2014/main" id="{DC8634E2-5FFF-DD6E-5F7B-9270057B5212}"/>
                  </a:ext>
                </a:extLst>
              </p14:cNvPr>
              <p14:cNvContentPartPr/>
              <p14:nvPr/>
            </p14:nvContentPartPr>
            <p14:xfrm>
              <a:off x="2011440" y="6050040"/>
              <a:ext cx="1001160" cy="1024200"/>
            </p14:xfrm>
          </p:contentPart>
        </mc:Choice>
        <mc:Fallback>
          <p:pic>
            <p:nvPicPr>
              <p:cNvPr id="19" name="Ink 18">
                <a:extLst>
                  <a:ext uri="{FF2B5EF4-FFF2-40B4-BE49-F238E27FC236}">
                    <a16:creationId xmlns:a16="http://schemas.microsoft.com/office/drawing/2014/main" id="{DC8634E2-5FFF-DD6E-5F7B-9270057B5212}"/>
                  </a:ext>
                </a:extLst>
              </p:cNvPr>
              <p:cNvPicPr/>
              <p:nvPr/>
            </p:nvPicPr>
            <p:blipFill>
              <a:blip r:embed="rId16"/>
              <a:stretch>
                <a:fillRect/>
              </a:stretch>
            </p:blipFill>
            <p:spPr>
              <a:xfrm>
                <a:off x="2005320" y="6043920"/>
                <a:ext cx="1013400" cy="1036440"/>
              </a:xfrm>
              <a:prstGeom prst="rect">
                <a:avLst/>
              </a:prstGeom>
            </p:spPr>
          </p:pic>
        </mc:Fallback>
      </mc:AlternateContent>
      <p:grpSp>
        <p:nvGrpSpPr>
          <p:cNvPr id="24" name="Group 23">
            <a:extLst>
              <a:ext uri="{FF2B5EF4-FFF2-40B4-BE49-F238E27FC236}">
                <a16:creationId xmlns:a16="http://schemas.microsoft.com/office/drawing/2014/main" id="{8A212F2D-065E-785A-EEF9-5AC8E0682DF4}"/>
              </a:ext>
            </a:extLst>
          </p:cNvPr>
          <p:cNvGrpSpPr/>
          <p:nvPr/>
        </p:nvGrpSpPr>
        <p:grpSpPr>
          <a:xfrm>
            <a:off x="4708920" y="5013960"/>
            <a:ext cx="701640" cy="465120"/>
            <a:chOff x="4708920" y="5013960"/>
            <a:chExt cx="701640" cy="465120"/>
          </a:xfrm>
        </p:grpSpPr>
        <mc:AlternateContent xmlns:mc="http://schemas.openxmlformats.org/markup-compatibility/2006">
          <mc:Choice xmlns:p14="http://schemas.microsoft.com/office/powerpoint/2010/main" Requires="p14">
            <p:contentPart p14:bwMode="auto" r:id="rId17">
              <p14:nvContentPartPr>
                <p14:cNvPr id="20" name="Ink 19">
                  <a:extLst>
                    <a:ext uri="{FF2B5EF4-FFF2-40B4-BE49-F238E27FC236}">
                      <a16:creationId xmlns:a16="http://schemas.microsoft.com/office/drawing/2014/main" id="{577D95D9-AB08-6C9A-759A-85EEBF783A40}"/>
                    </a:ext>
                  </a:extLst>
                </p14:cNvPr>
                <p14:cNvContentPartPr/>
                <p14:nvPr/>
              </p14:nvContentPartPr>
              <p14:xfrm>
                <a:off x="4708920" y="5227080"/>
                <a:ext cx="669240" cy="31320"/>
              </p14:xfrm>
            </p:contentPart>
          </mc:Choice>
          <mc:Fallback>
            <p:pic>
              <p:nvPicPr>
                <p:cNvPr id="20" name="Ink 19">
                  <a:extLst>
                    <a:ext uri="{FF2B5EF4-FFF2-40B4-BE49-F238E27FC236}">
                      <a16:creationId xmlns:a16="http://schemas.microsoft.com/office/drawing/2014/main" id="{577D95D9-AB08-6C9A-759A-85EEBF783A40}"/>
                    </a:ext>
                  </a:extLst>
                </p:cNvPr>
                <p:cNvPicPr/>
                <p:nvPr/>
              </p:nvPicPr>
              <p:blipFill>
                <a:blip r:embed="rId18"/>
                <a:stretch>
                  <a:fillRect/>
                </a:stretch>
              </p:blipFill>
              <p:spPr>
                <a:xfrm>
                  <a:off x="4702800" y="5220960"/>
                  <a:ext cx="68148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1" name="Ink 20">
                  <a:extLst>
                    <a:ext uri="{FF2B5EF4-FFF2-40B4-BE49-F238E27FC236}">
                      <a16:creationId xmlns:a16="http://schemas.microsoft.com/office/drawing/2014/main" id="{C404E758-1CF4-CFBB-F356-4A3A4BB0C9B2}"/>
                    </a:ext>
                  </a:extLst>
                </p14:cNvPr>
                <p14:cNvContentPartPr/>
                <p14:nvPr/>
              </p14:nvContentPartPr>
              <p14:xfrm>
                <a:off x="5181600" y="5013960"/>
                <a:ext cx="228240" cy="307080"/>
              </p14:xfrm>
            </p:contentPart>
          </mc:Choice>
          <mc:Fallback>
            <p:pic>
              <p:nvPicPr>
                <p:cNvPr id="21" name="Ink 20">
                  <a:extLst>
                    <a:ext uri="{FF2B5EF4-FFF2-40B4-BE49-F238E27FC236}">
                      <a16:creationId xmlns:a16="http://schemas.microsoft.com/office/drawing/2014/main" id="{C404E758-1CF4-CFBB-F356-4A3A4BB0C9B2}"/>
                    </a:ext>
                  </a:extLst>
                </p:cNvPr>
                <p:cNvPicPr/>
                <p:nvPr/>
              </p:nvPicPr>
              <p:blipFill>
                <a:blip r:embed="rId20"/>
                <a:stretch>
                  <a:fillRect/>
                </a:stretch>
              </p:blipFill>
              <p:spPr>
                <a:xfrm>
                  <a:off x="5175120" y="5007480"/>
                  <a:ext cx="240480" cy="3193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3" name="Ink 22">
                  <a:extLst>
                    <a:ext uri="{FF2B5EF4-FFF2-40B4-BE49-F238E27FC236}">
                      <a16:creationId xmlns:a16="http://schemas.microsoft.com/office/drawing/2014/main" id="{396BA1BF-6BC6-B5ED-5E0B-944E280DD871}"/>
                    </a:ext>
                  </a:extLst>
                </p14:cNvPr>
                <p14:cNvContentPartPr/>
                <p14:nvPr/>
              </p14:nvContentPartPr>
              <p14:xfrm>
                <a:off x="5269080" y="5334000"/>
                <a:ext cx="141480" cy="145080"/>
              </p14:xfrm>
            </p:contentPart>
          </mc:Choice>
          <mc:Fallback>
            <p:pic>
              <p:nvPicPr>
                <p:cNvPr id="23" name="Ink 22">
                  <a:extLst>
                    <a:ext uri="{FF2B5EF4-FFF2-40B4-BE49-F238E27FC236}">
                      <a16:creationId xmlns:a16="http://schemas.microsoft.com/office/drawing/2014/main" id="{396BA1BF-6BC6-B5ED-5E0B-944E280DD871}"/>
                    </a:ext>
                  </a:extLst>
                </p:cNvPr>
                <p:cNvPicPr/>
                <p:nvPr/>
              </p:nvPicPr>
              <p:blipFill>
                <a:blip r:embed="rId22"/>
                <a:stretch>
                  <a:fillRect/>
                </a:stretch>
              </p:blipFill>
              <p:spPr>
                <a:xfrm>
                  <a:off x="5262960" y="5327520"/>
                  <a:ext cx="153720" cy="157320"/>
                </a:xfrm>
                <a:prstGeom prst="rect">
                  <a:avLst/>
                </a:prstGeom>
              </p:spPr>
            </p:pic>
          </mc:Fallback>
        </mc:AlternateContent>
      </p:grpSp>
      <p:grpSp>
        <p:nvGrpSpPr>
          <p:cNvPr id="27" name="Group 26">
            <a:extLst>
              <a:ext uri="{FF2B5EF4-FFF2-40B4-BE49-F238E27FC236}">
                <a16:creationId xmlns:a16="http://schemas.microsoft.com/office/drawing/2014/main" id="{7EEF7A38-4879-0572-F0E8-5FB67A1B8114}"/>
              </a:ext>
            </a:extLst>
          </p:cNvPr>
          <p:cNvGrpSpPr/>
          <p:nvPr/>
        </p:nvGrpSpPr>
        <p:grpSpPr>
          <a:xfrm>
            <a:off x="7452120" y="4952760"/>
            <a:ext cx="696240" cy="482040"/>
            <a:chOff x="7452120" y="4952760"/>
            <a:chExt cx="696240" cy="482040"/>
          </a:xfrm>
        </p:grpSpPr>
        <mc:AlternateContent xmlns:mc="http://schemas.openxmlformats.org/markup-compatibility/2006">
          <mc:Choice xmlns:p14="http://schemas.microsoft.com/office/powerpoint/2010/main" Requires="p14">
            <p:contentPart p14:bwMode="auto" r:id="rId23">
              <p14:nvContentPartPr>
                <p14:cNvPr id="25" name="Ink 24">
                  <a:extLst>
                    <a:ext uri="{FF2B5EF4-FFF2-40B4-BE49-F238E27FC236}">
                      <a16:creationId xmlns:a16="http://schemas.microsoft.com/office/drawing/2014/main" id="{888DBF01-5DEE-FD61-2435-65059DE672A6}"/>
                    </a:ext>
                  </a:extLst>
                </p14:cNvPr>
                <p14:cNvContentPartPr/>
                <p14:nvPr/>
              </p14:nvContentPartPr>
              <p14:xfrm>
                <a:off x="7452120" y="5166240"/>
                <a:ext cx="669240" cy="360"/>
              </p14:xfrm>
            </p:contentPart>
          </mc:Choice>
          <mc:Fallback>
            <p:pic>
              <p:nvPicPr>
                <p:cNvPr id="25" name="Ink 24">
                  <a:extLst>
                    <a:ext uri="{FF2B5EF4-FFF2-40B4-BE49-F238E27FC236}">
                      <a16:creationId xmlns:a16="http://schemas.microsoft.com/office/drawing/2014/main" id="{888DBF01-5DEE-FD61-2435-65059DE672A6}"/>
                    </a:ext>
                  </a:extLst>
                </p:cNvPr>
                <p:cNvPicPr/>
                <p:nvPr/>
              </p:nvPicPr>
              <p:blipFill>
                <a:blip r:embed="rId24"/>
                <a:stretch>
                  <a:fillRect/>
                </a:stretch>
              </p:blipFill>
              <p:spPr>
                <a:xfrm>
                  <a:off x="7446000" y="5160120"/>
                  <a:ext cx="68148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6" name="Ink 25">
                  <a:extLst>
                    <a:ext uri="{FF2B5EF4-FFF2-40B4-BE49-F238E27FC236}">
                      <a16:creationId xmlns:a16="http://schemas.microsoft.com/office/drawing/2014/main" id="{4106D31C-62A4-EB51-4E43-F8486A4085A7}"/>
                    </a:ext>
                  </a:extLst>
                </p14:cNvPr>
                <p14:cNvContentPartPr/>
                <p14:nvPr/>
              </p14:nvContentPartPr>
              <p14:xfrm>
                <a:off x="7802760" y="4952760"/>
                <a:ext cx="345600" cy="482040"/>
              </p14:xfrm>
            </p:contentPart>
          </mc:Choice>
          <mc:Fallback>
            <p:pic>
              <p:nvPicPr>
                <p:cNvPr id="26" name="Ink 25">
                  <a:extLst>
                    <a:ext uri="{FF2B5EF4-FFF2-40B4-BE49-F238E27FC236}">
                      <a16:creationId xmlns:a16="http://schemas.microsoft.com/office/drawing/2014/main" id="{4106D31C-62A4-EB51-4E43-F8486A4085A7}"/>
                    </a:ext>
                  </a:extLst>
                </p:cNvPr>
                <p:cNvPicPr/>
                <p:nvPr/>
              </p:nvPicPr>
              <p:blipFill>
                <a:blip r:embed="rId26"/>
                <a:stretch>
                  <a:fillRect/>
                </a:stretch>
              </p:blipFill>
              <p:spPr>
                <a:xfrm>
                  <a:off x="7796640" y="4946640"/>
                  <a:ext cx="357840" cy="494280"/>
                </a:xfrm>
                <a:prstGeom prst="rect">
                  <a:avLst/>
                </a:prstGeom>
              </p:spPr>
            </p:pic>
          </mc:Fallback>
        </mc:AlternateContent>
      </p:grpSp>
      <p:grpSp>
        <p:nvGrpSpPr>
          <p:cNvPr id="30" name="Group 29">
            <a:extLst>
              <a:ext uri="{FF2B5EF4-FFF2-40B4-BE49-F238E27FC236}">
                <a16:creationId xmlns:a16="http://schemas.microsoft.com/office/drawing/2014/main" id="{2CC2A170-4EC3-7C79-7A36-F5FEF4725C01}"/>
              </a:ext>
            </a:extLst>
          </p:cNvPr>
          <p:cNvGrpSpPr/>
          <p:nvPr/>
        </p:nvGrpSpPr>
        <p:grpSpPr>
          <a:xfrm>
            <a:off x="10012440" y="4998480"/>
            <a:ext cx="868680" cy="396720"/>
            <a:chOff x="10012440" y="4998480"/>
            <a:chExt cx="868680" cy="396720"/>
          </a:xfrm>
        </p:grpSpPr>
        <mc:AlternateContent xmlns:mc="http://schemas.openxmlformats.org/markup-compatibility/2006">
          <mc:Choice xmlns:p14="http://schemas.microsoft.com/office/powerpoint/2010/main" Requires="p14">
            <p:contentPart p14:bwMode="auto" r:id="rId27">
              <p14:nvContentPartPr>
                <p14:cNvPr id="28" name="Ink 27">
                  <a:extLst>
                    <a:ext uri="{FF2B5EF4-FFF2-40B4-BE49-F238E27FC236}">
                      <a16:creationId xmlns:a16="http://schemas.microsoft.com/office/drawing/2014/main" id="{FD95BA20-E133-9D46-F110-35FD752861FB}"/>
                    </a:ext>
                  </a:extLst>
                </p14:cNvPr>
                <p14:cNvContentPartPr/>
                <p14:nvPr/>
              </p14:nvContentPartPr>
              <p14:xfrm>
                <a:off x="10012440" y="5181360"/>
                <a:ext cx="761040" cy="360"/>
              </p14:xfrm>
            </p:contentPart>
          </mc:Choice>
          <mc:Fallback>
            <p:pic>
              <p:nvPicPr>
                <p:cNvPr id="28" name="Ink 27">
                  <a:extLst>
                    <a:ext uri="{FF2B5EF4-FFF2-40B4-BE49-F238E27FC236}">
                      <a16:creationId xmlns:a16="http://schemas.microsoft.com/office/drawing/2014/main" id="{FD95BA20-E133-9D46-F110-35FD752861FB}"/>
                    </a:ext>
                  </a:extLst>
                </p:cNvPr>
                <p:cNvPicPr/>
                <p:nvPr/>
              </p:nvPicPr>
              <p:blipFill>
                <a:blip r:embed="rId28"/>
                <a:stretch>
                  <a:fillRect/>
                </a:stretch>
              </p:blipFill>
              <p:spPr>
                <a:xfrm>
                  <a:off x="10006320" y="5175240"/>
                  <a:ext cx="77328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9" name="Ink 28">
                  <a:extLst>
                    <a:ext uri="{FF2B5EF4-FFF2-40B4-BE49-F238E27FC236}">
                      <a16:creationId xmlns:a16="http://schemas.microsoft.com/office/drawing/2014/main" id="{AB42307D-D6A4-C260-1044-48CBC5C8751E}"/>
                    </a:ext>
                  </a:extLst>
                </p14:cNvPr>
                <p14:cNvContentPartPr/>
                <p14:nvPr/>
              </p14:nvContentPartPr>
              <p14:xfrm>
                <a:off x="10530840" y="4998480"/>
                <a:ext cx="350280" cy="396720"/>
              </p14:xfrm>
            </p:contentPart>
          </mc:Choice>
          <mc:Fallback>
            <p:pic>
              <p:nvPicPr>
                <p:cNvPr id="29" name="Ink 28">
                  <a:extLst>
                    <a:ext uri="{FF2B5EF4-FFF2-40B4-BE49-F238E27FC236}">
                      <a16:creationId xmlns:a16="http://schemas.microsoft.com/office/drawing/2014/main" id="{AB42307D-D6A4-C260-1044-48CBC5C8751E}"/>
                    </a:ext>
                  </a:extLst>
                </p:cNvPr>
                <p:cNvPicPr/>
                <p:nvPr/>
              </p:nvPicPr>
              <p:blipFill>
                <a:blip r:embed="rId30"/>
                <a:stretch>
                  <a:fillRect/>
                </a:stretch>
              </p:blipFill>
              <p:spPr>
                <a:xfrm>
                  <a:off x="10524360" y="4992360"/>
                  <a:ext cx="362520" cy="408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1">
            <p14:nvContentPartPr>
              <p14:cNvPr id="31" name="Ink 30">
                <a:extLst>
                  <a:ext uri="{FF2B5EF4-FFF2-40B4-BE49-F238E27FC236}">
                    <a16:creationId xmlns:a16="http://schemas.microsoft.com/office/drawing/2014/main" id="{7F2E363D-EE51-8C1F-1427-99869DE61D7A}"/>
                  </a:ext>
                </a:extLst>
              </p14:cNvPr>
              <p14:cNvContentPartPr/>
              <p14:nvPr/>
            </p14:nvContentPartPr>
            <p14:xfrm>
              <a:off x="13441440" y="5181360"/>
              <a:ext cx="577800" cy="360"/>
            </p14:xfrm>
          </p:contentPart>
        </mc:Choice>
        <mc:Fallback>
          <p:pic>
            <p:nvPicPr>
              <p:cNvPr id="31" name="Ink 30">
                <a:extLst>
                  <a:ext uri="{FF2B5EF4-FFF2-40B4-BE49-F238E27FC236}">
                    <a16:creationId xmlns:a16="http://schemas.microsoft.com/office/drawing/2014/main" id="{7F2E363D-EE51-8C1F-1427-99869DE61D7A}"/>
                  </a:ext>
                </a:extLst>
              </p:cNvPr>
              <p:cNvPicPr/>
              <p:nvPr/>
            </p:nvPicPr>
            <p:blipFill>
              <a:blip r:embed="rId32"/>
              <a:stretch>
                <a:fillRect/>
              </a:stretch>
            </p:blipFill>
            <p:spPr>
              <a:xfrm>
                <a:off x="13435320" y="5175240"/>
                <a:ext cx="5900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2" name="Ink 31">
                <a:extLst>
                  <a:ext uri="{FF2B5EF4-FFF2-40B4-BE49-F238E27FC236}">
                    <a16:creationId xmlns:a16="http://schemas.microsoft.com/office/drawing/2014/main" id="{23B5B418-3B48-42F4-8F00-2DD7C980F087}"/>
                  </a:ext>
                </a:extLst>
              </p14:cNvPr>
              <p14:cNvContentPartPr/>
              <p14:nvPr/>
            </p14:nvContentPartPr>
            <p14:xfrm>
              <a:off x="13761480" y="4937640"/>
              <a:ext cx="284400" cy="464760"/>
            </p14:xfrm>
          </p:contentPart>
        </mc:Choice>
        <mc:Fallback>
          <p:pic>
            <p:nvPicPr>
              <p:cNvPr id="32" name="Ink 31">
                <a:extLst>
                  <a:ext uri="{FF2B5EF4-FFF2-40B4-BE49-F238E27FC236}">
                    <a16:creationId xmlns:a16="http://schemas.microsoft.com/office/drawing/2014/main" id="{23B5B418-3B48-42F4-8F00-2DD7C980F087}"/>
                  </a:ext>
                </a:extLst>
              </p:cNvPr>
              <p:cNvPicPr/>
              <p:nvPr/>
            </p:nvPicPr>
            <p:blipFill>
              <a:blip r:embed="rId34"/>
              <a:stretch>
                <a:fillRect/>
              </a:stretch>
            </p:blipFill>
            <p:spPr>
              <a:xfrm>
                <a:off x="13755360" y="4931520"/>
                <a:ext cx="296640" cy="4770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3" name="Ink 32">
                <a:extLst>
                  <a:ext uri="{FF2B5EF4-FFF2-40B4-BE49-F238E27FC236}">
                    <a16:creationId xmlns:a16="http://schemas.microsoft.com/office/drawing/2014/main" id="{36FEE306-CDF9-719A-8C9B-89F7FCAAF8D8}"/>
                  </a:ext>
                </a:extLst>
              </p14:cNvPr>
              <p14:cNvContentPartPr/>
              <p14:nvPr/>
            </p14:nvContentPartPr>
            <p14:xfrm>
              <a:off x="2377200" y="2880240"/>
              <a:ext cx="411120" cy="518760"/>
            </p14:xfrm>
          </p:contentPart>
        </mc:Choice>
        <mc:Fallback>
          <p:pic>
            <p:nvPicPr>
              <p:cNvPr id="33" name="Ink 32">
                <a:extLst>
                  <a:ext uri="{FF2B5EF4-FFF2-40B4-BE49-F238E27FC236}">
                    <a16:creationId xmlns:a16="http://schemas.microsoft.com/office/drawing/2014/main" id="{36FEE306-CDF9-719A-8C9B-89F7FCAAF8D8}"/>
                  </a:ext>
                </a:extLst>
              </p:cNvPr>
              <p:cNvPicPr/>
              <p:nvPr/>
            </p:nvPicPr>
            <p:blipFill>
              <a:blip r:embed="rId36"/>
              <a:stretch>
                <a:fillRect/>
              </a:stretch>
            </p:blipFill>
            <p:spPr>
              <a:xfrm>
                <a:off x="2371080" y="2874120"/>
                <a:ext cx="423360" cy="531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34" name="Ink 33">
                <a:extLst>
                  <a:ext uri="{FF2B5EF4-FFF2-40B4-BE49-F238E27FC236}">
                    <a16:creationId xmlns:a16="http://schemas.microsoft.com/office/drawing/2014/main" id="{4640F66B-C169-5378-6D88-D395F47D72F5}"/>
                  </a:ext>
                </a:extLst>
              </p14:cNvPr>
              <p14:cNvContentPartPr/>
              <p14:nvPr/>
            </p14:nvContentPartPr>
            <p14:xfrm>
              <a:off x="2788680" y="5013960"/>
              <a:ext cx="334440" cy="482400"/>
            </p14:xfrm>
          </p:contentPart>
        </mc:Choice>
        <mc:Fallback>
          <p:pic>
            <p:nvPicPr>
              <p:cNvPr id="34" name="Ink 33">
                <a:extLst>
                  <a:ext uri="{FF2B5EF4-FFF2-40B4-BE49-F238E27FC236}">
                    <a16:creationId xmlns:a16="http://schemas.microsoft.com/office/drawing/2014/main" id="{4640F66B-C169-5378-6D88-D395F47D72F5}"/>
                  </a:ext>
                </a:extLst>
              </p:cNvPr>
              <p:cNvPicPr/>
              <p:nvPr/>
            </p:nvPicPr>
            <p:blipFill>
              <a:blip r:embed="rId38"/>
              <a:stretch>
                <a:fillRect/>
              </a:stretch>
            </p:blipFill>
            <p:spPr>
              <a:xfrm>
                <a:off x="2782560" y="5007480"/>
                <a:ext cx="346680" cy="4946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6" name="Ink 35">
                <a:extLst>
                  <a:ext uri="{FF2B5EF4-FFF2-40B4-BE49-F238E27FC236}">
                    <a16:creationId xmlns:a16="http://schemas.microsoft.com/office/drawing/2014/main" id="{7E3BA0B3-F81D-D8F2-B29C-C418FB397218}"/>
                  </a:ext>
                </a:extLst>
              </p14:cNvPr>
              <p14:cNvContentPartPr/>
              <p14:nvPr/>
            </p14:nvContentPartPr>
            <p14:xfrm>
              <a:off x="2986680" y="6537840"/>
              <a:ext cx="30960" cy="533880"/>
            </p14:xfrm>
          </p:contentPart>
        </mc:Choice>
        <mc:Fallback>
          <p:pic>
            <p:nvPicPr>
              <p:cNvPr id="36" name="Ink 35">
                <a:extLst>
                  <a:ext uri="{FF2B5EF4-FFF2-40B4-BE49-F238E27FC236}">
                    <a16:creationId xmlns:a16="http://schemas.microsoft.com/office/drawing/2014/main" id="{7E3BA0B3-F81D-D8F2-B29C-C418FB397218}"/>
                  </a:ext>
                </a:extLst>
              </p:cNvPr>
              <p:cNvPicPr/>
              <p:nvPr/>
            </p:nvPicPr>
            <p:blipFill>
              <a:blip r:embed="rId40"/>
              <a:stretch>
                <a:fillRect/>
              </a:stretch>
            </p:blipFill>
            <p:spPr>
              <a:xfrm>
                <a:off x="2980560" y="6531720"/>
                <a:ext cx="43200" cy="5461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7" name="Ink 36">
                <a:extLst>
                  <a:ext uri="{FF2B5EF4-FFF2-40B4-BE49-F238E27FC236}">
                    <a16:creationId xmlns:a16="http://schemas.microsoft.com/office/drawing/2014/main" id="{978FD0AD-8BCC-BF6F-B2CB-2B907C2445B1}"/>
                  </a:ext>
                </a:extLst>
              </p14:cNvPr>
              <p14:cNvContentPartPr/>
              <p14:nvPr/>
            </p14:nvContentPartPr>
            <p14:xfrm>
              <a:off x="2577720" y="7101600"/>
              <a:ext cx="439920" cy="108360"/>
            </p14:xfrm>
          </p:contentPart>
        </mc:Choice>
        <mc:Fallback>
          <p:pic>
            <p:nvPicPr>
              <p:cNvPr id="37" name="Ink 36">
                <a:extLst>
                  <a:ext uri="{FF2B5EF4-FFF2-40B4-BE49-F238E27FC236}">
                    <a16:creationId xmlns:a16="http://schemas.microsoft.com/office/drawing/2014/main" id="{978FD0AD-8BCC-BF6F-B2CB-2B907C2445B1}"/>
                  </a:ext>
                </a:extLst>
              </p:cNvPr>
              <p:cNvPicPr/>
              <p:nvPr/>
            </p:nvPicPr>
            <p:blipFill>
              <a:blip r:embed="rId42"/>
              <a:stretch>
                <a:fillRect/>
              </a:stretch>
            </p:blipFill>
            <p:spPr>
              <a:xfrm>
                <a:off x="2571600" y="7095480"/>
                <a:ext cx="45216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8" name="Ink 37">
                <a:extLst>
                  <a:ext uri="{FF2B5EF4-FFF2-40B4-BE49-F238E27FC236}">
                    <a16:creationId xmlns:a16="http://schemas.microsoft.com/office/drawing/2014/main" id="{76A6B48C-DA11-105F-CA13-9520FF6B5F91}"/>
                  </a:ext>
                </a:extLst>
              </p14:cNvPr>
              <p14:cNvContentPartPr/>
              <p14:nvPr/>
            </p14:nvContentPartPr>
            <p14:xfrm>
              <a:off x="-1356360" y="7269360"/>
              <a:ext cx="360" cy="360"/>
            </p14:xfrm>
          </p:contentPart>
        </mc:Choice>
        <mc:Fallback>
          <p:pic>
            <p:nvPicPr>
              <p:cNvPr id="38" name="Ink 37">
                <a:extLst>
                  <a:ext uri="{FF2B5EF4-FFF2-40B4-BE49-F238E27FC236}">
                    <a16:creationId xmlns:a16="http://schemas.microsoft.com/office/drawing/2014/main" id="{76A6B48C-DA11-105F-CA13-9520FF6B5F91}"/>
                  </a:ext>
                </a:extLst>
              </p:cNvPr>
              <p:cNvPicPr/>
              <p:nvPr/>
            </p:nvPicPr>
            <p:blipFill>
              <a:blip r:embed="rId44"/>
              <a:stretch>
                <a:fillRect/>
              </a:stretch>
            </p:blipFill>
            <p:spPr>
              <a:xfrm>
                <a:off x="-1362840" y="7263240"/>
                <a:ext cx="12600" cy="12600"/>
              </a:xfrm>
              <a:prstGeom prst="rect">
                <a:avLst/>
              </a:prstGeom>
            </p:spPr>
          </p:pic>
        </mc:Fallback>
      </mc:AlternateContent>
      <p:sp>
        <p:nvSpPr>
          <p:cNvPr id="39" name="TextBox 38">
            <a:extLst>
              <a:ext uri="{FF2B5EF4-FFF2-40B4-BE49-F238E27FC236}">
                <a16:creationId xmlns:a16="http://schemas.microsoft.com/office/drawing/2014/main" id="{46B50978-28B9-F229-ED16-7176EC27A694}"/>
              </a:ext>
            </a:extLst>
          </p:cNvPr>
          <p:cNvSpPr txBox="1"/>
          <p:nvPr/>
        </p:nvSpPr>
        <p:spPr>
          <a:xfrm>
            <a:off x="5029200" y="7581900"/>
            <a:ext cx="11963400" cy="1015663"/>
          </a:xfrm>
          <a:prstGeom prst="rect">
            <a:avLst/>
          </a:prstGeom>
          <a:noFill/>
        </p:spPr>
        <p:txBody>
          <a:bodyPr wrap="square" rtlCol="0">
            <a:spAutoFit/>
          </a:bodyPr>
          <a:lstStyle/>
          <a:p>
            <a:r>
              <a:rPr lang="en-US" sz="6000" dirty="0"/>
              <a:t>Application Link: </a:t>
            </a:r>
            <a:r>
              <a:rPr lang="en-IN" sz="4000" dirty="0">
                <a:hlinkClick r:id="rId45"/>
              </a:rPr>
              <a:t>clause-guard-ten-</a:t>
            </a:r>
            <a:r>
              <a:rPr lang="en-IN" sz="4000" dirty="0" err="1">
                <a:hlinkClick r:id="rId45"/>
              </a:rPr>
              <a:t>chi.vercel.app</a:t>
            </a:r>
            <a:endParaRPr lang="en-IN" sz="6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971800" y="411962"/>
            <a:ext cx="12344400" cy="2176272"/>
            <a:chOff x="0" y="0"/>
            <a:chExt cx="11704320" cy="2063428"/>
          </a:xfrm>
        </p:grpSpPr>
        <p:sp>
          <p:nvSpPr>
            <p:cNvPr id="3" name="Freeform 3"/>
            <p:cNvSpPr/>
            <p:nvPr/>
          </p:nvSpPr>
          <p:spPr>
            <a:xfrm>
              <a:off x="0" y="0"/>
              <a:ext cx="11704320" cy="2063428"/>
            </a:xfrm>
            <a:custGeom>
              <a:avLst/>
              <a:gdLst/>
              <a:ahLst/>
              <a:cxnLst/>
              <a:rect l="l" t="t" r="r" b="b"/>
              <a:pathLst>
                <a:path w="11704320" h="2063428">
                  <a:moveTo>
                    <a:pt x="0" y="0"/>
                  </a:moveTo>
                  <a:lnTo>
                    <a:pt x="11704320" y="0"/>
                  </a:lnTo>
                  <a:lnTo>
                    <a:pt x="11704320" y="2063428"/>
                  </a:lnTo>
                  <a:lnTo>
                    <a:pt x="0" y="2063428"/>
                  </a:lnTo>
                  <a:close/>
                </a:path>
              </a:pathLst>
            </a:custGeom>
            <a:blipFill>
              <a:blip r:embed="rId2">
                <a:alphaModFix amt="0"/>
              </a:blip>
              <a:stretch>
                <a:fillRect t="-71133" b="-49915"/>
              </a:stretch>
            </a:blipFill>
          </p:spPr>
        </p:sp>
        <p:sp>
          <p:nvSpPr>
            <p:cNvPr id="4" name="TextBox 4"/>
            <p:cNvSpPr txBox="1"/>
            <p:nvPr/>
          </p:nvSpPr>
          <p:spPr>
            <a:xfrm>
              <a:off x="0" y="0"/>
              <a:ext cx="11704320" cy="2063428"/>
            </a:xfrm>
            <a:prstGeom prst="rect">
              <a:avLst/>
            </a:prstGeom>
          </p:spPr>
          <p:txBody>
            <a:bodyPr lIns="0" tIns="0" rIns="0" bIns="0" rtlCol="0" anchor="ctr"/>
            <a:lstStyle/>
            <a:p>
              <a:pPr algn="ctr">
                <a:lnSpc>
                  <a:spcPts val="7920"/>
                </a:lnSpc>
              </a:pPr>
              <a:r>
                <a:rPr lang="en-US" sz="6600">
                  <a:solidFill>
                    <a:srgbClr val="54AF9F"/>
                  </a:solidFill>
                  <a:latin typeface="Fredoka"/>
                  <a:ea typeface="Fredoka"/>
                  <a:cs typeface="Fredoka"/>
                  <a:sym typeface="Fredoka"/>
                </a:rPr>
                <a:t>Immediate Next Steps &amp; Project Roadmap</a:t>
              </a:r>
            </a:p>
          </p:txBody>
        </p:sp>
      </p:grpSp>
      <p:grpSp>
        <p:nvGrpSpPr>
          <p:cNvPr id="5" name="Group 5"/>
          <p:cNvGrpSpPr/>
          <p:nvPr/>
        </p:nvGrpSpPr>
        <p:grpSpPr>
          <a:xfrm>
            <a:off x="597949" y="4176620"/>
            <a:ext cx="6196128" cy="5913398"/>
            <a:chOff x="0" y="0"/>
            <a:chExt cx="1631902" cy="1557438"/>
          </a:xfrm>
        </p:grpSpPr>
        <p:sp>
          <p:nvSpPr>
            <p:cNvPr id="6" name="Freeform 6"/>
            <p:cNvSpPr/>
            <p:nvPr/>
          </p:nvSpPr>
          <p:spPr>
            <a:xfrm>
              <a:off x="0" y="0"/>
              <a:ext cx="1631902" cy="1557438"/>
            </a:xfrm>
            <a:custGeom>
              <a:avLst/>
              <a:gdLst/>
              <a:ahLst/>
              <a:cxnLst/>
              <a:rect l="l" t="t" r="r" b="b"/>
              <a:pathLst>
                <a:path w="1631902" h="1557438">
                  <a:moveTo>
                    <a:pt x="0" y="0"/>
                  </a:moveTo>
                  <a:lnTo>
                    <a:pt x="1631902" y="0"/>
                  </a:lnTo>
                  <a:lnTo>
                    <a:pt x="1631902" y="1557438"/>
                  </a:lnTo>
                  <a:lnTo>
                    <a:pt x="0" y="1557438"/>
                  </a:lnTo>
                  <a:close/>
                </a:path>
              </a:pathLst>
            </a:custGeom>
            <a:solidFill>
              <a:srgbClr val="C8D1D9"/>
            </a:solidFill>
          </p:spPr>
        </p:sp>
        <p:sp>
          <p:nvSpPr>
            <p:cNvPr id="7" name="TextBox 7"/>
            <p:cNvSpPr txBox="1"/>
            <p:nvPr/>
          </p:nvSpPr>
          <p:spPr>
            <a:xfrm>
              <a:off x="0" y="-57150"/>
              <a:ext cx="1631902" cy="1614588"/>
            </a:xfrm>
            <a:prstGeom prst="rect">
              <a:avLst/>
            </a:prstGeom>
          </p:spPr>
          <p:txBody>
            <a:bodyPr lIns="50800" tIns="50800" rIns="50800" bIns="50800" rtlCol="0" anchor="ctr"/>
            <a:lstStyle/>
            <a:p>
              <a:pPr algn="ctr">
                <a:lnSpc>
                  <a:spcPts val="3740"/>
                </a:lnSpc>
              </a:pPr>
              <a:r>
                <a:rPr lang="en-US" sz="2671" b="1">
                  <a:solidFill>
                    <a:srgbClr val="000000"/>
                  </a:solidFill>
                  <a:latin typeface="Canva Sans Bold"/>
                  <a:ea typeface="Canva Sans Bold"/>
                  <a:cs typeface="Canva Sans Bold"/>
                  <a:sym typeface="Canva Sans Bold"/>
                </a:rPr>
                <a:t>Immediate next steps</a:t>
              </a:r>
            </a:p>
            <a:p>
              <a:pPr algn="ctr">
                <a:lnSpc>
                  <a:spcPts val="3740"/>
                </a:lnSpc>
              </a:pPr>
              <a:r>
                <a:rPr lang="en-US" sz="2671">
                  <a:solidFill>
                    <a:srgbClr val="000000"/>
                  </a:solidFill>
                  <a:latin typeface="Canva Sans"/>
                  <a:ea typeface="Canva Sans"/>
                  <a:cs typeface="Canva Sans"/>
                  <a:sym typeface="Canva Sans"/>
                </a:rPr>
                <a:t>•Demo upload, review page, notice checker and chat</a:t>
              </a:r>
            </a:p>
            <a:p>
              <a:pPr algn="ctr">
                <a:lnSpc>
                  <a:spcPts val="3740"/>
                </a:lnSpc>
              </a:pPr>
              <a:r>
                <a:rPr lang="en-US" sz="2671">
                  <a:solidFill>
                    <a:srgbClr val="000000"/>
                  </a:solidFill>
                  <a:latin typeface="Canva Sans"/>
                  <a:ea typeface="Canva Sans"/>
                  <a:cs typeface="Canva Sans"/>
                  <a:sym typeface="Canva Sans"/>
                </a:rPr>
                <a:t>•Fix redaction and DOCX issues</a:t>
              </a:r>
            </a:p>
            <a:p>
              <a:pPr algn="ctr">
                <a:lnSpc>
                  <a:spcPts val="3740"/>
                </a:lnSpc>
              </a:pPr>
              <a:r>
                <a:rPr lang="en-US" sz="2671">
                  <a:solidFill>
                    <a:srgbClr val="000000"/>
                  </a:solidFill>
                  <a:latin typeface="Canva Sans"/>
                  <a:ea typeface="Canva Sans"/>
                  <a:cs typeface="Canva Sans"/>
                  <a:sym typeface="Canva Sans"/>
                </a:rPr>
                <a:t>•First user test with international students </a:t>
              </a:r>
            </a:p>
            <a:p>
              <a:pPr algn="ctr">
                <a:lnSpc>
                  <a:spcPts val="3740"/>
                </a:lnSpc>
              </a:pPr>
              <a:r>
                <a:rPr lang="en-US" sz="2671">
                  <a:solidFill>
                    <a:srgbClr val="000000"/>
                  </a:solidFill>
                  <a:latin typeface="Canva Sans"/>
                  <a:ea typeface="Canva Sans"/>
                  <a:cs typeface="Canva Sans"/>
                  <a:sym typeface="Canva Sans"/>
                </a:rPr>
                <a:t>•Literature review: accuracy, simplification, visualisation</a:t>
              </a:r>
            </a:p>
            <a:p>
              <a:pPr algn="ctr">
                <a:lnSpc>
                  <a:spcPts val="3740"/>
                </a:lnSpc>
              </a:pPr>
              <a:r>
                <a:rPr lang="en-US" sz="2671">
                  <a:solidFill>
                    <a:srgbClr val="000000"/>
                  </a:solidFill>
                  <a:latin typeface="Canva Sans"/>
                  <a:ea typeface="Canva Sans"/>
                  <a:cs typeface="Canva Sans"/>
                  <a:sym typeface="Canva Sans"/>
                </a:rPr>
                <a:t>•Start clause splitting and first rules </a:t>
              </a:r>
            </a:p>
          </p:txBody>
        </p:sp>
      </p:grpSp>
      <p:sp>
        <p:nvSpPr>
          <p:cNvPr id="8" name="Freeform 8"/>
          <p:cNvSpPr/>
          <p:nvPr/>
        </p:nvSpPr>
        <p:spPr>
          <a:xfrm>
            <a:off x="7247212" y="4176620"/>
            <a:ext cx="11040788" cy="1226754"/>
          </a:xfrm>
          <a:custGeom>
            <a:avLst/>
            <a:gdLst/>
            <a:ahLst/>
            <a:cxnLst/>
            <a:rect l="l" t="t" r="r" b="b"/>
            <a:pathLst>
              <a:path w="11040788" h="1226754">
                <a:moveTo>
                  <a:pt x="0" y="0"/>
                </a:moveTo>
                <a:lnTo>
                  <a:pt x="11040788" y="0"/>
                </a:lnTo>
                <a:lnTo>
                  <a:pt x="11040788" y="1226754"/>
                </a:lnTo>
                <a:lnTo>
                  <a:pt x="0" y="1226754"/>
                </a:lnTo>
                <a:lnTo>
                  <a:pt x="0" y="0"/>
                </a:lnTo>
                <a:close/>
              </a:path>
            </a:pathLst>
          </a:custGeom>
          <a:blipFill>
            <a:blip r:embed="rId3"/>
            <a:stretch>
              <a:fillRect/>
            </a:stretch>
          </a:blipFill>
        </p:spPr>
      </p:sp>
      <p:sp>
        <p:nvSpPr>
          <p:cNvPr id="9" name="TextBox 9"/>
          <p:cNvSpPr txBox="1"/>
          <p:nvPr/>
        </p:nvSpPr>
        <p:spPr>
          <a:xfrm>
            <a:off x="0" y="2891931"/>
            <a:ext cx="17809534" cy="922739"/>
          </a:xfrm>
          <a:prstGeom prst="rect">
            <a:avLst/>
          </a:prstGeom>
        </p:spPr>
        <p:txBody>
          <a:bodyPr lIns="0" tIns="0" rIns="0" bIns="0" rtlCol="0" anchor="t">
            <a:spAutoFit/>
          </a:bodyPr>
          <a:lstStyle/>
          <a:p>
            <a:pPr algn="ctr">
              <a:lnSpc>
                <a:spcPts val="3740"/>
              </a:lnSpc>
              <a:spcBef>
                <a:spcPct val="0"/>
              </a:spcBef>
            </a:pPr>
            <a:r>
              <a:rPr lang="en-US" sz="2671">
                <a:solidFill>
                  <a:srgbClr val="000000"/>
                </a:solidFill>
                <a:latin typeface="Canva Sans"/>
                <a:ea typeface="Canva Sans"/>
                <a:cs typeface="Canva Sans"/>
                <a:sym typeface="Canva Sans"/>
              </a:rPr>
              <a:t>Biggest challenge: clause analysis. Turning a real lease into real flags is not built yet, and about 289 labelled clauses cannot separate the models.</a:t>
            </a:r>
          </a:p>
        </p:txBody>
      </p:sp>
      <p:sp>
        <p:nvSpPr>
          <p:cNvPr id="10" name="TextBox 10"/>
          <p:cNvSpPr txBox="1"/>
          <p:nvPr/>
        </p:nvSpPr>
        <p:spPr>
          <a:xfrm>
            <a:off x="7247212" y="5346224"/>
            <a:ext cx="1430774" cy="456014"/>
          </a:xfrm>
          <a:prstGeom prst="rect">
            <a:avLst/>
          </a:prstGeom>
        </p:spPr>
        <p:txBody>
          <a:bodyPr lIns="0" tIns="0" rIns="0" bIns="0" rtlCol="0" anchor="t">
            <a:spAutoFit/>
          </a:bodyPr>
          <a:lstStyle/>
          <a:p>
            <a:pPr algn="ctr">
              <a:lnSpc>
                <a:spcPts val="3740"/>
              </a:lnSpc>
              <a:spcBef>
                <a:spcPct val="0"/>
              </a:spcBef>
            </a:pPr>
            <a:r>
              <a:rPr lang="en-US" sz="2671">
                <a:solidFill>
                  <a:srgbClr val="000000"/>
                </a:solidFill>
                <a:latin typeface="Canva Sans"/>
                <a:ea typeface="Canva Sans"/>
                <a:cs typeface="Canva Sans"/>
                <a:sym typeface="Canva Sans"/>
              </a:rPr>
              <a:t>By 1 Nov</a:t>
            </a:r>
          </a:p>
        </p:txBody>
      </p:sp>
      <p:sp>
        <p:nvSpPr>
          <p:cNvPr id="11" name="TextBox 11"/>
          <p:cNvSpPr txBox="1"/>
          <p:nvPr/>
        </p:nvSpPr>
        <p:spPr>
          <a:xfrm>
            <a:off x="10058400" y="5346224"/>
            <a:ext cx="7961215" cy="922739"/>
          </a:xfrm>
          <a:prstGeom prst="rect">
            <a:avLst/>
          </a:prstGeom>
        </p:spPr>
        <p:txBody>
          <a:bodyPr lIns="0" tIns="0" rIns="0" bIns="0" rtlCol="0" anchor="t">
            <a:spAutoFit/>
          </a:bodyPr>
          <a:lstStyle/>
          <a:p>
            <a:pPr algn="ctr">
              <a:lnSpc>
                <a:spcPts val="3740"/>
              </a:lnSpc>
              <a:spcBef>
                <a:spcPct val="0"/>
              </a:spcBef>
            </a:pPr>
            <a:r>
              <a:rPr lang="en-US" sz="2671">
                <a:solidFill>
                  <a:srgbClr val="000000"/>
                </a:solidFill>
                <a:latin typeface="Canva Sans"/>
                <a:ea typeface="Canva Sans"/>
                <a:cs typeface="Canva Sans"/>
                <a:sym typeface="Canva Sans"/>
              </a:rPr>
              <a:t>First end-to-end slice: real lease to real flags with citations</a:t>
            </a:r>
          </a:p>
        </p:txBody>
      </p:sp>
      <p:sp>
        <p:nvSpPr>
          <p:cNvPr id="12" name="AutoShape 12"/>
          <p:cNvSpPr/>
          <p:nvPr/>
        </p:nvSpPr>
        <p:spPr>
          <a:xfrm>
            <a:off x="9043074" y="5621857"/>
            <a:ext cx="1015326" cy="0"/>
          </a:xfrm>
          <a:prstGeom prst="line">
            <a:avLst/>
          </a:prstGeom>
          <a:ln w="38100" cap="flat">
            <a:solidFill>
              <a:srgbClr val="000000"/>
            </a:solidFill>
            <a:prstDash val="sysDot"/>
            <a:headEnd type="none" w="sm" len="sm"/>
            <a:tailEnd type="none" w="sm" len="sm"/>
          </a:ln>
        </p:spPr>
      </p:sp>
      <p:sp>
        <p:nvSpPr>
          <p:cNvPr id="13" name="TextBox 13"/>
          <p:cNvSpPr txBox="1"/>
          <p:nvPr/>
        </p:nvSpPr>
        <p:spPr>
          <a:xfrm>
            <a:off x="7147021" y="6677305"/>
            <a:ext cx="1631156" cy="456014"/>
          </a:xfrm>
          <a:prstGeom prst="rect">
            <a:avLst/>
          </a:prstGeom>
        </p:spPr>
        <p:txBody>
          <a:bodyPr lIns="0" tIns="0" rIns="0" bIns="0" rtlCol="0" anchor="t">
            <a:spAutoFit/>
          </a:bodyPr>
          <a:lstStyle/>
          <a:p>
            <a:pPr algn="ctr">
              <a:lnSpc>
                <a:spcPts val="3740"/>
              </a:lnSpc>
              <a:spcBef>
                <a:spcPct val="0"/>
              </a:spcBef>
            </a:pPr>
            <a:r>
              <a:rPr lang="en-US" sz="2671">
                <a:solidFill>
                  <a:srgbClr val="000000"/>
                </a:solidFill>
                <a:latin typeface="Canva Sans"/>
                <a:ea typeface="Canva Sans"/>
                <a:cs typeface="Canva Sans"/>
                <a:sym typeface="Canva Sans"/>
              </a:rPr>
              <a:t>By 15 Nov</a:t>
            </a:r>
          </a:p>
        </p:txBody>
      </p:sp>
      <p:sp>
        <p:nvSpPr>
          <p:cNvPr id="14" name="AutoShape 14"/>
          <p:cNvSpPr/>
          <p:nvPr/>
        </p:nvSpPr>
        <p:spPr>
          <a:xfrm>
            <a:off x="9144000" y="6952937"/>
            <a:ext cx="1015326" cy="0"/>
          </a:xfrm>
          <a:prstGeom prst="line">
            <a:avLst/>
          </a:prstGeom>
          <a:ln w="38100" cap="flat">
            <a:solidFill>
              <a:srgbClr val="000000"/>
            </a:solidFill>
            <a:prstDash val="sysDot"/>
            <a:headEnd type="none" w="sm" len="sm"/>
            <a:tailEnd type="none" w="sm" len="sm"/>
          </a:ln>
        </p:spPr>
      </p:sp>
      <p:sp>
        <p:nvSpPr>
          <p:cNvPr id="15" name="TextBox 15"/>
          <p:cNvSpPr txBox="1"/>
          <p:nvPr/>
        </p:nvSpPr>
        <p:spPr>
          <a:xfrm>
            <a:off x="10511751" y="6696355"/>
            <a:ext cx="7323788" cy="922739"/>
          </a:xfrm>
          <a:prstGeom prst="rect">
            <a:avLst/>
          </a:prstGeom>
        </p:spPr>
        <p:txBody>
          <a:bodyPr lIns="0" tIns="0" rIns="0" bIns="0" rtlCol="0" anchor="t">
            <a:spAutoFit/>
          </a:bodyPr>
          <a:lstStyle/>
          <a:p>
            <a:pPr algn="ctr">
              <a:lnSpc>
                <a:spcPts val="3740"/>
              </a:lnSpc>
              <a:spcBef>
                <a:spcPct val="0"/>
              </a:spcBef>
            </a:pPr>
            <a:r>
              <a:rPr lang="en-US" sz="2671">
                <a:solidFill>
                  <a:srgbClr val="000000"/>
                </a:solidFill>
                <a:latin typeface="Canva Sans"/>
                <a:ea typeface="Canva Sans"/>
                <a:cs typeface="Canva Sans"/>
                <a:sym typeface="Canva Sans"/>
              </a:rPr>
              <a:t>add rules and topic traffic lights, second user round</a:t>
            </a:r>
          </a:p>
        </p:txBody>
      </p:sp>
      <p:sp>
        <p:nvSpPr>
          <p:cNvPr id="16" name="TextBox 16"/>
          <p:cNvSpPr txBox="1"/>
          <p:nvPr/>
        </p:nvSpPr>
        <p:spPr>
          <a:xfrm>
            <a:off x="7144547" y="7866455"/>
            <a:ext cx="1760220" cy="456014"/>
          </a:xfrm>
          <a:prstGeom prst="rect">
            <a:avLst/>
          </a:prstGeom>
        </p:spPr>
        <p:txBody>
          <a:bodyPr lIns="0" tIns="0" rIns="0" bIns="0" rtlCol="0" anchor="t">
            <a:spAutoFit/>
          </a:bodyPr>
          <a:lstStyle/>
          <a:p>
            <a:pPr algn="ctr">
              <a:lnSpc>
                <a:spcPts val="3740"/>
              </a:lnSpc>
              <a:spcBef>
                <a:spcPct val="0"/>
              </a:spcBef>
            </a:pPr>
            <a:r>
              <a:rPr lang="en-US" sz="2671">
                <a:solidFill>
                  <a:srgbClr val="000000"/>
                </a:solidFill>
                <a:latin typeface="Canva Sans"/>
                <a:ea typeface="Canva Sans"/>
                <a:cs typeface="Canva Sans"/>
                <a:sym typeface="Canva Sans"/>
              </a:rPr>
              <a:t>29–30 Nov</a:t>
            </a:r>
          </a:p>
        </p:txBody>
      </p:sp>
      <p:sp>
        <p:nvSpPr>
          <p:cNvPr id="17" name="AutoShape 17"/>
          <p:cNvSpPr/>
          <p:nvPr/>
        </p:nvSpPr>
        <p:spPr>
          <a:xfrm>
            <a:off x="9144000" y="8123038"/>
            <a:ext cx="1015326" cy="0"/>
          </a:xfrm>
          <a:prstGeom prst="line">
            <a:avLst/>
          </a:prstGeom>
          <a:ln w="38100" cap="flat">
            <a:solidFill>
              <a:srgbClr val="000000"/>
            </a:solidFill>
            <a:prstDash val="sysDot"/>
            <a:headEnd type="none" w="sm" len="sm"/>
            <a:tailEnd type="none" w="sm" len="sm"/>
          </a:ln>
        </p:spPr>
      </p:sp>
      <p:sp>
        <p:nvSpPr>
          <p:cNvPr id="18" name="TextBox 18"/>
          <p:cNvSpPr txBox="1"/>
          <p:nvPr/>
        </p:nvSpPr>
        <p:spPr>
          <a:xfrm>
            <a:off x="10511751" y="7866455"/>
            <a:ext cx="7249047" cy="922739"/>
          </a:xfrm>
          <a:prstGeom prst="rect">
            <a:avLst/>
          </a:prstGeom>
        </p:spPr>
        <p:txBody>
          <a:bodyPr lIns="0" tIns="0" rIns="0" bIns="0" rtlCol="0" anchor="t">
            <a:spAutoFit/>
          </a:bodyPr>
          <a:lstStyle/>
          <a:p>
            <a:pPr algn="ctr">
              <a:lnSpc>
                <a:spcPts val="3740"/>
              </a:lnSpc>
              <a:spcBef>
                <a:spcPct val="0"/>
              </a:spcBef>
            </a:pPr>
            <a:r>
              <a:rPr lang="en-US" sz="2671">
                <a:solidFill>
                  <a:srgbClr val="000000"/>
                </a:solidFill>
                <a:latin typeface="Canva Sans"/>
                <a:ea typeface="Canva Sans"/>
                <a:cs typeface="Canva Sans"/>
                <a:sym typeface="Canva Sans"/>
              </a:rPr>
              <a:t>Full evaluation of four approaches, feature freeze, solicitor check</a:t>
            </a:r>
          </a:p>
        </p:txBody>
      </p:sp>
      <p:sp>
        <p:nvSpPr>
          <p:cNvPr id="19" name="TextBox 19"/>
          <p:cNvSpPr txBox="1"/>
          <p:nvPr/>
        </p:nvSpPr>
        <p:spPr>
          <a:xfrm>
            <a:off x="7210005" y="9201150"/>
            <a:ext cx="1568172" cy="456014"/>
          </a:xfrm>
          <a:prstGeom prst="rect">
            <a:avLst/>
          </a:prstGeom>
        </p:spPr>
        <p:txBody>
          <a:bodyPr lIns="0" tIns="0" rIns="0" bIns="0" rtlCol="0" anchor="t">
            <a:spAutoFit/>
          </a:bodyPr>
          <a:lstStyle/>
          <a:p>
            <a:pPr algn="ctr">
              <a:lnSpc>
                <a:spcPts val="3740"/>
              </a:lnSpc>
              <a:spcBef>
                <a:spcPct val="0"/>
              </a:spcBef>
            </a:pPr>
            <a:r>
              <a:rPr lang="en-US" sz="2671">
                <a:solidFill>
                  <a:srgbClr val="000000"/>
                </a:solidFill>
                <a:latin typeface="Canva Sans"/>
                <a:ea typeface="Canva Sans"/>
                <a:cs typeface="Canva Sans"/>
                <a:sym typeface="Canva Sans"/>
              </a:rPr>
              <a:t>To 13 Dec</a:t>
            </a:r>
          </a:p>
        </p:txBody>
      </p:sp>
      <p:sp>
        <p:nvSpPr>
          <p:cNvPr id="20" name="AutoShape 20"/>
          <p:cNvSpPr/>
          <p:nvPr/>
        </p:nvSpPr>
        <p:spPr>
          <a:xfrm>
            <a:off x="9144000" y="9476782"/>
            <a:ext cx="1015326" cy="0"/>
          </a:xfrm>
          <a:prstGeom prst="line">
            <a:avLst/>
          </a:prstGeom>
          <a:ln w="38100" cap="flat">
            <a:solidFill>
              <a:srgbClr val="000000"/>
            </a:solidFill>
            <a:prstDash val="sysDot"/>
            <a:headEnd type="none" w="sm" len="sm"/>
            <a:tailEnd type="none" w="sm" len="sm"/>
          </a:ln>
        </p:spPr>
      </p:sp>
      <p:sp>
        <p:nvSpPr>
          <p:cNvPr id="21" name="TextBox 21"/>
          <p:cNvSpPr txBox="1"/>
          <p:nvPr/>
        </p:nvSpPr>
        <p:spPr>
          <a:xfrm>
            <a:off x="10357677" y="9127866"/>
            <a:ext cx="7477863" cy="922739"/>
          </a:xfrm>
          <a:prstGeom prst="rect">
            <a:avLst/>
          </a:prstGeom>
        </p:spPr>
        <p:txBody>
          <a:bodyPr lIns="0" tIns="0" rIns="0" bIns="0" rtlCol="0" anchor="t">
            <a:spAutoFit/>
          </a:bodyPr>
          <a:lstStyle/>
          <a:p>
            <a:pPr algn="ctr">
              <a:lnSpc>
                <a:spcPts val="3740"/>
              </a:lnSpc>
              <a:spcBef>
                <a:spcPct val="0"/>
              </a:spcBef>
            </a:pPr>
            <a:r>
              <a:rPr lang="en-US" sz="2671">
                <a:solidFill>
                  <a:srgbClr val="000000"/>
                </a:solidFill>
                <a:latin typeface="Canva Sans"/>
                <a:ea typeface="Canva Sans"/>
                <a:cs typeface="Canva Sans"/>
                <a:sym typeface="Canva Sans"/>
              </a:rPr>
              <a:t>Hardening, testing, deployment, final report and presentation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5659571" y="4195179"/>
            <a:ext cx="7813444" cy="781344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1CF">
                <a:alpha val="36863"/>
              </a:srgbClr>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marL="0" lvl="0" indent="0" algn="ctr">
                <a:lnSpc>
                  <a:spcPts val="3740"/>
                </a:lnSpc>
              </a:pPr>
              <a:endParaRPr/>
            </a:p>
          </p:txBody>
        </p:sp>
      </p:grpSp>
      <p:sp>
        <p:nvSpPr>
          <p:cNvPr id="5" name="Freeform 5"/>
          <p:cNvSpPr/>
          <p:nvPr/>
        </p:nvSpPr>
        <p:spPr>
          <a:xfrm>
            <a:off x="3328735" y="2220796"/>
            <a:ext cx="9884211" cy="5881106"/>
          </a:xfrm>
          <a:custGeom>
            <a:avLst/>
            <a:gdLst/>
            <a:ahLst/>
            <a:cxnLst/>
            <a:rect l="l" t="t" r="r" b="b"/>
            <a:pathLst>
              <a:path w="9884211" h="5881106">
                <a:moveTo>
                  <a:pt x="0" y="0"/>
                </a:moveTo>
                <a:lnTo>
                  <a:pt x="9884211" y="0"/>
                </a:lnTo>
                <a:lnTo>
                  <a:pt x="9884211" y="5881106"/>
                </a:lnTo>
                <a:lnTo>
                  <a:pt x="0" y="5881106"/>
                </a:lnTo>
                <a:lnTo>
                  <a:pt x="0" y="0"/>
                </a:lnTo>
                <a:close/>
              </a:path>
            </a:pathLst>
          </a:custGeom>
          <a:blipFill>
            <a:blip r:embed="rId2"/>
            <a:stretch>
              <a:fillRect/>
            </a:stretch>
          </a:blipFill>
        </p:spPr>
      </p:sp>
      <p:sp>
        <p:nvSpPr>
          <p:cNvPr id="6" name="Freeform 6"/>
          <p:cNvSpPr/>
          <p:nvPr/>
        </p:nvSpPr>
        <p:spPr>
          <a:xfrm rot="5400000">
            <a:off x="-5223687" y="-3232147"/>
            <a:ext cx="9046406" cy="8949264"/>
          </a:xfrm>
          <a:custGeom>
            <a:avLst/>
            <a:gdLst/>
            <a:ahLst/>
            <a:cxnLst/>
            <a:rect l="l" t="t" r="r" b="b"/>
            <a:pathLst>
              <a:path w="9046406" h="8949264">
                <a:moveTo>
                  <a:pt x="0" y="0"/>
                </a:moveTo>
                <a:lnTo>
                  <a:pt x="9046407" y="0"/>
                </a:lnTo>
                <a:lnTo>
                  <a:pt x="9046407" y="8949264"/>
                </a:lnTo>
                <a:lnTo>
                  <a:pt x="0" y="8949264"/>
                </a:lnTo>
                <a:lnTo>
                  <a:pt x="0" y="0"/>
                </a:lnTo>
                <a:close/>
              </a:path>
            </a:pathLst>
          </a:custGeom>
          <a:blipFill>
            <a:blip r:embed="rId3"/>
            <a:stretch>
              <a:fillRect/>
            </a:stretch>
          </a:blipFill>
        </p:spPr>
      </p:sp>
      <p:grpSp>
        <p:nvGrpSpPr>
          <p:cNvPr id="7" name="Group 7"/>
          <p:cNvGrpSpPr/>
          <p:nvPr/>
        </p:nvGrpSpPr>
        <p:grpSpPr>
          <a:xfrm>
            <a:off x="17050084" y="7078205"/>
            <a:ext cx="4360190" cy="436019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1CF"/>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marL="0" lvl="0" indent="0" algn="ctr">
                <a:lnSpc>
                  <a:spcPts val="3740"/>
                </a:lnSpc>
              </a:pPr>
              <a:endParaRPr/>
            </a:p>
          </p:txBody>
        </p:sp>
      </p:grpSp>
      <p:grpSp>
        <p:nvGrpSpPr>
          <p:cNvPr id="10" name="Group 10"/>
          <p:cNvGrpSpPr/>
          <p:nvPr/>
        </p:nvGrpSpPr>
        <p:grpSpPr>
          <a:xfrm>
            <a:off x="17691834" y="7702310"/>
            <a:ext cx="3111980" cy="311198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D5CA"/>
            </a:solidFill>
          </p:spPr>
        </p:sp>
        <p:sp>
          <p:nvSpPr>
            <p:cNvPr id="12" name="TextBox 12"/>
            <p:cNvSpPr txBox="1"/>
            <p:nvPr/>
          </p:nvSpPr>
          <p:spPr>
            <a:xfrm>
              <a:off x="76200" y="19050"/>
              <a:ext cx="660400" cy="717550"/>
            </a:xfrm>
            <a:prstGeom prst="rect">
              <a:avLst/>
            </a:prstGeom>
          </p:spPr>
          <p:txBody>
            <a:bodyPr lIns="50800" tIns="50800" rIns="50800" bIns="50800" rtlCol="0" anchor="ctr"/>
            <a:lstStyle/>
            <a:p>
              <a:pPr marL="0" lvl="0" indent="0" algn="ctr">
                <a:lnSpc>
                  <a:spcPts val="3740"/>
                </a:lnSpc>
              </a:pPr>
              <a:endParaRPr/>
            </a:p>
          </p:txBody>
        </p:sp>
      </p:grpSp>
      <p:sp>
        <p:nvSpPr>
          <p:cNvPr id="13" name="TextBox 13"/>
          <p:cNvSpPr txBox="1"/>
          <p:nvPr/>
        </p:nvSpPr>
        <p:spPr>
          <a:xfrm>
            <a:off x="5659571" y="4687428"/>
            <a:ext cx="6047137" cy="1057495"/>
          </a:xfrm>
          <a:prstGeom prst="rect">
            <a:avLst/>
          </a:prstGeom>
        </p:spPr>
        <p:txBody>
          <a:bodyPr lIns="0" tIns="0" rIns="0" bIns="0" rtlCol="0" anchor="t">
            <a:spAutoFit/>
          </a:bodyPr>
          <a:lstStyle/>
          <a:p>
            <a:pPr marL="0" lvl="0" indent="0" algn="ctr">
              <a:lnSpc>
                <a:spcPts val="8084"/>
              </a:lnSpc>
            </a:pPr>
            <a:r>
              <a:rPr lang="en-US" sz="7926">
                <a:solidFill>
                  <a:srgbClr val="5C588F"/>
                </a:solidFill>
                <a:latin typeface="Fredoka"/>
                <a:ea typeface="Fredoka"/>
                <a:cs typeface="Fredoka"/>
                <a:sym typeface="Fredok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588</Words>
  <Application>Microsoft Office PowerPoint</Application>
  <PresentationFormat>Custom</PresentationFormat>
  <Paragraphs>66</Paragraphs>
  <Slides>10</Slides>
  <Notes>0</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Calibri (MS)</vt:lpstr>
      <vt:lpstr>Trebuchet MS Bold</vt:lpstr>
      <vt:lpstr>Canva Sans</vt:lpstr>
      <vt:lpstr>Canva Sans Bold</vt:lpstr>
      <vt:lpstr>Arial</vt:lpstr>
      <vt:lpstr>Abril Fatface</vt:lpstr>
      <vt:lpstr>Calibri (MS) Bold</vt:lpstr>
      <vt:lpstr>Georgia Bold</vt:lpstr>
      <vt:lpstr>Fredoka</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ClauseGuard- Interim Presentation </dc:title>
  <cp:lastModifiedBy>Siddharth Varma Raja</cp:lastModifiedBy>
  <cp:revision>2</cp:revision>
  <dcterms:created xsi:type="dcterms:W3CDTF">2006-08-16T00:00:00Z</dcterms:created>
  <dcterms:modified xsi:type="dcterms:W3CDTF">2026-10-23T23:06:44Z</dcterms:modified>
  <dc:identifier>DAHYHmOdy2k</dc:identifier>
</cp:coreProperties>
</file>