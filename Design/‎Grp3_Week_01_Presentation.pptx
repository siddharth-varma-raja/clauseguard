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4" r:id="rId8"/>
    <p:sldId id="266" r:id="rId9"/>
    <p:sldId id="267" r:id="rId10"/>
  </p:sldIdLst>
  <p:sldSz cx="12192000" cy="6858000"/>
  <p:notesSz cx="6858000" cy="9144000"/>
  <p:embeddedFontLst>
    <p:embeddedFont>
      <p:font typeface="Inter"/>
      <p:bold r:id="rId12"/>
    </p:embeddedFont>
    <p:embeddedFont>
      <p:font typeface="Plus Jakarta Sans"/>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19" autoAdjust="0"/>
  </p:normalViewPr>
  <p:slideViewPr>
    <p:cSldViewPr snapToGrid="0" snapToObjects="1">
      <p:cViewPr>
        <p:scale>
          <a:sx n="75" d="100"/>
          <a:sy n="75" d="100"/>
        </p:scale>
        <p:origin x="30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8EA69-AE99-431D-97E4-7F4E37547EB3}" type="datetimeFigureOut">
              <a:rPr lang="en-IN" smtClean="0"/>
              <a:t>2026-09-23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5FB46-E6E0-457D-BA11-B639940DE352}" type="slidenum">
              <a:rPr lang="en-IN" smtClean="0"/>
              <a:t>‹#›</a:t>
            </a:fld>
            <a:endParaRPr lang="en-IN"/>
          </a:p>
        </p:txBody>
      </p:sp>
    </p:spTree>
    <p:extLst>
      <p:ext uri="{BB962C8B-B14F-4D97-AF65-F5344CB8AC3E}">
        <p14:creationId xmlns:p14="http://schemas.microsoft.com/office/powerpoint/2010/main" val="1651050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75FB46-E6E0-457D-BA11-B639940DE352}" type="slidenum">
              <a:rPr lang="en-IN" smtClean="0"/>
              <a:t>1</a:t>
            </a:fld>
            <a:endParaRPr lang="en-IN"/>
          </a:p>
        </p:txBody>
      </p:sp>
    </p:spTree>
    <p:extLst>
      <p:ext uri="{BB962C8B-B14F-4D97-AF65-F5344CB8AC3E}">
        <p14:creationId xmlns:p14="http://schemas.microsoft.com/office/powerpoint/2010/main" val="2168898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Currently there are no applications which support scanning of lease agreements and checking out the matter for vulnerabilities due to which in most situation it takes a lot of time and money to resolve such issues.</a:t>
            </a:r>
          </a:p>
        </p:txBody>
      </p:sp>
      <p:sp>
        <p:nvSpPr>
          <p:cNvPr id="4" name="Slide Number Placeholder 3"/>
          <p:cNvSpPr>
            <a:spLocks noGrp="1"/>
          </p:cNvSpPr>
          <p:nvPr>
            <p:ph type="sldNum" sz="quarter" idx="5"/>
          </p:nvPr>
        </p:nvSpPr>
        <p:spPr/>
        <p:txBody>
          <a:bodyPr/>
          <a:lstStyle/>
          <a:p>
            <a:fld id="{E475FB46-E6E0-457D-BA11-B639940DE352}" type="slidenum">
              <a:rPr lang="en-IN" smtClean="0"/>
              <a:t>2</a:t>
            </a:fld>
            <a:endParaRPr lang="en-IN"/>
          </a:p>
        </p:txBody>
      </p:sp>
    </p:spTree>
    <p:extLst>
      <p:ext uri="{BB962C8B-B14F-4D97-AF65-F5344CB8AC3E}">
        <p14:creationId xmlns:p14="http://schemas.microsoft.com/office/powerpoint/2010/main" val="1653518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need of this application is for the ease and convenience for the purchase of the real estate between the buyer and seller, and also making sure that the buyers can understand in simple language.</a:t>
            </a:r>
          </a:p>
        </p:txBody>
      </p:sp>
      <p:sp>
        <p:nvSpPr>
          <p:cNvPr id="4" name="Slide Number Placeholder 3"/>
          <p:cNvSpPr>
            <a:spLocks noGrp="1"/>
          </p:cNvSpPr>
          <p:nvPr>
            <p:ph type="sldNum" sz="quarter" idx="5"/>
          </p:nvPr>
        </p:nvSpPr>
        <p:spPr/>
        <p:txBody>
          <a:bodyPr/>
          <a:lstStyle/>
          <a:p>
            <a:fld id="{E475FB46-E6E0-457D-BA11-B639940DE352}" type="slidenum">
              <a:rPr lang="en-IN" smtClean="0"/>
              <a:t>3</a:t>
            </a:fld>
            <a:endParaRPr lang="en-IN"/>
          </a:p>
        </p:txBody>
      </p:sp>
    </p:spTree>
    <p:extLst>
      <p:ext uri="{BB962C8B-B14F-4D97-AF65-F5344CB8AC3E}">
        <p14:creationId xmlns:p14="http://schemas.microsoft.com/office/powerpoint/2010/main" val="1132157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We’re focusing on non-native English speakers and people who are not proficient in housing laws.</a:t>
            </a:r>
            <a:endParaRPr lang="en-US" dirty="0"/>
          </a:p>
          <a:p>
            <a:endParaRPr lang="en-IN" dirty="0"/>
          </a:p>
        </p:txBody>
      </p:sp>
      <p:sp>
        <p:nvSpPr>
          <p:cNvPr id="4" name="Slide Number Placeholder 3"/>
          <p:cNvSpPr>
            <a:spLocks noGrp="1"/>
          </p:cNvSpPr>
          <p:nvPr>
            <p:ph type="sldNum" sz="quarter" idx="5"/>
          </p:nvPr>
        </p:nvSpPr>
        <p:spPr/>
        <p:txBody>
          <a:bodyPr/>
          <a:lstStyle/>
          <a:p>
            <a:fld id="{E475FB46-E6E0-457D-BA11-B639940DE352}" type="slidenum">
              <a:rPr lang="en-IN" smtClean="0"/>
              <a:t>4</a:t>
            </a:fld>
            <a:endParaRPr lang="en-IN"/>
          </a:p>
        </p:txBody>
      </p:sp>
    </p:spTree>
    <p:extLst>
      <p:ext uri="{BB962C8B-B14F-4D97-AF65-F5344CB8AC3E}">
        <p14:creationId xmlns:p14="http://schemas.microsoft.com/office/powerpoint/2010/main" val="2459838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workflow use-case shows the ease with which the user can use &amp; understand the application.</a:t>
            </a:r>
          </a:p>
        </p:txBody>
      </p:sp>
      <p:sp>
        <p:nvSpPr>
          <p:cNvPr id="4" name="Slide Number Placeholder 3"/>
          <p:cNvSpPr>
            <a:spLocks noGrp="1"/>
          </p:cNvSpPr>
          <p:nvPr>
            <p:ph type="sldNum" sz="quarter" idx="5"/>
          </p:nvPr>
        </p:nvSpPr>
        <p:spPr/>
        <p:txBody>
          <a:bodyPr/>
          <a:lstStyle/>
          <a:p>
            <a:fld id="{E475FB46-E6E0-457D-BA11-B639940DE352}" type="slidenum">
              <a:rPr lang="en-IN" smtClean="0"/>
              <a:t>5</a:t>
            </a:fld>
            <a:endParaRPr lang="en-IN"/>
          </a:p>
        </p:txBody>
      </p:sp>
    </p:spTree>
    <p:extLst>
      <p:ext uri="{BB962C8B-B14F-4D97-AF65-F5344CB8AC3E}">
        <p14:creationId xmlns:p14="http://schemas.microsoft.com/office/powerpoint/2010/main" val="681644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o </a:t>
            </a:r>
            <a:r>
              <a:rPr lang="en-IN" sz="1200" b="1" i="0" kern="1200" dirty="0">
                <a:solidFill>
                  <a:schemeClr val="tx1"/>
                </a:solidFill>
                <a:effectLst/>
                <a:latin typeface="+mn-lt"/>
                <a:ea typeface="+mn-ea"/>
                <a:cs typeface="+mn-cs"/>
              </a:rPr>
              <a:t>Front-end:</a:t>
            </a:r>
            <a:r>
              <a:rPr lang="en-IN" sz="1200" b="0" i="0" kern="1200" dirty="0">
                <a:solidFill>
                  <a:schemeClr val="tx1"/>
                </a:solidFill>
                <a:effectLst/>
                <a:latin typeface="+mn-lt"/>
                <a:ea typeface="+mn-ea"/>
                <a:cs typeface="+mn-cs"/>
              </a:rPr>
              <a:t> a React app with drag-and-drop upload, a colour-coded clause report, a document-anchored PDF viewer that highlights the exact clause text, and a grounded Q&amp;A chat panel. </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o </a:t>
            </a:r>
            <a:r>
              <a:rPr lang="en-IN" sz="1200" b="1" i="0" kern="1200" dirty="0">
                <a:solidFill>
                  <a:schemeClr val="tx1"/>
                </a:solidFill>
                <a:effectLst/>
                <a:latin typeface="+mn-lt"/>
                <a:ea typeface="+mn-ea"/>
                <a:cs typeface="+mn-cs"/>
              </a:rPr>
              <a:t>Back-end:</a:t>
            </a:r>
            <a:r>
              <a:rPr lang="en-IN" sz="1200" b="0" i="0" kern="1200" dirty="0">
                <a:solidFill>
                  <a:schemeClr val="tx1"/>
                </a:solidFill>
                <a:effectLst/>
                <a:latin typeface="+mn-lt"/>
                <a:ea typeface="+mn-ea"/>
                <a:cs typeface="+mn-cs"/>
              </a:rPr>
              <a:t> a </a:t>
            </a:r>
            <a:r>
              <a:rPr lang="en-IN" sz="1200" b="0" i="0" kern="1200" dirty="0" err="1">
                <a:solidFill>
                  <a:schemeClr val="tx1"/>
                </a:solidFill>
                <a:effectLst/>
                <a:latin typeface="+mn-lt"/>
                <a:ea typeface="+mn-ea"/>
                <a:cs typeface="+mn-cs"/>
              </a:rPr>
              <a:t>FastAPI</a:t>
            </a:r>
            <a:r>
              <a:rPr lang="en-IN" sz="1200" b="0" i="0" kern="1200" dirty="0">
                <a:solidFill>
                  <a:schemeClr val="tx1"/>
                </a:solidFill>
                <a:effectLst/>
                <a:latin typeface="+mn-lt"/>
                <a:ea typeface="+mn-ea"/>
                <a:cs typeface="+mn-cs"/>
              </a:rPr>
              <a:t> service with async Celery workers, a deterministic rule engine for quantifiable clauses, a hybrid BM25-plus-dense retrieval and reranking layer for grounded classification, a citation verifier, and a conformal-prediction abstention layer so the system flags “needs review” rather than guessing. </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o </a:t>
            </a:r>
            <a:r>
              <a:rPr lang="en-IN" sz="1200" b="1" i="0" kern="1200" dirty="0">
                <a:solidFill>
                  <a:schemeClr val="tx1"/>
                </a:solidFill>
                <a:effectLst/>
                <a:latin typeface="+mn-lt"/>
                <a:ea typeface="+mn-ea"/>
                <a:cs typeface="+mn-cs"/>
              </a:rPr>
              <a:t>Data sources: </a:t>
            </a:r>
            <a:r>
              <a:rPr lang="en-IN" sz="1200" b="0" i="0" kern="1200" dirty="0">
                <a:solidFill>
                  <a:schemeClr val="tx1"/>
                </a:solidFill>
                <a:effectLst/>
                <a:latin typeface="+mn-lt"/>
                <a:ea typeface="+mn-ea"/>
                <a:cs typeface="+mn-cs"/>
              </a:rPr>
              <a:t>the Residential Tenancies Acts 2004-2026, RTB plain-language guidance and determination orders, and the Housing (Standards for Rented Houses) Regulations 2019 – which were compiled into a version-dated knowledge base, and for which a labelled dataset of real and synthetic lease clauses was developed by the team during two rounds of annotation and checked by a second annotator. </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o The technology stack put across in this documentation is yet to be finalized among the team members and will be finalized till Sprint 1.</a:t>
            </a:r>
          </a:p>
          <a:p>
            <a:br>
              <a:rPr lang="en-IN" dirty="0"/>
            </a:br>
            <a:endParaRPr lang="en-IN" dirty="0"/>
          </a:p>
        </p:txBody>
      </p:sp>
      <p:sp>
        <p:nvSpPr>
          <p:cNvPr id="4" name="Slide Number Placeholder 3"/>
          <p:cNvSpPr>
            <a:spLocks noGrp="1"/>
          </p:cNvSpPr>
          <p:nvPr>
            <p:ph type="sldNum" sz="quarter" idx="5"/>
          </p:nvPr>
        </p:nvSpPr>
        <p:spPr/>
        <p:txBody>
          <a:bodyPr/>
          <a:lstStyle/>
          <a:p>
            <a:fld id="{E475FB46-E6E0-457D-BA11-B639940DE352}" type="slidenum">
              <a:rPr lang="en-IN" smtClean="0"/>
              <a:t>6</a:t>
            </a:fld>
            <a:endParaRPr lang="en-IN"/>
          </a:p>
        </p:txBody>
      </p:sp>
    </p:spTree>
    <p:extLst>
      <p:ext uri="{BB962C8B-B14F-4D97-AF65-F5344CB8AC3E}">
        <p14:creationId xmlns:p14="http://schemas.microsoft.com/office/powerpoint/2010/main" val="3613901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GitHub is the system of record for issues, branches, pull requests and CI; </a:t>
            </a:r>
          </a:p>
          <a:p>
            <a:r>
              <a:rPr lang="en-IN" sz="1200" b="0" i="0" kern="1200" dirty="0" err="1">
                <a:solidFill>
                  <a:schemeClr val="tx1"/>
                </a:solidFill>
                <a:effectLst/>
                <a:latin typeface="+mn-lt"/>
                <a:ea typeface="+mn-ea"/>
                <a:cs typeface="+mn-cs"/>
              </a:rPr>
              <a:t>Zenhub</a:t>
            </a:r>
            <a:r>
              <a:rPr lang="en-IN" sz="1200" b="0" i="0" kern="1200" dirty="0">
                <a:solidFill>
                  <a:schemeClr val="tx1"/>
                </a:solidFill>
                <a:effectLst/>
                <a:latin typeface="+mn-lt"/>
                <a:ea typeface="+mn-ea"/>
                <a:cs typeface="+mn-cs"/>
              </a:rPr>
              <a:t> is used as the visual sprint board, populated directly from the GitHub issue set.</a:t>
            </a:r>
            <a:endParaRPr lang="en-IN" dirty="0"/>
          </a:p>
        </p:txBody>
      </p:sp>
      <p:sp>
        <p:nvSpPr>
          <p:cNvPr id="4" name="Slide Number Placeholder 3"/>
          <p:cNvSpPr>
            <a:spLocks noGrp="1"/>
          </p:cNvSpPr>
          <p:nvPr>
            <p:ph type="sldNum" sz="quarter" idx="5"/>
          </p:nvPr>
        </p:nvSpPr>
        <p:spPr/>
        <p:txBody>
          <a:bodyPr/>
          <a:lstStyle/>
          <a:p>
            <a:fld id="{E475FB46-E6E0-457D-BA11-B639940DE352}" type="slidenum">
              <a:rPr lang="en-IN" smtClean="0"/>
              <a:t>7</a:t>
            </a:fld>
            <a:endParaRPr lang="en-IN"/>
          </a:p>
        </p:txBody>
      </p:sp>
    </p:spTree>
    <p:extLst>
      <p:ext uri="{BB962C8B-B14F-4D97-AF65-F5344CB8AC3E}">
        <p14:creationId xmlns:p14="http://schemas.microsoft.com/office/powerpoint/2010/main" val="282859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After the MVP, we plan to expand to add more languages and also thinking of adding Adobe PDF type mobile scanner which can scan written documents and convert them to PDF for ease of parsing without any </a:t>
            </a:r>
            <a:r>
              <a:rPr lang="en-IE" dirty="0" err="1"/>
              <a:t>discrepencies</a:t>
            </a:r>
            <a:r>
              <a:rPr lang="en-IE" dirty="0"/>
              <a:t>.</a:t>
            </a:r>
            <a:endParaRPr lang="en-US" dirty="0"/>
          </a:p>
          <a:p>
            <a:endParaRPr lang="en-IN" dirty="0"/>
          </a:p>
        </p:txBody>
      </p:sp>
      <p:sp>
        <p:nvSpPr>
          <p:cNvPr id="4" name="Slide Number Placeholder 3"/>
          <p:cNvSpPr>
            <a:spLocks noGrp="1"/>
          </p:cNvSpPr>
          <p:nvPr>
            <p:ph type="sldNum" sz="quarter" idx="5"/>
          </p:nvPr>
        </p:nvSpPr>
        <p:spPr/>
        <p:txBody>
          <a:bodyPr/>
          <a:lstStyle/>
          <a:p>
            <a:fld id="{E475FB46-E6E0-457D-BA11-B639940DE352}" type="slidenum">
              <a:rPr lang="en-IN" smtClean="0"/>
              <a:t>8</a:t>
            </a:fld>
            <a:endParaRPr lang="en-IN"/>
          </a:p>
        </p:txBody>
      </p:sp>
    </p:spTree>
    <p:extLst>
      <p:ext uri="{BB962C8B-B14F-4D97-AF65-F5344CB8AC3E}">
        <p14:creationId xmlns:p14="http://schemas.microsoft.com/office/powerpoint/2010/main" val="296907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5962650"/>
            <a:ext cx="10972800" cy="3619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5962650"/>
            <a:ext cx="109728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3941415"/>
            <a:ext cx="1438275" cy="238125"/>
          </a:xfrm>
          <a:prstGeom prst="roundRect">
            <a:avLst>
              <a:gd name="adj" fmla="val 24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2316509"/>
            <a:ext cx="10715625" cy="152400"/>
          </a:xfrm>
          <a:prstGeom prst="rect">
            <a:avLst/>
          </a:prstGeom>
          <a:noFill/>
        </p:spPr>
        <p:txBody>
          <a:bodyPr wrap="none" lIns="0" tIns="0" rIns="0" bIns="0" anchor="t">
            <a:spAutoFit/>
          </a:bodyPr>
          <a:lstStyle/>
          <a:p>
            <a:pPr algn="l"/>
            <a:r>
              <a:rPr sz="975" b="1" i="0" u="none">
                <a:solidFill>
                  <a:srgbClr val="60A5FA"/>
                </a:solidFill>
                <a:latin typeface="Inter"/>
              </a:rPr>
              <a:t>MSC GROUP PROJECT PROPOSAL • GROUP 3</a:t>
            </a:r>
          </a:p>
        </p:txBody>
      </p:sp>
      <p:sp>
        <p:nvSpPr>
          <p:cNvPr id="6" name="TextBox 5"/>
          <p:cNvSpPr txBox="1"/>
          <p:nvPr/>
        </p:nvSpPr>
        <p:spPr>
          <a:xfrm>
            <a:off x="609600" y="2545109"/>
            <a:ext cx="11251406" cy="607665"/>
          </a:xfrm>
          <a:prstGeom prst="rect">
            <a:avLst/>
          </a:prstGeom>
          <a:noFill/>
        </p:spPr>
        <p:txBody>
          <a:bodyPr wrap="none" lIns="0" tIns="0" rIns="0" bIns="0" anchor="t">
            <a:spAutoFit/>
          </a:bodyPr>
          <a:lstStyle/>
          <a:p>
            <a:pPr algn="l">
              <a:lnSpc>
                <a:spcPts val="4784"/>
              </a:lnSpc>
            </a:pPr>
            <a:r>
              <a:rPr sz="4350" b="1" i="0" u="none">
                <a:solidFill>
                  <a:srgbClr val="FFFFFF"/>
                </a:solidFill>
                <a:latin typeface="Plus Jakarta Sans"/>
              </a:rPr>
              <a:t>ClauseGuard</a:t>
            </a:r>
          </a:p>
        </p:txBody>
      </p:sp>
      <p:sp>
        <p:nvSpPr>
          <p:cNvPr id="7" name="TextBox 6"/>
          <p:cNvSpPr txBox="1"/>
          <p:nvPr/>
        </p:nvSpPr>
        <p:spPr>
          <a:xfrm>
            <a:off x="609600" y="3343275"/>
            <a:ext cx="10715625" cy="293340"/>
          </a:xfrm>
          <a:prstGeom prst="rect">
            <a:avLst/>
          </a:prstGeom>
          <a:noFill/>
        </p:spPr>
        <p:txBody>
          <a:bodyPr wrap="none" lIns="0" tIns="0" rIns="0" bIns="0" anchor="t">
            <a:spAutoFit/>
          </a:bodyPr>
          <a:lstStyle/>
          <a:p>
            <a:pPr algn="l">
              <a:lnSpc>
                <a:spcPts val="2310"/>
              </a:lnSpc>
            </a:pPr>
            <a:r>
              <a:rPr sz="1650" b="0" i="0" u="none">
                <a:solidFill>
                  <a:srgbClr val="CBD5E1"/>
                </a:solidFill>
                <a:latin typeface="Inter"/>
              </a:rPr>
              <a:t>An AI-Powered Illegal &amp; Unfair Lease Clause Checker for Irish Renters</a:t>
            </a:r>
          </a:p>
        </p:txBody>
      </p:sp>
      <p:sp>
        <p:nvSpPr>
          <p:cNvPr id="10" name="TextBox 9"/>
          <p:cNvSpPr txBox="1"/>
          <p:nvPr/>
        </p:nvSpPr>
        <p:spPr>
          <a:xfrm>
            <a:off x="704850" y="3979515"/>
            <a:ext cx="1343025" cy="153888"/>
          </a:xfrm>
          <a:prstGeom prst="rect">
            <a:avLst/>
          </a:prstGeom>
          <a:noFill/>
        </p:spPr>
        <p:txBody>
          <a:bodyPr wrap="square" lIns="0" tIns="0" rIns="0" bIns="0" anchor="t">
            <a:spAutoFit/>
          </a:bodyPr>
          <a:lstStyle/>
          <a:p>
            <a:pPr algn="ctr"/>
            <a:r>
              <a:rPr sz="1000" b="1" i="0" u="none" dirty="0">
                <a:solidFill>
                  <a:srgbClr val="2563EB"/>
                </a:solidFill>
                <a:latin typeface="Inter"/>
              </a:rPr>
              <a:t>TU Dublin MSc Project</a:t>
            </a:r>
          </a:p>
        </p:txBody>
      </p:sp>
      <p:pic>
        <p:nvPicPr>
          <p:cNvPr id="13" name="Picture 12">
            <a:extLst>
              <a:ext uri="{FF2B5EF4-FFF2-40B4-BE49-F238E27FC236}">
                <a16:creationId xmlns:a16="http://schemas.microsoft.com/office/drawing/2014/main" id="{42EE35B9-44C9-87DE-B8B2-EBA306A93903}"/>
              </a:ext>
            </a:extLst>
          </p:cNvPr>
          <p:cNvPicPr>
            <a:picLocks noChangeAspect="1"/>
          </p:cNvPicPr>
          <p:nvPr/>
        </p:nvPicPr>
        <p:blipFill>
          <a:blip r:embed="rId3"/>
          <a:stretch>
            <a:fillRect/>
          </a:stretch>
        </p:blipFill>
        <p:spPr>
          <a:xfrm>
            <a:off x="7133653" y="2129980"/>
            <a:ext cx="4448747" cy="2426589"/>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871448"/>
            <a:ext cx="3505200" cy="1452562"/>
          </a:xfrm>
          <a:prstGeom prst="roundRect">
            <a:avLst>
              <a:gd name="adj" fmla="val 786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43400" y="1871448"/>
            <a:ext cx="3505200" cy="1452562"/>
          </a:xfrm>
          <a:prstGeom prst="roundRect">
            <a:avLst>
              <a:gd name="adj" fmla="val 786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77200" y="1871448"/>
            <a:ext cx="3505200" cy="1452562"/>
          </a:xfrm>
          <a:prstGeom prst="roundRect">
            <a:avLst>
              <a:gd name="adj" fmla="val 786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331448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1871448"/>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1871448"/>
            <a:ext cx="38100" cy="145256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05275" y="1871448"/>
            <a:ext cx="9525" cy="14525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331448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871448"/>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871448"/>
            <a:ext cx="38100" cy="14525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839075" y="1871448"/>
            <a:ext cx="9525" cy="14525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77200" y="331448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77200" y="1871448"/>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77200" y="1871448"/>
            <a:ext cx="38100" cy="145256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572875" y="1871448"/>
            <a:ext cx="9525" cy="14525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3"/>
          <a:stretch>
            <a:fillRect/>
          </a:stretch>
        </p:blipFill>
        <p:spPr>
          <a:xfrm>
            <a:off x="876300" y="2123860"/>
            <a:ext cx="142875" cy="190500"/>
          </a:xfrm>
          <a:prstGeom prst="rect">
            <a:avLst/>
          </a:prstGeom>
        </p:spPr>
      </p:pic>
      <p:pic>
        <p:nvPicPr>
          <p:cNvPr id="20" name="Picture 19" descr="image.png"/>
          <p:cNvPicPr>
            <a:picLocks noChangeAspect="1"/>
          </p:cNvPicPr>
          <p:nvPr/>
        </p:nvPicPr>
        <p:blipFill>
          <a:blip r:embed="rId4"/>
          <a:stretch>
            <a:fillRect/>
          </a:stretch>
        </p:blipFill>
        <p:spPr>
          <a:xfrm>
            <a:off x="4610100" y="2123860"/>
            <a:ext cx="238125" cy="190500"/>
          </a:xfrm>
          <a:prstGeom prst="rect">
            <a:avLst/>
          </a:prstGeom>
        </p:spPr>
      </p:pic>
      <p:pic>
        <p:nvPicPr>
          <p:cNvPr id="21" name="Picture 20" descr="image.png"/>
          <p:cNvPicPr>
            <a:picLocks noChangeAspect="1"/>
          </p:cNvPicPr>
          <p:nvPr/>
        </p:nvPicPr>
        <p:blipFill>
          <a:blip r:embed="rId5"/>
          <a:stretch>
            <a:fillRect/>
          </a:stretch>
        </p:blipFill>
        <p:spPr>
          <a:xfrm>
            <a:off x="8343900" y="2123860"/>
            <a:ext cx="238125" cy="190500"/>
          </a:xfrm>
          <a:prstGeom prst="rect">
            <a:avLst/>
          </a:prstGeom>
        </p:spPr>
      </p:pic>
      <p:sp>
        <p:nvSpPr>
          <p:cNvPr id="23" name="TextBox 22"/>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Problem Statement</a:t>
            </a:r>
          </a:p>
        </p:txBody>
      </p:sp>
      <p:sp>
        <p:nvSpPr>
          <p:cNvPr id="24" name="TextBox 23"/>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Renters face severe information asymmetry when signing residential leases</a:t>
            </a:r>
          </a:p>
        </p:txBody>
      </p:sp>
      <p:sp>
        <p:nvSpPr>
          <p:cNvPr id="26" name="TextBox 25"/>
          <p:cNvSpPr txBox="1"/>
          <p:nvPr/>
        </p:nvSpPr>
        <p:spPr>
          <a:xfrm>
            <a:off x="876300" y="2442948"/>
            <a:ext cx="3095625" cy="642937"/>
          </a:xfrm>
          <a:prstGeom prst="rect">
            <a:avLst/>
          </a:prstGeom>
          <a:noFill/>
        </p:spPr>
        <p:txBody>
          <a:bodyPr wrap="square" lIns="0" tIns="0" rIns="0" bIns="0" anchor="t">
            <a:spAutoFit/>
          </a:bodyPr>
          <a:lstStyle/>
          <a:p>
            <a:pPr algn="l">
              <a:lnSpc>
                <a:spcPts val="1687"/>
              </a:lnSpc>
            </a:pPr>
            <a:r>
              <a:rPr sz="1125" b="0" i="0" u="none" dirty="0">
                <a:solidFill>
                  <a:srgbClr val="475569"/>
                </a:solidFill>
                <a:latin typeface="Inter"/>
              </a:rPr>
              <a:t>Complex jargon prevents tenants from spotting unenforceable repair burdens or waived statutory notice periods.</a:t>
            </a:r>
          </a:p>
        </p:txBody>
      </p:sp>
      <p:sp>
        <p:nvSpPr>
          <p:cNvPr id="27" name="TextBox 26"/>
          <p:cNvSpPr txBox="1"/>
          <p:nvPr/>
        </p:nvSpPr>
        <p:spPr>
          <a:xfrm>
            <a:off x="4610100" y="2442948"/>
            <a:ext cx="3095625" cy="642937"/>
          </a:xfrm>
          <a:prstGeom prst="rect">
            <a:avLst/>
          </a:prstGeom>
          <a:noFill/>
        </p:spPr>
        <p:txBody>
          <a:bodyPr wrap="square" lIns="0" tIns="0" rIns="0" bIns="0" anchor="t">
            <a:spAutoFit/>
          </a:bodyPr>
          <a:lstStyle/>
          <a:p>
            <a:pPr algn="l">
              <a:lnSpc>
                <a:spcPts val="1687"/>
              </a:lnSpc>
            </a:pPr>
            <a:r>
              <a:rPr sz="1125" b="0" i="0" u="none" dirty="0">
                <a:solidFill>
                  <a:srgbClr val="475569"/>
                </a:solidFill>
                <a:latin typeface="Inter"/>
              </a:rPr>
              <a:t>Independent solicitor review is expensive and slow, leaving vulnerable renters without pre-signing support.</a:t>
            </a:r>
          </a:p>
        </p:txBody>
      </p:sp>
      <p:sp>
        <p:nvSpPr>
          <p:cNvPr id="28" name="TextBox 27"/>
          <p:cNvSpPr txBox="1"/>
          <p:nvPr/>
        </p:nvSpPr>
        <p:spPr>
          <a:xfrm>
            <a:off x="8343900" y="2442948"/>
            <a:ext cx="3095625" cy="642937"/>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Standard AI summaries lack grounding in Irish tenancy acts and hallucinate legal advice.</a:t>
            </a:r>
          </a:p>
        </p:txBody>
      </p:sp>
      <p:sp>
        <p:nvSpPr>
          <p:cNvPr id="29" name="TextBox 28"/>
          <p:cNvSpPr txBox="1"/>
          <p:nvPr/>
        </p:nvSpPr>
        <p:spPr>
          <a:xfrm>
            <a:off x="1133475" y="2109573"/>
            <a:ext cx="2450306" cy="219075"/>
          </a:xfrm>
          <a:prstGeom prst="rect">
            <a:avLst/>
          </a:prstGeom>
          <a:noFill/>
        </p:spPr>
        <p:txBody>
          <a:bodyPr wrap="none" lIns="0" tIns="0" rIns="0" bIns="0" anchor="t">
            <a:spAutoFit/>
          </a:bodyPr>
          <a:lstStyle/>
          <a:p>
            <a:pPr algn="l"/>
            <a:r>
              <a:rPr sz="1350" b="1" i="0" u="none" dirty="0">
                <a:solidFill>
                  <a:srgbClr val="0F172A"/>
                </a:solidFill>
                <a:latin typeface="Plus Jakarta Sans"/>
              </a:rPr>
              <a:t>Dense Legal Language</a:t>
            </a:r>
          </a:p>
        </p:txBody>
      </p:sp>
      <p:sp>
        <p:nvSpPr>
          <p:cNvPr id="30" name="TextBox 29"/>
          <p:cNvSpPr txBox="1"/>
          <p:nvPr/>
        </p:nvSpPr>
        <p:spPr>
          <a:xfrm>
            <a:off x="4962525" y="2109573"/>
            <a:ext cx="2425303" cy="219075"/>
          </a:xfrm>
          <a:prstGeom prst="rect">
            <a:avLst/>
          </a:prstGeom>
          <a:noFill/>
        </p:spPr>
        <p:txBody>
          <a:bodyPr wrap="none" lIns="0" tIns="0" rIns="0" bIns="0" anchor="t">
            <a:spAutoFit/>
          </a:bodyPr>
          <a:lstStyle/>
          <a:p>
            <a:pPr algn="l"/>
            <a:r>
              <a:rPr sz="1350" b="1" i="0" u="none">
                <a:solidFill>
                  <a:srgbClr val="0F172A"/>
                </a:solidFill>
                <a:latin typeface="Plus Jakarta Sans"/>
              </a:rPr>
              <a:t>Inaccessible Legal Aid</a:t>
            </a:r>
          </a:p>
        </p:txBody>
      </p:sp>
      <p:sp>
        <p:nvSpPr>
          <p:cNvPr id="31" name="TextBox 30"/>
          <p:cNvSpPr txBox="1"/>
          <p:nvPr/>
        </p:nvSpPr>
        <p:spPr>
          <a:xfrm>
            <a:off x="8696325" y="2109573"/>
            <a:ext cx="2412801" cy="219075"/>
          </a:xfrm>
          <a:prstGeom prst="rect">
            <a:avLst/>
          </a:prstGeom>
          <a:noFill/>
        </p:spPr>
        <p:txBody>
          <a:bodyPr wrap="none" lIns="0" tIns="0" rIns="0" bIns="0" anchor="t">
            <a:spAutoFit/>
          </a:bodyPr>
          <a:lstStyle/>
          <a:p>
            <a:pPr algn="l"/>
            <a:r>
              <a:rPr sz="1350" b="1" i="0" u="none">
                <a:solidFill>
                  <a:srgbClr val="0F172A"/>
                </a:solidFill>
                <a:latin typeface="Plus Jakarta Sans"/>
              </a:rPr>
              <a:t>Generic AI Limitations</a:t>
            </a:r>
          </a:p>
        </p:txBody>
      </p:sp>
      <p:pic>
        <p:nvPicPr>
          <p:cNvPr id="33" name="Picture 32">
            <a:extLst>
              <a:ext uri="{FF2B5EF4-FFF2-40B4-BE49-F238E27FC236}">
                <a16:creationId xmlns:a16="http://schemas.microsoft.com/office/drawing/2014/main" id="{A5CBA412-B207-8644-EA48-9BC10A776E96}"/>
              </a:ext>
            </a:extLst>
          </p:cNvPr>
          <p:cNvPicPr>
            <a:picLocks noChangeAspect="1"/>
          </p:cNvPicPr>
          <p:nvPr/>
        </p:nvPicPr>
        <p:blipFill>
          <a:blip r:embed="rId6"/>
          <a:stretch>
            <a:fillRect/>
          </a:stretch>
        </p:blipFill>
        <p:spPr>
          <a:xfrm>
            <a:off x="2141600" y="3533991"/>
            <a:ext cx="7908800" cy="31129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609600" y="2430660"/>
            <a:ext cx="5334000" cy="3048000"/>
          </a:xfrm>
          <a:prstGeom prst="rect">
            <a:avLst/>
          </a:prstGeom>
        </p:spPr>
      </p:pic>
      <p:pic>
        <p:nvPicPr>
          <p:cNvPr id="3" name="Picture 2" descr="image.png"/>
          <p:cNvPicPr>
            <a:picLocks noChangeAspect="1"/>
          </p:cNvPicPr>
          <p:nvPr/>
        </p:nvPicPr>
        <p:blipFill>
          <a:blip r:embed="rId4"/>
          <a:stretch>
            <a:fillRect/>
          </a:stretch>
        </p:blipFill>
        <p:spPr>
          <a:xfrm>
            <a:off x="6248400" y="2892623"/>
            <a:ext cx="419100" cy="419100"/>
          </a:xfrm>
          <a:prstGeom prst="rect">
            <a:avLst/>
          </a:prstGeom>
        </p:spPr>
      </p:pic>
      <p:pic>
        <p:nvPicPr>
          <p:cNvPr id="4" name="Picture 3" descr="image.png"/>
          <p:cNvPicPr>
            <a:picLocks noChangeAspect="1"/>
          </p:cNvPicPr>
          <p:nvPr/>
        </p:nvPicPr>
        <p:blipFill>
          <a:blip r:embed="rId5"/>
          <a:stretch>
            <a:fillRect/>
          </a:stretch>
        </p:blipFill>
        <p:spPr>
          <a:xfrm>
            <a:off x="6248400" y="3664148"/>
            <a:ext cx="419100" cy="419100"/>
          </a:xfrm>
          <a:prstGeom prst="rect">
            <a:avLst/>
          </a:prstGeom>
        </p:spPr>
      </p:pic>
      <p:pic>
        <p:nvPicPr>
          <p:cNvPr id="5" name="Picture 4" descr="image.png"/>
          <p:cNvPicPr>
            <a:picLocks noChangeAspect="1"/>
          </p:cNvPicPr>
          <p:nvPr/>
        </p:nvPicPr>
        <p:blipFill>
          <a:blip r:embed="rId6"/>
          <a:stretch>
            <a:fillRect/>
          </a:stretch>
        </p:blipFill>
        <p:spPr>
          <a:xfrm>
            <a:off x="6248400" y="4435673"/>
            <a:ext cx="419100" cy="419100"/>
          </a:xfrm>
          <a:prstGeom prst="rect">
            <a:avLst/>
          </a:prstGeom>
        </p:spPr>
      </p:pic>
      <p:pic>
        <p:nvPicPr>
          <p:cNvPr id="6" name="Picture 5" descr="image.png"/>
          <p:cNvPicPr>
            <a:picLocks noChangeAspect="1"/>
          </p:cNvPicPr>
          <p:nvPr/>
        </p:nvPicPr>
        <p:blipFill>
          <a:blip r:embed="rId7"/>
          <a:stretch>
            <a:fillRect/>
          </a:stretch>
        </p:blipFill>
        <p:spPr>
          <a:xfrm>
            <a:off x="6362700" y="3006923"/>
            <a:ext cx="190500" cy="190500"/>
          </a:xfrm>
          <a:prstGeom prst="rect">
            <a:avLst/>
          </a:prstGeom>
        </p:spPr>
      </p:pic>
      <p:pic>
        <p:nvPicPr>
          <p:cNvPr id="7" name="Picture 6" descr="image.png"/>
          <p:cNvPicPr>
            <a:picLocks noChangeAspect="1"/>
          </p:cNvPicPr>
          <p:nvPr/>
        </p:nvPicPr>
        <p:blipFill>
          <a:blip r:embed="rId8"/>
          <a:stretch>
            <a:fillRect/>
          </a:stretch>
        </p:blipFill>
        <p:spPr>
          <a:xfrm>
            <a:off x="6362700" y="3778448"/>
            <a:ext cx="190500" cy="190500"/>
          </a:xfrm>
          <a:prstGeom prst="rect">
            <a:avLst/>
          </a:prstGeom>
        </p:spPr>
      </p:pic>
      <p:pic>
        <p:nvPicPr>
          <p:cNvPr id="8" name="Picture 7" descr="image.png"/>
          <p:cNvPicPr>
            <a:picLocks noChangeAspect="1"/>
          </p:cNvPicPr>
          <p:nvPr/>
        </p:nvPicPr>
        <p:blipFill>
          <a:blip r:embed="rId9"/>
          <a:stretch>
            <a:fillRect/>
          </a:stretch>
        </p:blipFill>
        <p:spPr>
          <a:xfrm>
            <a:off x="6362700" y="4549973"/>
            <a:ext cx="190500" cy="190500"/>
          </a:xfrm>
          <a:prstGeom prst="rect">
            <a:avLst/>
          </a:prstGeom>
        </p:spPr>
      </p:pic>
      <p:sp>
        <p:nvSpPr>
          <p:cNvPr id="10" name="TextBox 9"/>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Why This Matters</a:t>
            </a:r>
          </a:p>
        </p:txBody>
      </p:sp>
      <p:sp>
        <p:nvSpPr>
          <p:cNvPr id="11" name="TextBox 10"/>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Protecting rights under the Residential Tenancies Acts 2004–2026</a:t>
            </a:r>
          </a:p>
        </p:txBody>
      </p:sp>
      <p:sp>
        <p:nvSpPr>
          <p:cNvPr id="12" name="TextBox 11"/>
          <p:cNvSpPr txBox="1"/>
          <p:nvPr/>
        </p:nvSpPr>
        <p:spPr>
          <a:xfrm>
            <a:off x="6819900" y="2892623"/>
            <a:ext cx="5372100" cy="219075"/>
          </a:xfrm>
          <a:prstGeom prst="rect">
            <a:avLst/>
          </a:prstGeom>
          <a:noFill/>
        </p:spPr>
        <p:txBody>
          <a:bodyPr wrap="none" lIns="0" tIns="0" rIns="0" bIns="0" anchor="t">
            <a:spAutoFit/>
          </a:bodyPr>
          <a:lstStyle/>
          <a:p>
            <a:pPr algn="l"/>
            <a:r>
              <a:rPr sz="1350" b="1" i="0" u="none">
                <a:solidFill>
                  <a:srgbClr val="0F172A"/>
                </a:solidFill>
                <a:latin typeface="Plus Jakarta Sans"/>
              </a:rPr>
              <a:t>Unenforceable Clauses</a:t>
            </a:r>
          </a:p>
        </p:txBody>
      </p:sp>
      <p:sp>
        <p:nvSpPr>
          <p:cNvPr id="13" name="TextBox 12"/>
          <p:cNvSpPr txBox="1"/>
          <p:nvPr/>
        </p:nvSpPr>
        <p:spPr>
          <a:xfrm>
            <a:off x="6819900" y="3149798"/>
            <a:ext cx="4857750" cy="361950"/>
          </a:xfrm>
          <a:prstGeom prst="rect">
            <a:avLst/>
          </a:prstGeom>
          <a:noFill/>
        </p:spPr>
        <p:txBody>
          <a:bodyPr wrap="square" lIns="0" tIns="0" rIns="0" bIns="0" anchor="t">
            <a:spAutoFit/>
          </a:bodyPr>
          <a:lstStyle/>
          <a:p>
            <a:pPr algn="l"/>
            <a:r>
              <a:rPr sz="1125" b="0" i="0" u="none">
                <a:solidFill>
                  <a:srgbClr val="64748B"/>
                </a:solidFill>
                <a:latin typeface="Inter"/>
              </a:rPr>
              <a:t>Landlords frequently insert illegal caps on deposit returns, illegal access rights, or shifting repair duties.</a:t>
            </a:r>
          </a:p>
        </p:txBody>
      </p:sp>
      <p:sp>
        <p:nvSpPr>
          <p:cNvPr id="14" name="TextBox 13"/>
          <p:cNvSpPr txBox="1"/>
          <p:nvPr/>
        </p:nvSpPr>
        <p:spPr>
          <a:xfrm>
            <a:off x="6819900" y="3664148"/>
            <a:ext cx="5372100" cy="219075"/>
          </a:xfrm>
          <a:prstGeom prst="rect">
            <a:avLst/>
          </a:prstGeom>
          <a:noFill/>
        </p:spPr>
        <p:txBody>
          <a:bodyPr wrap="none" lIns="0" tIns="0" rIns="0" bIns="0" anchor="t">
            <a:spAutoFit/>
          </a:bodyPr>
          <a:lstStyle/>
          <a:p>
            <a:pPr algn="l"/>
            <a:r>
              <a:rPr sz="1350" b="1" i="0" u="none">
                <a:solidFill>
                  <a:srgbClr val="0F172A"/>
                </a:solidFill>
                <a:latin typeface="Plus Jakarta Sans"/>
              </a:rPr>
              <a:t>Evolving Legislation</a:t>
            </a:r>
          </a:p>
        </p:txBody>
      </p:sp>
      <p:sp>
        <p:nvSpPr>
          <p:cNvPr id="15" name="TextBox 14"/>
          <p:cNvSpPr txBox="1"/>
          <p:nvPr/>
        </p:nvSpPr>
        <p:spPr>
          <a:xfrm>
            <a:off x="6819900" y="3921323"/>
            <a:ext cx="4857750" cy="361950"/>
          </a:xfrm>
          <a:prstGeom prst="rect">
            <a:avLst/>
          </a:prstGeom>
          <a:noFill/>
        </p:spPr>
        <p:txBody>
          <a:bodyPr wrap="square" lIns="0" tIns="0" rIns="0" bIns="0" anchor="t">
            <a:spAutoFit/>
          </a:bodyPr>
          <a:lstStyle/>
          <a:p>
            <a:pPr algn="l"/>
            <a:r>
              <a:rPr sz="1125" b="0" i="0" u="none">
                <a:solidFill>
                  <a:srgbClr val="64748B"/>
                </a:solidFill>
                <a:latin typeface="Inter"/>
              </a:rPr>
              <a:t>Frequent RTB amendments require point-in-time legal reasoning based on the exact lease start date.</a:t>
            </a:r>
          </a:p>
        </p:txBody>
      </p:sp>
      <p:sp>
        <p:nvSpPr>
          <p:cNvPr id="16" name="TextBox 15"/>
          <p:cNvSpPr txBox="1"/>
          <p:nvPr/>
        </p:nvSpPr>
        <p:spPr>
          <a:xfrm>
            <a:off x="6819900" y="4435673"/>
            <a:ext cx="5372100" cy="219075"/>
          </a:xfrm>
          <a:prstGeom prst="rect">
            <a:avLst/>
          </a:prstGeom>
          <a:noFill/>
        </p:spPr>
        <p:txBody>
          <a:bodyPr wrap="none" lIns="0" tIns="0" rIns="0" bIns="0" anchor="t">
            <a:spAutoFit/>
          </a:bodyPr>
          <a:lstStyle/>
          <a:p>
            <a:pPr algn="l"/>
            <a:r>
              <a:rPr sz="1350" b="1" i="0" u="none">
                <a:solidFill>
                  <a:srgbClr val="0F172A"/>
                </a:solidFill>
                <a:latin typeface="Plus Jakarta Sans"/>
              </a:rPr>
              <a:t>Tenant Empowerment</a:t>
            </a:r>
          </a:p>
        </p:txBody>
      </p:sp>
      <p:sp>
        <p:nvSpPr>
          <p:cNvPr id="17" name="TextBox 16"/>
          <p:cNvSpPr txBox="1"/>
          <p:nvPr/>
        </p:nvSpPr>
        <p:spPr>
          <a:xfrm>
            <a:off x="6819900" y="4692848"/>
            <a:ext cx="4857750" cy="361950"/>
          </a:xfrm>
          <a:prstGeom prst="rect">
            <a:avLst/>
          </a:prstGeom>
          <a:noFill/>
        </p:spPr>
        <p:txBody>
          <a:bodyPr wrap="square" lIns="0" tIns="0" rIns="0" bIns="0" anchor="t">
            <a:spAutoFit/>
          </a:bodyPr>
          <a:lstStyle/>
          <a:p>
            <a:pPr algn="l"/>
            <a:r>
              <a:rPr sz="1125" b="0" i="0" u="none">
                <a:solidFill>
                  <a:srgbClr val="64748B"/>
                </a:solidFill>
                <a:latin typeface="Inter"/>
              </a:rPr>
              <a:t>Provides instant clarity and citations to statutory authorities (RTB, Threshold, Citizens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327124"/>
            <a:ext cx="3505200" cy="2433637"/>
          </a:xfrm>
          <a:prstGeom prst="roundRect">
            <a:avLst>
              <a:gd name="adj" fmla="val 469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327124"/>
            <a:ext cx="3505200" cy="2433637"/>
          </a:xfrm>
          <a:prstGeom prst="roundRect">
            <a:avLst>
              <a:gd name="adj" fmla="val 469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327124"/>
            <a:ext cx="3505200" cy="2433637"/>
          </a:xfrm>
          <a:prstGeom prst="roundRect">
            <a:avLst>
              <a:gd name="adj" fmla="val 469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47725" y="2565249"/>
            <a:ext cx="942975" cy="238125"/>
          </a:xfrm>
          <a:prstGeom prst="roundRect">
            <a:avLst>
              <a:gd name="adj" fmla="val 24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81525" y="2565249"/>
            <a:ext cx="942975" cy="238125"/>
          </a:xfrm>
          <a:prstGeom prst="roundRect">
            <a:avLst>
              <a:gd name="adj" fmla="val 24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315325" y="2565249"/>
            <a:ext cx="1095375" cy="238125"/>
          </a:xfrm>
          <a:prstGeom prst="roundRect">
            <a:avLst>
              <a:gd name="adj" fmla="val 24000"/>
            </a:avLst>
          </a:prstGeom>
          <a:solidFill>
            <a:srgbClr val="FFFBEB"/>
          </a:solidFill>
          <a:ln w="9525">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47725" y="2955774"/>
            <a:ext cx="457200" cy="457200"/>
          </a:xfrm>
          <a:prstGeom prst="rect">
            <a:avLst/>
          </a:prstGeom>
        </p:spPr>
      </p:pic>
      <p:pic>
        <p:nvPicPr>
          <p:cNvPr id="9" name="Picture 8" descr="image.png"/>
          <p:cNvPicPr>
            <a:picLocks noChangeAspect="1"/>
          </p:cNvPicPr>
          <p:nvPr/>
        </p:nvPicPr>
        <p:blipFill>
          <a:blip r:embed="rId4"/>
          <a:stretch>
            <a:fillRect/>
          </a:stretch>
        </p:blipFill>
        <p:spPr>
          <a:xfrm>
            <a:off x="4581525" y="2955774"/>
            <a:ext cx="457200" cy="457200"/>
          </a:xfrm>
          <a:prstGeom prst="rect">
            <a:avLst/>
          </a:prstGeom>
        </p:spPr>
      </p:pic>
      <p:pic>
        <p:nvPicPr>
          <p:cNvPr id="10" name="Picture 9" descr="image.png"/>
          <p:cNvPicPr>
            <a:picLocks noChangeAspect="1"/>
          </p:cNvPicPr>
          <p:nvPr/>
        </p:nvPicPr>
        <p:blipFill>
          <a:blip r:embed="rId5"/>
          <a:stretch>
            <a:fillRect/>
          </a:stretch>
        </p:blipFill>
        <p:spPr>
          <a:xfrm>
            <a:off x="8315325" y="2955774"/>
            <a:ext cx="457200" cy="457200"/>
          </a:xfrm>
          <a:prstGeom prst="rect">
            <a:avLst/>
          </a:prstGeom>
        </p:spPr>
      </p:pic>
      <p:pic>
        <p:nvPicPr>
          <p:cNvPr id="11" name="Picture 10" descr="image.png"/>
          <p:cNvPicPr>
            <a:picLocks noChangeAspect="1"/>
          </p:cNvPicPr>
          <p:nvPr/>
        </p:nvPicPr>
        <p:blipFill>
          <a:blip r:embed="rId6"/>
          <a:stretch>
            <a:fillRect/>
          </a:stretch>
        </p:blipFill>
        <p:spPr>
          <a:xfrm>
            <a:off x="985837" y="3079599"/>
            <a:ext cx="180975" cy="209550"/>
          </a:xfrm>
          <a:prstGeom prst="rect">
            <a:avLst/>
          </a:prstGeom>
        </p:spPr>
      </p:pic>
      <p:pic>
        <p:nvPicPr>
          <p:cNvPr id="12" name="Picture 11" descr="image.png"/>
          <p:cNvPicPr>
            <a:picLocks noChangeAspect="1"/>
          </p:cNvPicPr>
          <p:nvPr/>
        </p:nvPicPr>
        <p:blipFill>
          <a:blip r:embed="rId7"/>
          <a:stretch>
            <a:fillRect/>
          </a:stretch>
        </p:blipFill>
        <p:spPr>
          <a:xfrm>
            <a:off x="4705350" y="3079599"/>
            <a:ext cx="209550" cy="209550"/>
          </a:xfrm>
          <a:prstGeom prst="rect">
            <a:avLst/>
          </a:prstGeom>
        </p:spPr>
      </p:pic>
      <p:pic>
        <p:nvPicPr>
          <p:cNvPr id="13" name="Picture 12" descr="image.png"/>
          <p:cNvPicPr>
            <a:picLocks noChangeAspect="1"/>
          </p:cNvPicPr>
          <p:nvPr/>
        </p:nvPicPr>
        <p:blipFill>
          <a:blip r:embed="rId8"/>
          <a:stretch>
            <a:fillRect/>
          </a:stretch>
        </p:blipFill>
        <p:spPr>
          <a:xfrm>
            <a:off x="8410575" y="3079599"/>
            <a:ext cx="266700" cy="209550"/>
          </a:xfrm>
          <a:prstGeom prst="rect">
            <a:avLst/>
          </a:prstGeom>
        </p:spPr>
      </p:pic>
      <p:sp>
        <p:nvSpPr>
          <p:cNvPr id="15" name="TextBox 14"/>
          <p:cNvSpPr txBox="1"/>
          <p:nvPr/>
        </p:nvSpPr>
        <p:spPr>
          <a:xfrm>
            <a:off x="609600" y="762000"/>
            <a:ext cx="1566904" cy="360163"/>
          </a:xfrm>
          <a:prstGeom prst="rect">
            <a:avLst/>
          </a:prstGeom>
          <a:noFill/>
        </p:spPr>
        <p:txBody>
          <a:bodyPr wrap="none" lIns="0" tIns="0" rIns="0" bIns="0" anchor="t">
            <a:spAutoFit/>
          </a:bodyPr>
          <a:lstStyle/>
          <a:p>
            <a:pPr algn="l">
              <a:lnSpc>
                <a:spcPts val="2879"/>
              </a:lnSpc>
            </a:pPr>
            <a:r>
              <a:rPr sz="2400" b="1" i="0" u="none" dirty="0">
                <a:solidFill>
                  <a:srgbClr val="0F172A"/>
                </a:solidFill>
                <a:latin typeface="Plus Jakarta Sans"/>
              </a:rPr>
              <a:t>Target Users</a:t>
            </a:r>
          </a:p>
        </p:txBody>
      </p:sp>
      <p:sp>
        <p:nvSpPr>
          <p:cNvPr id="16" name="TextBox 15"/>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Serving primary renters and secondary legal advocacy services</a:t>
            </a:r>
          </a:p>
        </p:txBody>
      </p:sp>
      <p:sp>
        <p:nvSpPr>
          <p:cNvPr id="17" name="TextBox 16"/>
          <p:cNvSpPr txBox="1"/>
          <p:nvPr/>
        </p:nvSpPr>
        <p:spPr>
          <a:xfrm>
            <a:off x="942975" y="2603349"/>
            <a:ext cx="847725" cy="161925"/>
          </a:xfrm>
          <a:prstGeom prst="rect">
            <a:avLst/>
          </a:prstGeom>
          <a:noFill/>
        </p:spPr>
        <p:txBody>
          <a:bodyPr wrap="square" lIns="0" tIns="0" rIns="0" bIns="0" anchor="t">
            <a:spAutoFit/>
          </a:bodyPr>
          <a:lstStyle/>
          <a:p>
            <a:pPr algn="l"/>
            <a:r>
              <a:rPr sz="900" b="1" i="0" u="none">
                <a:solidFill>
                  <a:srgbClr val="2563EB"/>
                </a:solidFill>
                <a:latin typeface="Inter"/>
              </a:rPr>
              <a:t>Primary User</a:t>
            </a:r>
          </a:p>
        </p:txBody>
      </p:sp>
      <p:sp>
        <p:nvSpPr>
          <p:cNvPr id="18" name="TextBox 17"/>
          <p:cNvSpPr txBox="1"/>
          <p:nvPr/>
        </p:nvSpPr>
        <p:spPr>
          <a:xfrm>
            <a:off x="847725" y="3565374"/>
            <a:ext cx="2862857" cy="238125"/>
          </a:xfrm>
          <a:prstGeom prst="rect">
            <a:avLst/>
          </a:prstGeom>
          <a:noFill/>
        </p:spPr>
        <p:txBody>
          <a:bodyPr wrap="none" lIns="0" tIns="0" rIns="0" bIns="0" anchor="t">
            <a:spAutoFit/>
          </a:bodyPr>
          <a:lstStyle/>
          <a:p>
            <a:pPr algn="l"/>
            <a:r>
              <a:rPr sz="1500" b="1" i="0" u="none">
                <a:solidFill>
                  <a:srgbClr val="0F172A"/>
                </a:solidFill>
                <a:latin typeface="Plus Jakarta Sans"/>
              </a:rPr>
              <a:t>Students &amp; First-Timers</a:t>
            </a:r>
          </a:p>
        </p:txBody>
      </p:sp>
      <p:sp>
        <p:nvSpPr>
          <p:cNvPr id="19" name="TextBox 18"/>
          <p:cNvSpPr txBox="1"/>
          <p:nvPr/>
        </p:nvSpPr>
        <p:spPr>
          <a:xfrm>
            <a:off x="847725" y="3879699"/>
            <a:ext cx="3124200" cy="642937"/>
          </a:xfrm>
          <a:prstGeom prst="rect">
            <a:avLst/>
          </a:prstGeom>
          <a:noFill/>
        </p:spPr>
        <p:txBody>
          <a:bodyPr wrap="square" lIns="0" tIns="0" rIns="0" bIns="0" anchor="t">
            <a:spAutoFit/>
          </a:bodyPr>
          <a:lstStyle/>
          <a:p>
            <a:pPr algn="l">
              <a:lnSpc>
                <a:spcPts val="1687"/>
              </a:lnSpc>
            </a:pPr>
            <a:r>
              <a:rPr sz="1125" b="0" i="0" u="none">
                <a:solidFill>
                  <a:srgbClr val="64748B"/>
                </a:solidFill>
                <a:latin typeface="Inter"/>
              </a:rPr>
              <a:t>First-time renters with minimal legal knowledge needing immediate plain-English lease verification before signing.</a:t>
            </a:r>
          </a:p>
        </p:txBody>
      </p:sp>
      <p:sp>
        <p:nvSpPr>
          <p:cNvPr id="20" name="TextBox 19"/>
          <p:cNvSpPr txBox="1"/>
          <p:nvPr/>
        </p:nvSpPr>
        <p:spPr>
          <a:xfrm>
            <a:off x="4676775" y="2603349"/>
            <a:ext cx="847725" cy="161925"/>
          </a:xfrm>
          <a:prstGeom prst="rect">
            <a:avLst/>
          </a:prstGeom>
          <a:noFill/>
        </p:spPr>
        <p:txBody>
          <a:bodyPr wrap="square" lIns="0" tIns="0" rIns="0" bIns="0" anchor="t">
            <a:spAutoFit/>
          </a:bodyPr>
          <a:lstStyle/>
          <a:p>
            <a:pPr algn="l"/>
            <a:r>
              <a:rPr sz="900" b="1" i="0" u="none">
                <a:solidFill>
                  <a:srgbClr val="2563EB"/>
                </a:solidFill>
                <a:latin typeface="Inter"/>
              </a:rPr>
              <a:t>Primary User</a:t>
            </a:r>
          </a:p>
        </p:txBody>
      </p:sp>
      <p:sp>
        <p:nvSpPr>
          <p:cNvPr id="21" name="TextBox 20"/>
          <p:cNvSpPr txBox="1"/>
          <p:nvPr/>
        </p:nvSpPr>
        <p:spPr>
          <a:xfrm>
            <a:off x="4581525" y="3565374"/>
            <a:ext cx="3750468" cy="238125"/>
          </a:xfrm>
          <a:prstGeom prst="rect">
            <a:avLst/>
          </a:prstGeom>
          <a:noFill/>
        </p:spPr>
        <p:txBody>
          <a:bodyPr wrap="none" lIns="0" tIns="0" rIns="0" bIns="0" anchor="t">
            <a:spAutoFit/>
          </a:bodyPr>
          <a:lstStyle/>
          <a:p>
            <a:pPr algn="l"/>
            <a:r>
              <a:rPr sz="1500" b="1" i="0" u="none">
                <a:solidFill>
                  <a:srgbClr val="0F172A"/>
                </a:solidFill>
                <a:latin typeface="Plus Jakarta Sans"/>
              </a:rPr>
              <a:t>Expats &amp; Non-Native Speakers</a:t>
            </a:r>
          </a:p>
        </p:txBody>
      </p:sp>
      <p:sp>
        <p:nvSpPr>
          <p:cNvPr id="22" name="TextBox 21"/>
          <p:cNvSpPr txBox="1"/>
          <p:nvPr/>
        </p:nvSpPr>
        <p:spPr>
          <a:xfrm>
            <a:off x="4581525" y="3879699"/>
            <a:ext cx="3124200" cy="642937"/>
          </a:xfrm>
          <a:prstGeom prst="rect">
            <a:avLst/>
          </a:prstGeom>
          <a:noFill/>
        </p:spPr>
        <p:txBody>
          <a:bodyPr wrap="square" lIns="0" tIns="0" rIns="0" bIns="0" anchor="t">
            <a:spAutoFit/>
          </a:bodyPr>
          <a:lstStyle/>
          <a:p>
            <a:pPr algn="l">
              <a:lnSpc>
                <a:spcPts val="1687"/>
              </a:lnSpc>
            </a:pPr>
            <a:r>
              <a:rPr sz="1125" b="0" i="0" u="none">
                <a:solidFill>
                  <a:srgbClr val="64748B"/>
                </a:solidFill>
                <a:latin typeface="Inter"/>
              </a:rPr>
              <a:t>Relocating professionals unfamiliar with local statutory regulations and specific Irish RTB tenancy protections.</a:t>
            </a:r>
          </a:p>
        </p:txBody>
      </p:sp>
      <p:sp>
        <p:nvSpPr>
          <p:cNvPr id="23" name="TextBox 22"/>
          <p:cNvSpPr txBox="1"/>
          <p:nvPr/>
        </p:nvSpPr>
        <p:spPr>
          <a:xfrm>
            <a:off x="8410575" y="2603349"/>
            <a:ext cx="1000125" cy="161925"/>
          </a:xfrm>
          <a:prstGeom prst="rect">
            <a:avLst/>
          </a:prstGeom>
          <a:noFill/>
        </p:spPr>
        <p:txBody>
          <a:bodyPr wrap="square" lIns="0" tIns="0" rIns="0" bIns="0" anchor="t">
            <a:spAutoFit/>
          </a:bodyPr>
          <a:lstStyle/>
          <a:p>
            <a:pPr algn="l"/>
            <a:r>
              <a:rPr sz="900" b="1" i="0" u="none">
                <a:solidFill>
                  <a:srgbClr val="D97706"/>
                </a:solidFill>
                <a:latin typeface="Inter"/>
              </a:rPr>
              <a:t>Secondary User</a:t>
            </a:r>
          </a:p>
        </p:txBody>
      </p:sp>
      <p:sp>
        <p:nvSpPr>
          <p:cNvPr id="24" name="TextBox 23"/>
          <p:cNvSpPr txBox="1"/>
          <p:nvPr/>
        </p:nvSpPr>
        <p:spPr>
          <a:xfrm>
            <a:off x="8315325" y="3565374"/>
            <a:ext cx="3012876" cy="238125"/>
          </a:xfrm>
          <a:prstGeom prst="rect">
            <a:avLst/>
          </a:prstGeom>
          <a:noFill/>
        </p:spPr>
        <p:txBody>
          <a:bodyPr wrap="none" lIns="0" tIns="0" rIns="0" bIns="0" anchor="t">
            <a:spAutoFit/>
          </a:bodyPr>
          <a:lstStyle/>
          <a:p>
            <a:pPr algn="l"/>
            <a:r>
              <a:rPr sz="1500" b="1" i="0" u="none">
                <a:solidFill>
                  <a:srgbClr val="0F172A"/>
                </a:solidFill>
                <a:latin typeface="Plus Jakarta Sans"/>
              </a:rPr>
              <a:t>Tenant Advisory Services</a:t>
            </a:r>
          </a:p>
        </p:txBody>
      </p:sp>
      <p:sp>
        <p:nvSpPr>
          <p:cNvPr id="25" name="TextBox 24"/>
          <p:cNvSpPr txBox="1"/>
          <p:nvPr/>
        </p:nvSpPr>
        <p:spPr>
          <a:xfrm>
            <a:off x="8315325" y="3879699"/>
            <a:ext cx="3124200" cy="642937"/>
          </a:xfrm>
          <a:prstGeom prst="rect">
            <a:avLst/>
          </a:prstGeom>
          <a:noFill/>
        </p:spPr>
        <p:txBody>
          <a:bodyPr wrap="square" lIns="0" tIns="0" rIns="0" bIns="0" anchor="t">
            <a:spAutoFit/>
          </a:bodyPr>
          <a:lstStyle/>
          <a:p>
            <a:pPr algn="l">
              <a:lnSpc>
                <a:spcPts val="1687"/>
              </a:lnSpc>
            </a:pPr>
            <a:r>
              <a:rPr sz="1125" b="0" i="0" u="none">
                <a:solidFill>
                  <a:srgbClr val="64748B"/>
                </a:solidFill>
                <a:latin typeface="Inter"/>
              </a:rPr>
              <a:t>Housing charities (e.g. Threshold) using ClauseGuard as a preliminary triage tool to accelerate manual case reviews.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579560"/>
            <a:ext cx="2628900" cy="1727596"/>
          </a:xfrm>
          <a:prstGeom prst="roundRect">
            <a:avLst>
              <a:gd name="adj" fmla="val 661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90900" y="2579560"/>
            <a:ext cx="2628900" cy="1727596"/>
          </a:xfrm>
          <a:prstGeom prst="roundRect">
            <a:avLst>
              <a:gd name="adj" fmla="val 661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72200" y="2579560"/>
            <a:ext cx="2628900" cy="1727596"/>
          </a:xfrm>
          <a:prstGeom prst="roundRect">
            <a:avLst>
              <a:gd name="adj" fmla="val 661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53500" y="2672875"/>
            <a:ext cx="2628900" cy="1540966"/>
          </a:xfrm>
          <a:prstGeom prst="roundRect">
            <a:avLst>
              <a:gd name="adj" fmla="val 74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4297632"/>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2579560"/>
            <a:ext cx="26289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28975"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90900" y="4297632"/>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90900" y="2579560"/>
            <a:ext cx="26289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90900"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10275"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4297632"/>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2579560"/>
            <a:ext cx="2628900"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791575" y="2579560"/>
            <a:ext cx="9525" cy="1727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53500" y="4204317"/>
            <a:ext cx="2628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53500" y="2672875"/>
            <a:ext cx="26289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53500" y="2672875"/>
            <a:ext cx="9525" cy="154096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572875" y="2672875"/>
            <a:ext cx="9525" cy="154096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dirty="0">
                <a:solidFill>
                  <a:srgbClr val="0F172A"/>
                </a:solidFill>
                <a:latin typeface="Plus Jakarta Sans"/>
              </a:rPr>
              <a:t>End-to-End Workflow Use Case</a:t>
            </a:r>
          </a:p>
        </p:txBody>
      </p:sp>
      <p:sp>
        <p:nvSpPr>
          <p:cNvPr id="24" name="TextBox 23"/>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From document upload to document-anchored compliance insights in under 60s</a:t>
            </a:r>
          </a:p>
        </p:txBody>
      </p:sp>
      <p:sp>
        <p:nvSpPr>
          <p:cNvPr id="25" name="TextBox 24"/>
          <p:cNvSpPr txBox="1"/>
          <p:nvPr/>
        </p:nvSpPr>
        <p:spPr>
          <a:xfrm>
            <a:off x="847725" y="2846260"/>
            <a:ext cx="2690812" cy="142875"/>
          </a:xfrm>
          <a:prstGeom prst="rect">
            <a:avLst/>
          </a:prstGeom>
          <a:noFill/>
        </p:spPr>
        <p:txBody>
          <a:bodyPr wrap="none" lIns="0" tIns="0" rIns="0" bIns="0" anchor="t">
            <a:spAutoFit/>
          </a:bodyPr>
          <a:lstStyle/>
          <a:p>
            <a:pPr algn="l"/>
            <a:r>
              <a:rPr sz="900" b="1" i="0" u="none">
                <a:solidFill>
                  <a:srgbClr val="2563EB"/>
                </a:solidFill>
                <a:latin typeface="Inter"/>
              </a:rPr>
              <a:t>STEP 01</a:t>
            </a:r>
          </a:p>
        </p:txBody>
      </p:sp>
      <p:sp>
        <p:nvSpPr>
          <p:cNvPr id="26" name="TextBox 25"/>
          <p:cNvSpPr txBox="1"/>
          <p:nvPr/>
        </p:nvSpPr>
        <p:spPr>
          <a:xfrm>
            <a:off x="847725" y="3065335"/>
            <a:ext cx="2825353" cy="200025"/>
          </a:xfrm>
          <a:prstGeom prst="rect">
            <a:avLst/>
          </a:prstGeom>
          <a:noFill/>
        </p:spPr>
        <p:txBody>
          <a:bodyPr wrap="none" lIns="0" tIns="0" rIns="0" bIns="0" anchor="t">
            <a:spAutoFit/>
          </a:bodyPr>
          <a:lstStyle/>
          <a:p>
            <a:pPr algn="l"/>
            <a:r>
              <a:rPr sz="1200" b="1" i="0" u="none" dirty="0">
                <a:solidFill>
                  <a:srgbClr val="0F172A"/>
                </a:solidFill>
                <a:latin typeface="Plus Jakarta Sans"/>
              </a:rPr>
              <a:t>Document Upload</a:t>
            </a:r>
          </a:p>
        </p:txBody>
      </p:sp>
      <p:sp>
        <p:nvSpPr>
          <p:cNvPr id="27" name="TextBox 26"/>
          <p:cNvSpPr txBox="1"/>
          <p:nvPr/>
        </p:nvSpPr>
        <p:spPr>
          <a:xfrm>
            <a:off x="847725" y="3322510"/>
            <a:ext cx="2247900" cy="746521"/>
          </a:xfrm>
          <a:prstGeom prst="rect">
            <a:avLst/>
          </a:prstGeom>
          <a:noFill/>
        </p:spPr>
        <p:txBody>
          <a:bodyPr wrap="square" lIns="0" tIns="0" rIns="0" bIns="0" anchor="t">
            <a:spAutoFit/>
          </a:bodyPr>
          <a:lstStyle/>
          <a:p>
            <a:pPr algn="l">
              <a:lnSpc>
                <a:spcPts val="1470"/>
              </a:lnSpc>
            </a:pPr>
            <a:r>
              <a:rPr sz="1050" b="0" i="0" u="none">
                <a:solidFill>
                  <a:srgbClr val="64748B"/>
                </a:solidFill>
                <a:latin typeface="Inter"/>
              </a:rPr>
              <a:t>Tenant uploads PDF, DOCX, or scan. Untrusted input screening deters prompt injection &amp; hidden text.</a:t>
            </a:r>
          </a:p>
        </p:txBody>
      </p:sp>
      <p:sp>
        <p:nvSpPr>
          <p:cNvPr id="28" name="TextBox 27"/>
          <p:cNvSpPr txBox="1"/>
          <p:nvPr/>
        </p:nvSpPr>
        <p:spPr>
          <a:xfrm>
            <a:off x="3629025" y="2846260"/>
            <a:ext cx="2690812" cy="142875"/>
          </a:xfrm>
          <a:prstGeom prst="rect">
            <a:avLst/>
          </a:prstGeom>
          <a:noFill/>
        </p:spPr>
        <p:txBody>
          <a:bodyPr wrap="none" lIns="0" tIns="0" rIns="0" bIns="0" anchor="t">
            <a:spAutoFit/>
          </a:bodyPr>
          <a:lstStyle/>
          <a:p>
            <a:pPr algn="l"/>
            <a:r>
              <a:rPr sz="900" b="1" i="0" u="none">
                <a:solidFill>
                  <a:srgbClr val="0D9488"/>
                </a:solidFill>
                <a:latin typeface="Inter"/>
              </a:rPr>
              <a:t>STEP 02</a:t>
            </a:r>
          </a:p>
        </p:txBody>
      </p:sp>
      <p:sp>
        <p:nvSpPr>
          <p:cNvPr id="29" name="TextBox 28"/>
          <p:cNvSpPr txBox="1"/>
          <p:nvPr/>
        </p:nvSpPr>
        <p:spPr>
          <a:xfrm>
            <a:off x="3629025" y="3065335"/>
            <a:ext cx="2825353" cy="200025"/>
          </a:xfrm>
          <a:prstGeom prst="rect">
            <a:avLst/>
          </a:prstGeom>
          <a:noFill/>
        </p:spPr>
        <p:txBody>
          <a:bodyPr wrap="none" lIns="0" tIns="0" rIns="0" bIns="0" anchor="t">
            <a:spAutoFit/>
          </a:bodyPr>
          <a:lstStyle/>
          <a:p>
            <a:pPr algn="l"/>
            <a:r>
              <a:rPr sz="1200" b="1" i="0" u="none">
                <a:solidFill>
                  <a:srgbClr val="0F172A"/>
                </a:solidFill>
                <a:latin typeface="Plus Jakarta Sans"/>
              </a:rPr>
              <a:t>Privacy &amp; Anonymization</a:t>
            </a:r>
          </a:p>
        </p:txBody>
      </p:sp>
      <p:sp>
        <p:nvSpPr>
          <p:cNvPr id="30" name="TextBox 29"/>
          <p:cNvSpPr txBox="1"/>
          <p:nvPr/>
        </p:nvSpPr>
        <p:spPr>
          <a:xfrm>
            <a:off x="3629025" y="3322510"/>
            <a:ext cx="2247900" cy="746521"/>
          </a:xfrm>
          <a:prstGeom prst="rect">
            <a:avLst/>
          </a:prstGeom>
          <a:noFill/>
        </p:spPr>
        <p:txBody>
          <a:bodyPr wrap="square" lIns="0" tIns="0" rIns="0" bIns="0" anchor="t">
            <a:spAutoFit/>
          </a:bodyPr>
          <a:lstStyle/>
          <a:p>
            <a:pPr algn="l">
              <a:lnSpc>
                <a:spcPts val="1470"/>
              </a:lnSpc>
            </a:pPr>
            <a:r>
              <a:rPr sz="1050" b="0" i="0" u="none">
                <a:solidFill>
                  <a:srgbClr val="64748B"/>
                </a:solidFill>
                <a:latin typeface="Inter"/>
              </a:rPr>
              <a:t>PII Redaction pipeline cleans names, PPSNs, bank details before external AI model processing.</a:t>
            </a:r>
          </a:p>
        </p:txBody>
      </p:sp>
      <p:sp>
        <p:nvSpPr>
          <p:cNvPr id="31" name="TextBox 30"/>
          <p:cNvSpPr txBox="1"/>
          <p:nvPr/>
        </p:nvSpPr>
        <p:spPr>
          <a:xfrm>
            <a:off x="6410325" y="2846260"/>
            <a:ext cx="2690812" cy="142875"/>
          </a:xfrm>
          <a:prstGeom prst="rect">
            <a:avLst/>
          </a:prstGeom>
          <a:noFill/>
        </p:spPr>
        <p:txBody>
          <a:bodyPr wrap="none" lIns="0" tIns="0" rIns="0" bIns="0" anchor="t">
            <a:spAutoFit/>
          </a:bodyPr>
          <a:lstStyle/>
          <a:p>
            <a:pPr algn="l"/>
            <a:r>
              <a:rPr sz="900" b="1" i="0" u="none">
                <a:solidFill>
                  <a:srgbClr val="D97706"/>
                </a:solidFill>
                <a:latin typeface="Inter"/>
              </a:rPr>
              <a:t>STEP 03</a:t>
            </a:r>
          </a:p>
        </p:txBody>
      </p:sp>
      <p:sp>
        <p:nvSpPr>
          <p:cNvPr id="32" name="TextBox 31"/>
          <p:cNvSpPr txBox="1"/>
          <p:nvPr/>
        </p:nvSpPr>
        <p:spPr>
          <a:xfrm>
            <a:off x="6410325" y="3065335"/>
            <a:ext cx="2825353" cy="200025"/>
          </a:xfrm>
          <a:prstGeom prst="rect">
            <a:avLst/>
          </a:prstGeom>
          <a:noFill/>
        </p:spPr>
        <p:txBody>
          <a:bodyPr wrap="none" lIns="0" tIns="0" rIns="0" bIns="0" anchor="t">
            <a:spAutoFit/>
          </a:bodyPr>
          <a:lstStyle/>
          <a:p>
            <a:pPr algn="l"/>
            <a:r>
              <a:rPr sz="1200" b="1" i="0" u="none">
                <a:solidFill>
                  <a:srgbClr val="0F172A"/>
                </a:solidFill>
                <a:latin typeface="Plus Jakarta Sans"/>
              </a:rPr>
              <a:t>Hybrid Legal Analysis</a:t>
            </a:r>
          </a:p>
        </p:txBody>
      </p:sp>
      <p:sp>
        <p:nvSpPr>
          <p:cNvPr id="33" name="TextBox 32"/>
          <p:cNvSpPr txBox="1"/>
          <p:nvPr/>
        </p:nvSpPr>
        <p:spPr>
          <a:xfrm>
            <a:off x="6410325" y="3322510"/>
            <a:ext cx="2247900" cy="746521"/>
          </a:xfrm>
          <a:prstGeom prst="rect">
            <a:avLst/>
          </a:prstGeom>
          <a:noFill/>
        </p:spPr>
        <p:txBody>
          <a:bodyPr wrap="square" lIns="0" tIns="0" rIns="0" bIns="0" anchor="t">
            <a:spAutoFit/>
          </a:bodyPr>
          <a:lstStyle/>
          <a:p>
            <a:pPr algn="l">
              <a:lnSpc>
                <a:spcPts val="1470"/>
              </a:lnSpc>
            </a:pPr>
            <a:r>
              <a:rPr sz="1050" b="0" i="0" u="none">
                <a:solidFill>
                  <a:srgbClr val="64748B"/>
                </a:solidFill>
                <a:latin typeface="Inter"/>
              </a:rPr>
              <a:t>Rule engine checks numbers; RAG LLM evaluates qualitative wording with point-in-time statutory lookup.</a:t>
            </a:r>
          </a:p>
        </p:txBody>
      </p:sp>
      <p:sp>
        <p:nvSpPr>
          <p:cNvPr id="34" name="TextBox 33"/>
          <p:cNvSpPr txBox="1"/>
          <p:nvPr/>
        </p:nvSpPr>
        <p:spPr>
          <a:xfrm>
            <a:off x="9191625" y="2939575"/>
            <a:ext cx="2690812" cy="142875"/>
          </a:xfrm>
          <a:prstGeom prst="rect">
            <a:avLst/>
          </a:prstGeom>
          <a:noFill/>
        </p:spPr>
        <p:txBody>
          <a:bodyPr wrap="none" lIns="0" tIns="0" rIns="0" bIns="0" anchor="t">
            <a:spAutoFit/>
          </a:bodyPr>
          <a:lstStyle/>
          <a:p>
            <a:pPr algn="l"/>
            <a:r>
              <a:rPr sz="900" b="1" i="0" u="none">
                <a:solidFill>
                  <a:srgbClr val="16A34A"/>
                </a:solidFill>
                <a:latin typeface="Inter"/>
              </a:rPr>
              <a:t>STEP 04</a:t>
            </a:r>
          </a:p>
        </p:txBody>
      </p:sp>
      <p:sp>
        <p:nvSpPr>
          <p:cNvPr id="35" name="TextBox 34"/>
          <p:cNvSpPr txBox="1"/>
          <p:nvPr/>
        </p:nvSpPr>
        <p:spPr>
          <a:xfrm>
            <a:off x="9191625" y="3158650"/>
            <a:ext cx="2825353" cy="200025"/>
          </a:xfrm>
          <a:prstGeom prst="rect">
            <a:avLst/>
          </a:prstGeom>
          <a:noFill/>
        </p:spPr>
        <p:txBody>
          <a:bodyPr wrap="none" lIns="0" tIns="0" rIns="0" bIns="0" anchor="t">
            <a:spAutoFit/>
          </a:bodyPr>
          <a:lstStyle/>
          <a:p>
            <a:pPr algn="l"/>
            <a:r>
              <a:rPr sz="1200" b="1" i="0" u="none">
                <a:solidFill>
                  <a:srgbClr val="0F172A"/>
                </a:solidFill>
                <a:latin typeface="Plus Jakarta Sans"/>
              </a:rPr>
              <a:t>Anchored Traffic Report</a:t>
            </a:r>
          </a:p>
        </p:txBody>
      </p:sp>
      <p:sp>
        <p:nvSpPr>
          <p:cNvPr id="36" name="TextBox 35"/>
          <p:cNvSpPr txBox="1"/>
          <p:nvPr/>
        </p:nvSpPr>
        <p:spPr>
          <a:xfrm>
            <a:off x="9191625" y="3415825"/>
            <a:ext cx="2247900" cy="559891"/>
          </a:xfrm>
          <a:prstGeom prst="rect">
            <a:avLst/>
          </a:prstGeom>
          <a:noFill/>
        </p:spPr>
        <p:txBody>
          <a:bodyPr wrap="square" lIns="0" tIns="0" rIns="0" bIns="0" anchor="t">
            <a:spAutoFit/>
          </a:bodyPr>
          <a:lstStyle/>
          <a:p>
            <a:pPr algn="l">
              <a:lnSpc>
                <a:spcPts val="1470"/>
              </a:lnSpc>
            </a:pPr>
            <a:r>
              <a:rPr sz="1050" b="0" i="0" u="none">
                <a:solidFill>
                  <a:srgbClr val="64748B"/>
                </a:solidFill>
                <a:latin typeface="Inter"/>
              </a:rPr>
              <a:t>Interactive view highlights clauses (Red/Amber/Green) with statutory citations &amp; grounded Q&amp;A chat.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067567"/>
            <a:ext cx="10972800" cy="590550"/>
          </a:xfrm>
          <a:prstGeom prst="roundRect">
            <a:avLst>
              <a:gd name="adj" fmla="val 1290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772417"/>
            <a:ext cx="10972800" cy="590550"/>
          </a:xfrm>
          <a:prstGeom prst="roundRect">
            <a:avLst>
              <a:gd name="adj" fmla="val 1290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3477267"/>
            <a:ext cx="10972800" cy="590550"/>
          </a:xfrm>
          <a:prstGeom prst="roundRect">
            <a:avLst>
              <a:gd name="adj" fmla="val 1290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182117"/>
            <a:ext cx="10972800" cy="590550"/>
          </a:xfrm>
          <a:prstGeom prst="roundRect">
            <a:avLst>
              <a:gd name="adj" fmla="val 1290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886967"/>
            <a:ext cx="10972800" cy="590550"/>
          </a:xfrm>
          <a:prstGeom prst="roundRect">
            <a:avLst>
              <a:gd name="adj" fmla="val 1290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2648592"/>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2067567"/>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9600" y="2067567"/>
            <a:ext cx="38100" cy="59055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572875" y="2067567"/>
            <a:ext cx="9525" cy="590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668000" y="2243780"/>
            <a:ext cx="714375" cy="238125"/>
          </a:xfrm>
          <a:prstGeom prst="roundRect">
            <a:avLst>
              <a:gd name="adj" fmla="val 24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9600" y="3353442"/>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600" y="2772417"/>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9600" y="2772417"/>
            <a:ext cx="38100" cy="5905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572875" y="2772417"/>
            <a:ext cx="9525" cy="590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715625" y="2948630"/>
            <a:ext cx="666750" cy="238125"/>
          </a:xfrm>
          <a:prstGeom prst="roundRect">
            <a:avLst>
              <a:gd name="adj" fmla="val 24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9600" y="4058292"/>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9600" y="3477267"/>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9600" y="3477267"/>
            <a:ext cx="38100" cy="5905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572875" y="3477267"/>
            <a:ext cx="9525" cy="590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563225" y="3653480"/>
            <a:ext cx="819150" cy="238125"/>
          </a:xfrm>
          <a:prstGeom prst="roundRect">
            <a:avLst>
              <a:gd name="adj" fmla="val 24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600" y="4763142"/>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9600" y="4182117"/>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09600" y="4182117"/>
            <a:ext cx="38100" cy="5905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572875" y="4182117"/>
            <a:ext cx="9525" cy="590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448925" y="4358330"/>
            <a:ext cx="933450" cy="238125"/>
          </a:xfrm>
          <a:prstGeom prst="roundRect">
            <a:avLst>
              <a:gd name="adj" fmla="val 24000"/>
            </a:avLst>
          </a:prstGeom>
          <a:solidFill>
            <a:srgbClr val="FFFBEB"/>
          </a:solidFill>
          <a:ln w="9525">
            <a:solidFill>
              <a:srgbClr val="FEF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09600" y="5467992"/>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9600" y="4886967"/>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09600" y="4886967"/>
            <a:ext cx="38100" cy="59055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572875" y="4886967"/>
            <a:ext cx="9525" cy="590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0706100" y="5072705"/>
            <a:ext cx="676275" cy="219075"/>
          </a:xfrm>
          <a:prstGeom prst="roundRect">
            <a:avLst>
              <a:gd name="adj" fmla="val 26086"/>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System Architecture &amp; Pipeline</a:t>
            </a:r>
          </a:p>
        </p:txBody>
      </p:sp>
      <p:sp>
        <p:nvSpPr>
          <p:cNvPr id="34" name="TextBox 33"/>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Five-layer modular architecture for privacy, retrieval, and analysis</a:t>
            </a:r>
          </a:p>
        </p:txBody>
      </p:sp>
      <p:sp>
        <p:nvSpPr>
          <p:cNvPr id="35" name="TextBox 34"/>
          <p:cNvSpPr txBox="1"/>
          <p:nvPr/>
        </p:nvSpPr>
        <p:spPr>
          <a:xfrm>
            <a:off x="838200" y="2191392"/>
            <a:ext cx="4543425" cy="342900"/>
          </a:xfrm>
          <a:prstGeom prst="rect">
            <a:avLst/>
          </a:prstGeom>
          <a:noFill/>
        </p:spPr>
        <p:txBody>
          <a:bodyPr wrap="square" lIns="0" tIns="0" rIns="0" bIns="0" anchor="t">
            <a:spAutoFit/>
          </a:bodyPr>
          <a:lstStyle/>
          <a:p>
            <a:pPr algn="l"/>
            <a:r>
              <a:rPr sz="1125" b="1" i="0" u="none">
                <a:solidFill>
                  <a:srgbClr val="0F172A"/>
                </a:solidFill>
                <a:latin typeface="Inter"/>
              </a:rPr>
              <a:t>1. Document Ingestion Layer</a:t>
            </a:r>
          </a:p>
        </p:txBody>
      </p:sp>
      <p:sp>
        <p:nvSpPr>
          <p:cNvPr id="36" name="TextBox 35"/>
          <p:cNvSpPr txBox="1"/>
          <p:nvPr/>
        </p:nvSpPr>
        <p:spPr>
          <a:xfrm>
            <a:off x="10763250" y="2281880"/>
            <a:ext cx="619125" cy="161925"/>
          </a:xfrm>
          <a:prstGeom prst="rect">
            <a:avLst/>
          </a:prstGeom>
          <a:noFill/>
        </p:spPr>
        <p:txBody>
          <a:bodyPr wrap="square" lIns="0" tIns="0" rIns="0" bIns="0" anchor="t">
            <a:spAutoFit/>
          </a:bodyPr>
          <a:lstStyle/>
          <a:p>
            <a:pPr algn="l"/>
            <a:r>
              <a:rPr sz="900" b="1" i="0" u="none">
                <a:solidFill>
                  <a:srgbClr val="2563EB"/>
                </a:solidFill>
                <a:latin typeface="Inter"/>
              </a:rPr>
              <a:t>Ingestion</a:t>
            </a:r>
          </a:p>
        </p:txBody>
      </p:sp>
      <p:sp>
        <p:nvSpPr>
          <p:cNvPr id="37" name="TextBox 36"/>
          <p:cNvSpPr txBox="1"/>
          <p:nvPr/>
        </p:nvSpPr>
        <p:spPr>
          <a:xfrm>
            <a:off x="838200" y="2896242"/>
            <a:ext cx="5000625" cy="342900"/>
          </a:xfrm>
          <a:prstGeom prst="rect">
            <a:avLst/>
          </a:prstGeom>
          <a:noFill/>
        </p:spPr>
        <p:txBody>
          <a:bodyPr wrap="square" lIns="0" tIns="0" rIns="0" bIns="0" anchor="t">
            <a:spAutoFit/>
          </a:bodyPr>
          <a:lstStyle/>
          <a:p>
            <a:pPr algn="l"/>
            <a:r>
              <a:rPr sz="1125" b="1" i="0" u="none">
                <a:solidFill>
                  <a:srgbClr val="0F172A"/>
                </a:solidFill>
                <a:latin typeface="Inter"/>
              </a:rPr>
              <a:t>2. Privacy &amp; Security Layer</a:t>
            </a:r>
          </a:p>
        </p:txBody>
      </p:sp>
      <p:sp>
        <p:nvSpPr>
          <p:cNvPr id="38" name="TextBox 37"/>
          <p:cNvSpPr txBox="1"/>
          <p:nvPr/>
        </p:nvSpPr>
        <p:spPr>
          <a:xfrm>
            <a:off x="10810875" y="2986730"/>
            <a:ext cx="571500" cy="161925"/>
          </a:xfrm>
          <a:prstGeom prst="rect">
            <a:avLst/>
          </a:prstGeom>
          <a:noFill/>
        </p:spPr>
        <p:txBody>
          <a:bodyPr wrap="square" lIns="0" tIns="0" rIns="0" bIns="0" anchor="t">
            <a:spAutoFit/>
          </a:bodyPr>
          <a:lstStyle/>
          <a:p>
            <a:pPr algn="l"/>
            <a:r>
              <a:rPr sz="900" b="1" i="0" u="none">
                <a:solidFill>
                  <a:srgbClr val="DC2626"/>
                </a:solidFill>
                <a:latin typeface="Inter"/>
              </a:rPr>
              <a:t>Security</a:t>
            </a:r>
          </a:p>
        </p:txBody>
      </p:sp>
      <p:sp>
        <p:nvSpPr>
          <p:cNvPr id="39" name="TextBox 38"/>
          <p:cNvSpPr txBox="1"/>
          <p:nvPr/>
        </p:nvSpPr>
        <p:spPr>
          <a:xfrm>
            <a:off x="838200" y="3601092"/>
            <a:ext cx="5162550" cy="342900"/>
          </a:xfrm>
          <a:prstGeom prst="rect">
            <a:avLst/>
          </a:prstGeom>
          <a:noFill/>
        </p:spPr>
        <p:txBody>
          <a:bodyPr wrap="square" lIns="0" tIns="0" rIns="0" bIns="0" anchor="t">
            <a:spAutoFit/>
          </a:bodyPr>
          <a:lstStyle/>
          <a:p>
            <a:pPr algn="l"/>
            <a:r>
              <a:rPr sz="1125" b="1" i="0" u="none">
                <a:solidFill>
                  <a:srgbClr val="0F172A"/>
                </a:solidFill>
                <a:latin typeface="Inter"/>
              </a:rPr>
              <a:t>3. Versioned Legal Knowledge Base</a:t>
            </a:r>
          </a:p>
        </p:txBody>
      </p:sp>
      <p:sp>
        <p:nvSpPr>
          <p:cNvPr id="40" name="TextBox 39"/>
          <p:cNvSpPr txBox="1"/>
          <p:nvPr/>
        </p:nvSpPr>
        <p:spPr>
          <a:xfrm>
            <a:off x="10658475" y="3691580"/>
            <a:ext cx="723900" cy="161925"/>
          </a:xfrm>
          <a:prstGeom prst="rect">
            <a:avLst/>
          </a:prstGeom>
          <a:noFill/>
        </p:spPr>
        <p:txBody>
          <a:bodyPr wrap="square" lIns="0" tIns="0" rIns="0" bIns="0" anchor="t">
            <a:spAutoFit/>
          </a:bodyPr>
          <a:lstStyle/>
          <a:p>
            <a:pPr algn="l"/>
            <a:r>
              <a:rPr sz="900" b="1" i="0" u="none">
                <a:solidFill>
                  <a:srgbClr val="16A34A"/>
                </a:solidFill>
                <a:latin typeface="Inter"/>
              </a:rPr>
              <a:t>Knowledge</a:t>
            </a:r>
          </a:p>
        </p:txBody>
      </p:sp>
      <p:sp>
        <p:nvSpPr>
          <p:cNvPr id="41" name="TextBox 40"/>
          <p:cNvSpPr txBox="1"/>
          <p:nvPr/>
        </p:nvSpPr>
        <p:spPr>
          <a:xfrm>
            <a:off x="838200" y="4305942"/>
            <a:ext cx="4953000" cy="342900"/>
          </a:xfrm>
          <a:prstGeom prst="rect">
            <a:avLst/>
          </a:prstGeom>
          <a:noFill/>
        </p:spPr>
        <p:txBody>
          <a:bodyPr wrap="square" lIns="0" tIns="0" rIns="0" bIns="0" anchor="t">
            <a:spAutoFit/>
          </a:bodyPr>
          <a:lstStyle/>
          <a:p>
            <a:pPr algn="l"/>
            <a:r>
              <a:rPr sz="1125" b="1" i="0" u="none">
                <a:solidFill>
                  <a:srgbClr val="0F172A"/>
                </a:solidFill>
                <a:latin typeface="Inter"/>
              </a:rPr>
              <a:t>4. Hybrid Analysis Engine</a:t>
            </a:r>
          </a:p>
        </p:txBody>
      </p:sp>
      <p:sp>
        <p:nvSpPr>
          <p:cNvPr id="42" name="TextBox 41"/>
          <p:cNvSpPr txBox="1"/>
          <p:nvPr/>
        </p:nvSpPr>
        <p:spPr>
          <a:xfrm>
            <a:off x="10544175" y="4396430"/>
            <a:ext cx="838200" cy="161925"/>
          </a:xfrm>
          <a:prstGeom prst="rect">
            <a:avLst/>
          </a:prstGeom>
          <a:noFill/>
        </p:spPr>
        <p:txBody>
          <a:bodyPr wrap="square" lIns="0" tIns="0" rIns="0" bIns="0" anchor="t">
            <a:spAutoFit/>
          </a:bodyPr>
          <a:lstStyle/>
          <a:p>
            <a:pPr algn="l"/>
            <a:r>
              <a:rPr sz="900" b="1" i="0" u="none">
                <a:solidFill>
                  <a:srgbClr val="D97706"/>
                </a:solidFill>
                <a:latin typeface="Inter"/>
              </a:rPr>
              <a:t>AI Reasoning</a:t>
            </a:r>
          </a:p>
        </p:txBody>
      </p:sp>
      <p:sp>
        <p:nvSpPr>
          <p:cNvPr id="43" name="TextBox 42"/>
          <p:cNvSpPr txBox="1"/>
          <p:nvPr/>
        </p:nvSpPr>
        <p:spPr>
          <a:xfrm>
            <a:off x="838200" y="5010792"/>
            <a:ext cx="4714875" cy="342900"/>
          </a:xfrm>
          <a:prstGeom prst="rect">
            <a:avLst/>
          </a:prstGeom>
          <a:noFill/>
        </p:spPr>
        <p:txBody>
          <a:bodyPr wrap="square" lIns="0" tIns="0" rIns="0" bIns="0" anchor="t">
            <a:spAutoFit/>
          </a:bodyPr>
          <a:lstStyle/>
          <a:p>
            <a:pPr algn="l"/>
            <a:r>
              <a:rPr sz="1125" b="1" i="0" u="none">
                <a:solidFill>
                  <a:srgbClr val="0F172A"/>
                </a:solidFill>
                <a:latin typeface="Inter"/>
              </a:rPr>
              <a:t>5. Presentation Layer</a:t>
            </a:r>
          </a:p>
        </p:txBody>
      </p:sp>
      <p:sp>
        <p:nvSpPr>
          <p:cNvPr id="44" name="TextBox 43"/>
          <p:cNvSpPr txBox="1"/>
          <p:nvPr/>
        </p:nvSpPr>
        <p:spPr>
          <a:xfrm>
            <a:off x="10801350" y="5110805"/>
            <a:ext cx="581025" cy="142875"/>
          </a:xfrm>
          <a:prstGeom prst="rect">
            <a:avLst/>
          </a:prstGeom>
          <a:noFill/>
        </p:spPr>
        <p:txBody>
          <a:bodyPr wrap="square" lIns="0" tIns="0" rIns="0" bIns="0" anchor="t">
            <a:spAutoFit/>
          </a:bodyPr>
          <a:lstStyle/>
          <a:p>
            <a:pPr algn="l"/>
            <a:r>
              <a:rPr sz="900" b="1" i="0" u="none">
                <a:solidFill>
                  <a:srgbClr val="7C3AED"/>
                </a:solidFill>
                <a:latin typeface="Inter"/>
              </a:rPr>
              <a:t>Frontend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872811"/>
            <a:ext cx="1730424" cy="1323975"/>
          </a:xfrm>
          <a:prstGeom prst="roundRect">
            <a:avLst>
              <a:gd name="adj" fmla="val 863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454324" y="2872811"/>
            <a:ext cx="1730424" cy="1323975"/>
          </a:xfrm>
          <a:prstGeom prst="roundRect">
            <a:avLst>
              <a:gd name="adj" fmla="val 863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299049" y="2958536"/>
            <a:ext cx="1730424" cy="1152525"/>
          </a:xfrm>
          <a:prstGeom prst="roundRect">
            <a:avLst>
              <a:gd name="adj" fmla="val 99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43773" y="2863286"/>
            <a:ext cx="1749474" cy="1343025"/>
          </a:xfrm>
          <a:prstGeom prst="roundRect">
            <a:avLst>
              <a:gd name="adj" fmla="val 8510"/>
            </a:avLst>
          </a:prstGeom>
          <a:solidFill>
            <a:srgbClr val="F8FAFC"/>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07548" y="2958536"/>
            <a:ext cx="1730424" cy="1152525"/>
          </a:xfrm>
          <a:prstGeom prst="roundRect">
            <a:avLst>
              <a:gd name="adj" fmla="val 99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852273" y="2958536"/>
            <a:ext cx="1730424" cy="1152525"/>
          </a:xfrm>
          <a:prstGeom prst="roundRect">
            <a:avLst>
              <a:gd name="adj" fmla="val 99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533400"/>
            <a:ext cx="11582400" cy="152400"/>
          </a:xfrm>
          <a:prstGeom prst="rect">
            <a:avLst/>
          </a:prstGeom>
          <a:noFill/>
        </p:spPr>
        <p:txBody>
          <a:bodyPr wrap="none" lIns="0" tIns="0" rIns="0" bIns="0" anchor="t">
            <a:spAutoFit/>
          </a:bodyPr>
          <a:lstStyle/>
          <a:p>
            <a:pPr algn="l"/>
            <a:r>
              <a:rPr sz="975" b="1" i="0" u="none">
                <a:solidFill>
                  <a:srgbClr val="2563EB"/>
                </a:solidFill>
                <a:latin typeface="Inter"/>
              </a:rPr>
              <a:t>EXECUTION TIMELINE</a:t>
            </a:r>
          </a:p>
        </p:txBody>
      </p:sp>
      <p:sp>
        <p:nvSpPr>
          <p:cNvPr id="9" name="TextBox 8"/>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Development Plan (12-Week Roadmap)</a:t>
            </a:r>
          </a:p>
        </p:txBody>
      </p:sp>
      <p:sp>
        <p:nvSpPr>
          <p:cNvPr id="10" name="TextBox 9"/>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6 Two-Week Sprints from 21 September to 13 December 2026</a:t>
            </a:r>
          </a:p>
        </p:txBody>
      </p:sp>
      <p:sp>
        <p:nvSpPr>
          <p:cNvPr id="11" name="TextBox 10"/>
          <p:cNvSpPr txBox="1"/>
          <p:nvPr/>
        </p:nvSpPr>
        <p:spPr>
          <a:xfrm>
            <a:off x="771525" y="3034736"/>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1 (W1-2)</a:t>
            </a:r>
          </a:p>
        </p:txBody>
      </p:sp>
      <p:sp>
        <p:nvSpPr>
          <p:cNvPr id="12" name="TextBox 11"/>
          <p:cNvSpPr txBox="1"/>
          <p:nvPr/>
        </p:nvSpPr>
        <p:spPr>
          <a:xfrm>
            <a:off x="771525" y="3206186"/>
            <a:ext cx="1576915" cy="342900"/>
          </a:xfrm>
          <a:prstGeom prst="rect">
            <a:avLst/>
          </a:prstGeom>
          <a:noFill/>
        </p:spPr>
        <p:txBody>
          <a:bodyPr wrap="square" lIns="0" tIns="0" rIns="0" bIns="0" anchor="t">
            <a:spAutoFit/>
          </a:bodyPr>
          <a:lstStyle/>
          <a:p>
            <a:pPr algn="l"/>
            <a:r>
              <a:rPr sz="1050" b="1" i="0" u="none">
                <a:solidFill>
                  <a:srgbClr val="0F172A"/>
                </a:solidFill>
                <a:latin typeface="Plus Jakarta Sans"/>
              </a:rPr>
              <a:t>Requirements &amp; Legal Review</a:t>
            </a:r>
          </a:p>
        </p:txBody>
      </p:sp>
      <p:sp>
        <p:nvSpPr>
          <p:cNvPr id="13" name="TextBox 12"/>
          <p:cNvSpPr txBox="1"/>
          <p:nvPr/>
        </p:nvSpPr>
        <p:spPr>
          <a:xfrm>
            <a:off x="771525" y="3606236"/>
            <a:ext cx="1501824" cy="428625"/>
          </a:xfrm>
          <a:prstGeom prst="rect">
            <a:avLst/>
          </a:prstGeom>
          <a:noFill/>
        </p:spPr>
        <p:txBody>
          <a:bodyPr wrap="square" lIns="0" tIns="0" rIns="0" bIns="0" anchor="t">
            <a:spAutoFit/>
          </a:bodyPr>
          <a:lstStyle/>
          <a:p>
            <a:pPr algn="l"/>
            <a:r>
              <a:rPr sz="900" b="0" i="0" u="none">
                <a:solidFill>
                  <a:srgbClr val="64748B"/>
                </a:solidFill>
                <a:latin typeface="Inter"/>
              </a:rPr>
              <a:t>Proposal finalization, legal taxonomy definition, dataset schema.</a:t>
            </a:r>
          </a:p>
        </p:txBody>
      </p:sp>
      <p:sp>
        <p:nvSpPr>
          <p:cNvPr id="14" name="TextBox 13"/>
          <p:cNvSpPr txBox="1"/>
          <p:nvPr/>
        </p:nvSpPr>
        <p:spPr>
          <a:xfrm>
            <a:off x="2616249" y="3034736"/>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2 (W3-4)</a:t>
            </a:r>
          </a:p>
        </p:txBody>
      </p:sp>
      <p:sp>
        <p:nvSpPr>
          <p:cNvPr id="15" name="TextBox 14"/>
          <p:cNvSpPr txBox="1"/>
          <p:nvPr/>
        </p:nvSpPr>
        <p:spPr>
          <a:xfrm>
            <a:off x="2616249" y="3206186"/>
            <a:ext cx="1576915" cy="342900"/>
          </a:xfrm>
          <a:prstGeom prst="rect">
            <a:avLst/>
          </a:prstGeom>
          <a:noFill/>
        </p:spPr>
        <p:txBody>
          <a:bodyPr wrap="square" lIns="0" tIns="0" rIns="0" bIns="0" anchor="t">
            <a:spAutoFit/>
          </a:bodyPr>
          <a:lstStyle/>
          <a:p>
            <a:pPr algn="l"/>
            <a:r>
              <a:rPr sz="1050" b="1" i="0" u="none">
                <a:solidFill>
                  <a:srgbClr val="0F172A"/>
                </a:solidFill>
                <a:latin typeface="Plus Jakarta Sans"/>
              </a:rPr>
              <a:t>Architecture &amp; PII Setup</a:t>
            </a:r>
          </a:p>
        </p:txBody>
      </p:sp>
      <p:sp>
        <p:nvSpPr>
          <p:cNvPr id="16" name="TextBox 15"/>
          <p:cNvSpPr txBox="1"/>
          <p:nvPr/>
        </p:nvSpPr>
        <p:spPr>
          <a:xfrm>
            <a:off x="2616249" y="3606236"/>
            <a:ext cx="1501824" cy="428625"/>
          </a:xfrm>
          <a:prstGeom prst="rect">
            <a:avLst/>
          </a:prstGeom>
          <a:noFill/>
        </p:spPr>
        <p:txBody>
          <a:bodyPr wrap="square" lIns="0" tIns="0" rIns="0" bIns="0" anchor="t">
            <a:spAutoFit/>
          </a:bodyPr>
          <a:lstStyle/>
          <a:p>
            <a:pPr algn="l"/>
            <a:r>
              <a:rPr sz="900" b="0" i="0" u="none">
                <a:solidFill>
                  <a:srgbClr val="64748B"/>
                </a:solidFill>
                <a:latin typeface="Inter"/>
              </a:rPr>
              <a:t>KB schema, PII redaction pipeline, repo CI setup, GPU confirmation.</a:t>
            </a:r>
          </a:p>
        </p:txBody>
      </p:sp>
      <p:sp>
        <p:nvSpPr>
          <p:cNvPr id="17" name="TextBox 16"/>
          <p:cNvSpPr txBox="1"/>
          <p:nvPr/>
        </p:nvSpPr>
        <p:spPr>
          <a:xfrm>
            <a:off x="4460974" y="3120461"/>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3 (W5-6)</a:t>
            </a:r>
          </a:p>
        </p:txBody>
      </p:sp>
      <p:sp>
        <p:nvSpPr>
          <p:cNvPr id="18" name="TextBox 17"/>
          <p:cNvSpPr txBox="1"/>
          <p:nvPr/>
        </p:nvSpPr>
        <p:spPr>
          <a:xfrm>
            <a:off x="4460974" y="3291911"/>
            <a:ext cx="1846129" cy="171450"/>
          </a:xfrm>
          <a:prstGeom prst="rect">
            <a:avLst/>
          </a:prstGeom>
          <a:noFill/>
        </p:spPr>
        <p:txBody>
          <a:bodyPr wrap="none" lIns="0" tIns="0" rIns="0" bIns="0" anchor="t">
            <a:spAutoFit/>
          </a:bodyPr>
          <a:lstStyle/>
          <a:p>
            <a:pPr algn="l"/>
            <a:r>
              <a:rPr sz="1050" b="1" i="0" u="none">
                <a:solidFill>
                  <a:srgbClr val="0F172A"/>
                </a:solidFill>
                <a:latin typeface="Plus Jakarta Sans"/>
              </a:rPr>
              <a:t>Ingestion &amp; Baselines</a:t>
            </a:r>
          </a:p>
        </p:txBody>
      </p:sp>
      <p:sp>
        <p:nvSpPr>
          <p:cNvPr id="19" name="TextBox 18"/>
          <p:cNvSpPr txBox="1"/>
          <p:nvPr/>
        </p:nvSpPr>
        <p:spPr>
          <a:xfrm>
            <a:off x="4460974" y="3520511"/>
            <a:ext cx="1501824" cy="428625"/>
          </a:xfrm>
          <a:prstGeom prst="rect">
            <a:avLst/>
          </a:prstGeom>
          <a:noFill/>
        </p:spPr>
        <p:txBody>
          <a:bodyPr wrap="square" lIns="0" tIns="0" rIns="0" bIns="0" anchor="t">
            <a:spAutoFit/>
          </a:bodyPr>
          <a:lstStyle/>
          <a:p>
            <a:pPr algn="l"/>
            <a:r>
              <a:rPr sz="900" b="0" i="0" u="none">
                <a:solidFill>
                  <a:srgbClr val="64748B"/>
                </a:solidFill>
                <a:latin typeface="Inter"/>
              </a:rPr>
              <a:t>PDF/OCR parser, labeling round 1 (~250 clauses), rule engine v1.</a:t>
            </a:r>
          </a:p>
        </p:txBody>
      </p:sp>
      <p:sp>
        <p:nvSpPr>
          <p:cNvPr id="20" name="TextBox 19"/>
          <p:cNvSpPr txBox="1"/>
          <p:nvPr/>
        </p:nvSpPr>
        <p:spPr>
          <a:xfrm>
            <a:off x="6315223" y="3034736"/>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4 (W7-8)</a:t>
            </a:r>
          </a:p>
        </p:txBody>
      </p:sp>
      <p:sp>
        <p:nvSpPr>
          <p:cNvPr id="21" name="TextBox 20"/>
          <p:cNvSpPr txBox="1"/>
          <p:nvPr/>
        </p:nvSpPr>
        <p:spPr>
          <a:xfrm>
            <a:off x="6315223" y="3206186"/>
            <a:ext cx="1576915" cy="342900"/>
          </a:xfrm>
          <a:prstGeom prst="rect">
            <a:avLst/>
          </a:prstGeom>
          <a:noFill/>
        </p:spPr>
        <p:txBody>
          <a:bodyPr wrap="square" lIns="0" tIns="0" rIns="0" bIns="0" anchor="t">
            <a:spAutoFit/>
          </a:bodyPr>
          <a:lstStyle/>
          <a:p>
            <a:pPr algn="l"/>
            <a:r>
              <a:rPr sz="1050" b="1" i="0" u="none">
                <a:solidFill>
                  <a:srgbClr val="0F172A"/>
                </a:solidFill>
                <a:latin typeface="Plus Jakarta Sans"/>
              </a:rPr>
              <a:t>RAG &amp; Test Set Freeze</a:t>
            </a:r>
          </a:p>
        </p:txBody>
      </p:sp>
      <p:sp>
        <p:nvSpPr>
          <p:cNvPr id="22" name="TextBox 21"/>
          <p:cNvSpPr txBox="1"/>
          <p:nvPr/>
        </p:nvSpPr>
        <p:spPr>
          <a:xfrm>
            <a:off x="6315223" y="3606236"/>
            <a:ext cx="1501824" cy="428625"/>
          </a:xfrm>
          <a:prstGeom prst="rect">
            <a:avLst/>
          </a:prstGeom>
          <a:noFill/>
        </p:spPr>
        <p:txBody>
          <a:bodyPr wrap="square" lIns="0" tIns="0" rIns="0" bIns="0" anchor="t">
            <a:spAutoFit/>
          </a:bodyPr>
          <a:lstStyle/>
          <a:p>
            <a:pPr algn="l"/>
            <a:r>
              <a:rPr sz="900" b="0" i="0" u="none">
                <a:solidFill>
                  <a:srgbClr val="64748B"/>
                </a:solidFill>
                <a:latin typeface="Inter"/>
              </a:rPr>
              <a:t>Fine-tuning, end-to-end slice, kappa score, </a:t>
            </a:r>
            <a:r>
              <a:rPr sz="900" b="1" i="0" u="none">
                <a:solidFill>
                  <a:srgbClr val="64748B"/>
                </a:solidFill>
                <a:latin typeface="Inter"/>
              </a:rPr>
              <a:t>Freeze Test Set (15 Nov)</a:t>
            </a:r>
            <a:r>
              <a:rPr sz="900" b="0" i="0" u="none">
                <a:solidFill>
                  <a:srgbClr val="64748B"/>
                </a:solidFill>
                <a:latin typeface="Inter"/>
              </a:rPr>
              <a:t>.</a:t>
            </a:r>
          </a:p>
        </p:txBody>
      </p:sp>
      <p:sp>
        <p:nvSpPr>
          <p:cNvPr id="23" name="TextBox 22"/>
          <p:cNvSpPr txBox="1"/>
          <p:nvPr/>
        </p:nvSpPr>
        <p:spPr>
          <a:xfrm>
            <a:off x="8169473" y="3120461"/>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5 (W9-10)</a:t>
            </a:r>
          </a:p>
        </p:txBody>
      </p:sp>
      <p:sp>
        <p:nvSpPr>
          <p:cNvPr id="24" name="TextBox 23"/>
          <p:cNvSpPr txBox="1"/>
          <p:nvPr/>
        </p:nvSpPr>
        <p:spPr>
          <a:xfrm>
            <a:off x="8169473" y="3291911"/>
            <a:ext cx="1846129" cy="171450"/>
          </a:xfrm>
          <a:prstGeom prst="rect">
            <a:avLst/>
          </a:prstGeom>
          <a:noFill/>
        </p:spPr>
        <p:txBody>
          <a:bodyPr wrap="none" lIns="0" tIns="0" rIns="0" bIns="0" anchor="t">
            <a:spAutoFit/>
          </a:bodyPr>
          <a:lstStyle/>
          <a:p>
            <a:pPr algn="l"/>
            <a:r>
              <a:rPr sz="1050" b="1" i="0" u="none">
                <a:solidFill>
                  <a:srgbClr val="0F172A"/>
                </a:solidFill>
                <a:latin typeface="Plus Jakarta Sans"/>
              </a:rPr>
              <a:t>Evaluation &amp; UI Study</a:t>
            </a:r>
          </a:p>
        </p:txBody>
      </p:sp>
      <p:sp>
        <p:nvSpPr>
          <p:cNvPr id="25" name="TextBox 24"/>
          <p:cNvSpPr txBox="1"/>
          <p:nvPr/>
        </p:nvSpPr>
        <p:spPr>
          <a:xfrm>
            <a:off x="8169473" y="3520511"/>
            <a:ext cx="1501824" cy="428625"/>
          </a:xfrm>
          <a:prstGeom prst="rect">
            <a:avLst/>
          </a:prstGeom>
          <a:noFill/>
        </p:spPr>
        <p:txBody>
          <a:bodyPr wrap="square" lIns="0" tIns="0" rIns="0" bIns="0" anchor="t">
            <a:spAutoFit/>
          </a:bodyPr>
          <a:lstStyle/>
          <a:p>
            <a:pPr algn="l"/>
            <a:r>
              <a:rPr sz="900" b="0" i="0" u="none">
                <a:solidFill>
                  <a:srgbClr val="64748B"/>
                </a:solidFill>
                <a:latin typeface="Inter"/>
              </a:rPr>
              <a:t>Frozen test set runs, injection testing, user study (SUS metric).</a:t>
            </a:r>
          </a:p>
        </p:txBody>
      </p:sp>
      <p:sp>
        <p:nvSpPr>
          <p:cNvPr id="26" name="TextBox 25"/>
          <p:cNvSpPr txBox="1"/>
          <p:nvPr/>
        </p:nvSpPr>
        <p:spPr>
          <a:xfrm>
            <a:off x="10014198" y="3120461"/>
            <a:ext cx="1758218" cy="133350"/>
          </a:xfrm>
          <a:prstGeom prst="rect">
            <a:avLst/>
          </a:prstGeom>
          <a:noFill/>
        </p:spPr>
        <p:txBody>
          <a:bodyPr wrap="none" lIns="0" tIns="0" rIns="0" bIns="0" anchor="t">
            <a:spAutoFit/>
          </a:bodyPr>
          <a:lstStyle/>
          <a:p>
            <a:pPr algn="l"/>
            <a:r>
              <a:rPr sz="825" b="1" i="0" u="none">
                <a:solidFill>
                  <a:srgbClr val="2563EB"/>
                </a:solidFill>
                <a:latin typeface="Inter"/>
              </a:rPr>
              <a:t>SPRINT 6 (W11-12)</a:t>
            </a:r>
          </a:p>
        </p:txBody>
      </p:sp>
      <p:sp>
        <p:nvSpPr>
          <p:cNvPr id="27" name="TextBox 26"/>
          <p:cNvSpPr txBox="1"/>
          <p:nvPr/>
        </p:nvSpPr>
        <p:spPr>
          <a:xfrm>
            <a:off x="10014198" y="3291911"/>
            <a:ext cx="1846129" cy="171450"/>
          </a:xfrm>
          <a:prstGeom prst="rect">
            <a:avLst/>
          </a:prstGeom>
          <a:noFill/>
        </p:spPr>
        <p:txBody>
          <a:bodyPr wrap="none" lIns="0" tIns="0" rIns="0" bIns="0" anchor="t">
            <a:spAutoFit/>
          </a:bodyPr>
          <a:lstStyle/>
          <a:p>
            <a:pPr algn="l"/>
            <a:r>
              <a:rPr sz="1050" b="1" i="0" u="none">
                <a:solidFill>
                  <a:srgbClr val="0F172A"/>
                </a:solidFill>
                <a:latin typeface="Plus Jakarta Sans"/>
              </a:rPr>
              <a:t>Freeze &amp; Submission</a:t>
            </a:r>
          </a:p>
        </p:txBody>
      </p:sp>
      <p:sp>
        <p:nvSpPr>
          <p:cNvPr id="28" name="TextBox 27"/>
          <p:cNvSpPr txBox="1"/>
          <p:nvPr/>
        </p:nvSpPr>
        <p:spPr>
          <a:xfrm>
            <a:off x="10014198" y="3520511"/>
            <a:ext cx="1501824" cy="428625"/>
          </a:xfrm>
          <a:prstGeom prst="rect">
            <a:avLst/>
          </a:prstGeom>
          <a:noFill/>
        </p:spPr>
        <p:txBody>
          <a:bodyPr wrap="square" lIns="0" tIns="0" rIns="0" bIns="0" anchor="t">
            <a:spAutoFit/>
          </a:bodyPr>
          <a:lstStyle/>
          <a:p>
            <a:pPr algn="l"/>
            <a:r>
              <a:rPr sz="900" b="0" i="0" u="none">
                <a:solidFill>
                  <a:srgbClr val="64748B"/>
                </a:solidFill>
                <a:latin typeface="Inter"/>
              </a:rPr>
              <a:t>Final code freeze (30 Nov), report submission &amp; live demo (13 Dec).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721994" y="2729805"/>
            <a:ext cx="2853928" cy="1167705"/>
          </a:xfrm>
          <a:prstGeom prst="roundRect">
            <a:avLst>
              <a:gd name="adj" fmla="val 978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728323" y="2729805"/>
            <a:ext cx="2854076" cy="1167705"/>
          </a:xfrm>
          <a:prstGeom prst="roundRect">
            <a:avLst>
              <a:gd name="adj" fmla="val 978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721994" y="4049910"/>
            <a:ext cx="2853928" cy="1167705"/>
          </a:xfrm>
          <a:prstGeom prst="roundRect">
            <a:avLst>
              <a:gd name="adj" fmla="val 978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728323" y="4049910"/>
            <a:ext cx="2854076" cy="1167705"/>
          </a:xfrm>
          <a:prstGeom prst="roundRect">
            <a:avLst>
              <a:gd name="adj" fmla="val 978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09600" y="2430660"/>
            <a:ext cx="4883794" cy="3048000"/>
          </a:xfrm>
          <a:prstGeom prst="rect">
            <a:avLst/>
          </a:prstGeom>
        </p:spPr>
      </p:pic>
      <p:pic>
        <p:nvPicPr>
          <p:cNvPr id="7" name="Picture 6" descr="image.png"/>
          <p:cNvPicPr>
            <a:picLocks noChangeAspect="1"/>
          </p:cNvPicPr>
          <p:nvPr/>
        </p:nvPicPr>
        <p:blipFill>
          <a:blip r:embed="rId4"/>
          <a:stretch>
            <a:fillRect/>
          </a:stretch>
        </p:blipFill>
        <p:spPr>
          <a:xfrm>
            <a:off x="5902969" y="2910780"/>
            <a:ext cx="238125" cy="190500"/>
          </a:xfrm>
          <a:prstGeom prst="rect">
            <a:avLst/>
          </a:prstGeom>
        </p:spPr>
      </p:pic>
      <p:pic>
        <p:nvPicPr>
          <p:cNvPr id="8" name="Picture 7" descr="image.png"/>
          <p:cNvPicPr>
            <a:picLocks noChangeAspect="1"/>
          </p:cNvPicPr>
          <p:nvPr/>
        </p:nvPicPr>
        <p:blipFill>
          <a:blip r:embed="rId5"/>
          <a:stretch>
            <a:fillRect/>
          </a:stretch>
        </p:blipFill>
        <p:spPr>
          <a:xfrm>
            <a:off x="8909298" y="2910780"/>
            <a:ext cx="190500" cy="190500"/>
          </a:xfrm>
          <a:prstGeom prst="rect">
            <a:avLst/>
          </a:prstGeom>
        </p:spPr>
      </p:pic>
      <p:pic>
        <p:nvPicPr>
          <p:cNvPr id="9" name="Picture 8" descr="image.png"/>
          <p:cNvPicPr>
            <a:picLocks noChangeAspect="1"/>
          </p:cNvPicPr>
          <p:nvPr/>
        </p:nvPicPr>
        <p:blipFill>
          <a:blip r:embed="rId6"/>
          <a:stretch>
            <a:fillRect/>
          </a:stretch>
        </p:blipFill>
        <p:spPr>
          <a:xfrm>
            <a:off x="5902969" y="4230885"/>
            <a:ext cx="190500" cy="190500"/>
          </a:xfrm>
          <a:prstGeom prst="rect">
            <a:avLst/>
          </a:prstGeom>
        </p:spPr>
      </p:pic>
      <p:pic>
        <p:nvPicPr>
          <p:cNvPr id="10" name="Picture 9" descr="image.png"/>
          <p:cNvPicPr>
            <a:picLocks noChangeAspect="1"/>
          </p:cNvPicPr>
          <p:nvPr/>
        </p:nvPicPr>
        <p:blipFill>
          <a:blip r:embed="rId7"/>
          <a:stretch>
            <a:fillRect/>
          </a:stretch>
        </p:blipFill>
        <p:spPr>
          <a:xfrm>
            <a:off x="8909298" y="4230885"/>
            <a:ext cx="219075" cy="190500"/>
          </a:xfrm>
          <a:prstGeom prst="rect">
            <a:avLst/>
          </a:prstGeom>
        </p:spPr>
      </p:pic>
      <p:sp>
        <p:nvSpPr>
          <p:cNvPr id="12" name="TextBox 11"/>
          <p:cNvSpPr txBox="1"/>
          <p:nvPr/>
        </p:nvSpPr>
        <p:spPr>
          <a:xfrm>
            <a:off x="609600" y="762000"/>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Future Enhancements &amp; Extensions</a:t>
            </a:r>
          </a:p>
        </p:txBody>
      </p:sp>
      <p:sp>
        <p:nvSpPr>
          <p:cNvPr id="13" name="TextBox 12"/>
          <p:cNvSpPr txBox="1"/>
          <p:nvPr/>
        </p:nvSpPr>
        <p:spPr>
          <a:xfrm>
            <a:off x="609600" y="1203870"/>
            <a:ext cx="11582400" cy="190500"/>
          </a:xfrm>
          <a:prstGeom prst="rect">
            <a:avLst/>
          </a:prstGeom>
          <a:noFill/>
        </p:spPr>
        <p:txBody>
          <a:bodyPr wrap="none" lIns="0" tIns="0" rIns="0" bIns="0" anchor="t">
            <a:spAutoFit/>
          </a:bodyPr>
          <a:lstStyle/>
          <a:p>
            <a:pPr algn="l"/>
            <a:r>
              <a:rPr sz="1200" b="0" i="0" u="none">
                <a:solidFill>
                  <a:srgbClr val="64748B"/>
                </a:solidFill>
                <a:latin typeface="Inter"/>
              </a:rPr>
              <a:t>Scaling ClauseGuard beyond the 30-credit MSc project scope</a:t>
            </a:r>
          </a:p>
        </p:txBody>
      </p:sp>
      <p:sp>
        <p:nvSpPr>
          <p:cNvPr id="14" name="TextBox 13"/>
          <p:cNvSpPr txBox="1"/>
          <p:nvPr/>
        </p:nvSpPr>
        <p:spPr>
          <a:xfrm>
            <a:off x="5902969" y="3177480"/>
            <a:ext cx="3270721" cy="180975"/>
          </a:xfrm>
          <a:prstGeom prst="rect">
            <a:avLst/>
          </a:prstGeom>
          <a:noFill/>
        </p:spPr>
        <p:txBody>
          <a:bodyPr wrap="none" lIns="0" tIns="0" rIns="0" bIns="0" anchor="t">
            <a:spAutoFit/>
          </a:bodyPr>
          <a:lstStyle/>
          <a:p>
            <a:pPr algn="l"/>
            <a:r>
              <a:rPr sz="1125" b="1" i="0" u="none">
                <a:solidFill>
                  <a:srgbClr val="0F172A"/>
                </a:solidFill>
                <a:latin typeface="Plus Jakarta Sans"/>
              </a:rPr>
              <a:t>Multilingual Explanations</a:t>
            </a:r>
          </a:p>
        </p:txBody>
      </p:sp>
      <p:sp>
        <p:nvSpPr>
          <p:cNvPr id="15" name="TextBox 14"/>
          <p:cNvSpPr txBox="1"/>
          <p:nvPr/>
        </p:nvSpPr>
        <p:spPr>
          <a:xfrm>
            <a:off x="5902969" y="3396555"/>
            <a:ext cx="2587228" cy="319980"/>
          </a:xfrm>
          <a:prstGeom prst="rect">
            <a:avLst/>
          </a:prstGeom>
          <a:noFill/>
        </p:spPr>
        <p:txBody>
          <a:bodyPr wrap="square" lIns="0" tIns="0" rIns="0" bIns="0" anchor="t">
            <a:spAutoFit/>
          </a:bodyPr>
          <a:lstStyle/>
          <a:p>
            <a:pPr algn="l">
              <a:lnSpc>
                <a:spcPts val="1260"/>
              </a:lnSpc>
            </a:pPr>
            <a:r>
              <a:rPr sz="900" b="0" i="0" u="none" dirty="0">
                <a:solidFill>
                  <a:srgbClr val="64748B"/>
                </a:solidFill>
                <a:latin typeface="Inter"/>
              </a:rPr>
              <a:t>Translating plain-English reports into Ukrainian, Polish, Portuguese, and Mandarin.</a:t>
            </a:r>
          </a:p>
        </p:txBody>
      </p:sp>
      <p:sp>
        <p:nvSpPr>
          <p:cNvPr id="16" name="TextBox 15"/>
          <p:cNvSpPr txBox="1"/>
          <p:nvPr/>
        </p:nvSpPr>
        <p:spPr>
          <a:xfrm>
            <a:off x="8909298" y="3177480"/>
            <a:ext cx="3270916" cy="180975"/>
          </a:xfrm>
          <a:prstGeom prst="rect">
            <a:avLst/>
          </a:prstGeom>
          <a:noFill/>
        </p:spPr>
        <p:txBody>
          <a:bodyPr wrap="none" lIns="0" tIns="0" rIns="0" bIns="0" anchor="t">
            <a:spAutoFit/>
          </a:bodyPr>
          <a:lstStyle/>
          <a:p>
            <a:pPr algn="l"/>
            <a:r>
              <a:rPr sz="1125" b="1" i="0" u="none">
                <a:solidFill>
                  <a:srgbClr val="0F172A"/>
                </a:solidFill>
                <a:latin typeface="Plus Jakarta Sans"/>
              </a:rPr>
              <a:t>Landlord Email Generator</a:t>
            </a:r>
          </a:p>
        </p:txBody>
      </p:sp>
      <p:sp>
        <p:nvSpPr>
          <p:cNvPr id="17" name="TextBox 16"/>
          <p:cNvSpPr txBox="1"/>
          <p:nvPr/>
        </p:nvSpPr>
        <p:spPr>
          <a:xfrm>
            <a:off x="8909298" y="3396555"/>
            <a:ext cx="2587376" cy="319980"/>
          </a:xfrm>
          <a:prstGeom prst="rect">
            <a:avLst/>
          </a:prstGeom>
          <a:noFill/>
        </p:spPr>
        <p:txBody>
          <a:bodyPr wrap="square" lIns="0" tIns="0" rIns="0" bIns="0" anchor="t">
            <a:spAutoFit/>
          </a:bodyPr>
          <a:lstStyle/>
          <a:p>
            <a:pPr algn="l">
              <a:lnSpc>
                <a:spcPts val="1260"/>
              </a:lnSpc>
            </a:pPr>
            <a:r>
              <a:rPr sz="900" b="0" i="0" u="none">
                <a:solidFill>
                  <a:srgbClr val="64748B"/>
                </a:solidFill>
                <a:latin typeface="Inter"/>
              </a:rPr>
              <a:t>Constructing polite, constructive negotiation drafts citing exact RTB laws.</a:t>
            </a:r>
          </a:p>
        </p:txBody>
      </p:sp>
      <p:sp>
        <p:nvSpPr>
          <p:cNvPr id="18" name="TextBox 17"/>
          <p:cNvSpPr txBox="1"/>
          <p:nvPr/>
        </p:nvSpPr>
        <p:spPr>
          <a:xfrm>
            <a:off x="5902969" y="4497585"/>
            <a:ext cx="3270721" cy="180975"/>
          </a:xfrm>
          <a:prstGeom prst="rect">
            <a:avLst/>
          </a:prstGeom>
          <a:noFill/>
        </p:spPr>
        <p:txBody>
          <a:bodyPr wrap="none" lIns="0" tIns="0" rIns="0" bIns="0" anchor="t">
            <a:spAutoFit/>
          </a:bodyPr>
          <a:lstStyle/>
          <a:p>
            <a:pPr algn="l"/>
            <a:r>
              <a:rPr sz="1125" b="1" i="0" u="none">
                <a:solidFill>
                  <a:srgbClr val="0F172A"/>
                </a:solidFill>
                <a:latin typeface="Plus Jakarta Sans"/>
              </a:rPr>
              <a:t>Mobile Document Scanner</a:t>
            </a:r>
          </a:p>
        </p:txBody>
      </p:sp>
      <p:sp>
        <p:nvSpPr>
          <p:cNvPr id="19" name="TextBox 18"/>
          <p:cNvSpPr txBox="1"/>
          <p:nvPr/>
        </p:nvSpPr>
        <p:spPr>
          <a:xfrm>
            <a:off x="5902969" y="4716660"/>
            <a:ext cx="2587228" cy="319980"/>
          </a:xfrm>
          <a:prstGeom prst="rect">
            <a:avLst/>
          </a:prstGeom>
          <a:noFill/>
        </p:spPr>
        <p:txBody>
          <a:bodyPr wrap="square" lIns="0" tIns="0" rIns="0" bIns="0" anchor="t">
            <a:spAutoFit/>
          </a:bodyPr>
          <a:lstStyle/>
          <a:p>
            <a:pPr algn="l">
              <a:lnSpc>
                <a:spcPts val="1260"/>
              </a:lnSpc>
            </a:pPr>
            <a:r>
              <a:rPr sz="900" b="0" i="0" u="none">
                <a:solidFill>
                  <a:srgbClr val="64748B"/>
                </a:solidFill>
                <a:latin typeface="Inter"/>
              </a:rPr>
              <a:t>Real-time camera deskewing and perspective adjustment for physical lease scans.</a:t>
            </a:r>
          </a:p>
        </p:txBody>
      </p:sp>
      <p:sp>
        <p:nvSpPr>
          <p:cNvPr id="20" name="TextBox 19"/>
          <p:cNvSpPr txBox="1"/>
          <p:nvPr/>
        </p:nvSpPr>
        <p:spPr>
          <a:xfrm>
            <a:off x="8909298" y="4497585"/>
            <a:ext cx="3270916" cy="180975"/>
          </a:xfrm>
          <a:prstGeom prst="rect">
            <a:avLst/>
          </a:prstGeom>
          <a:noFill/>
        </p:spPr>
        <p:txBody>
          <a:bodyPr wrap="none" lIns="0" tIns="0" rIns="0" bIns="0" anchor="t">
            <a:spAutoFit/>
          </a:bodyPr>
          <a:lstStyle/>
          <a:p>
            <a:pPr algn="l"/>
            <a:r>
              <a:rPr sz="1125" b="1" i="0" u="none">
                <a:solidFill>
                  <a:srgbClr val="0F172A"/>
                </a:solidFill>
                <a:latin typeface="Plus Jakarta Sans"/>
              </a:rPr>
              <a:t>Whole-Lease Risk Rating</a:t>
            </a:r>
          </a:p>
        </p:txBody>
      </p:sp>
      <p:sp>
        <p:nvSpPr>
          <p:cNvPr id="21" name="TextBox 20"/>
          <p:cNvSpPr txBox="1"/>
          <p:nvPr/>
        </p:nvSpPr>
        <p:spPr>
          <a:xfrm>
            <a:off x="8909298" y="4716660"/>
            <a:ext cx="2587376" cy="319980"/>
          </a:xfrm>
          <a:prstGeom prst="rect">
            <a:avLst/>
          </a:prstGeom>
          <a:noFill/>
        </p:spPr>
        <p:txBody>
          <a:bodyPr wrap="square" lIns="0" tIns="0" rIns="0" bIns="0" anchor="t">
            <a:spAutoFit/>
          </a:bodyPr>
          <a:lstStyle/>
          <a:p>
            <a:pPr algn="l">
              <a:lnSpc>
                <a:spcPts val="1260"/>
              </a:lnSpc>
            </a:pPr>
            <a:r>
              <a:rPr sz="900" b="0" i="0" u="none">
                <a:solidFill>
                  <a:srgbClr val="64748B"/>
                </a:solidFill>
                <a:latin typeface="Inter"/>
              </a:rPr>
              <a:t>Aggregated compliance score highlighting omitted mandatory statutory terms.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60102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10275"/>
            <a:ext cx="109728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09750" y="3460402"/>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43450" y="3460402"/>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677150" y="3460402"/>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809750" y="4212877"/>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743450" y="4212877"/>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677150" y="4212877"/>
            <a:ext cx="2705100" cy="638175"/>
          </a:xfrm>
          <a:prstGeom prst="roundRect">
            <a:avLst>
              <a:gd name="adj" fmla="val 1791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30068" y="1581417"/>
            <a:ext cx="1131721" cy="551433"/>
          </a:xfrm>
          <a:prstGeom prst="rect">
            <a:avLst/>
          </a:prstGeom>
          <a:noFill/>
        </p:spPr>
        <p:txBody>
          <a:bodyPr wrap="none" lIns="0" tIns="0" rIns="0" bIns="0" anchor="t">
            <a:spAutoFit/>
          </a:bodyPr>
          <a:lstStyle/>
          <a:p>
            <a:pPr algn="ctr">
              <a:lnSpc>
                <a:spcPts val="4320"/>
              </a:lnSpc>
            </a:pPr>
            <a:r>
              <a:rPr lang="en-IN" sz="3600" b="1" i="0" u="none" dirty="0">
                <a:solidFill>
                  <a:srgbClr val="FFFFFF"/>
                </a:solidFill>
                <a:latin typeface="Plus Jakarta Sans"/>
              </a:rPr>
              <a:t>Q &amp; A</a:t>
            </a:r>
            <a:endParaRPr sz="3600" b="1" i="0" u="none" dirty="0">
              <a:solidFill>
                <a:srgbClr val="FFFFFF"/>
              </a:solidFill>
              <a:latin typeface="Plus Jakarta Sans"/>
            </a:endParaRPr>
          </a:p>
        </p:txBody>
      </p:sp>
      <p:sp>
        <p:nvSpPr>
          <p:cNvPr id="12" name="TextBox 11"/>
          <p:cNvSpPr txBox="1"/>
          <p:nvPr/>
        </p:nvSpPr>
        <p:spPr>
          <a:xfrm>
            <a:off x="2226468" y="2628347"/>
            <a:ext cx="7739062" cy="323871"/>
          </a:xfrm>
          <a:prstGeom prst="rect">
            <a:avLst/>
          </a:prstGeom>
          <a:noFill/>
        </p:spPr>
        <p:txBody>
          <a:bodyPr wrap="square" lIns="0" tIns="0" rIns="0" bIns="0" anchor="t">
            <a:spAutoFit/>
          </a:bodyPr>
          <a:lstStyle/>
          <a:p>
            <a:pPr algn="ctr">
              <a:lnSpc>
                <a:spcPts val="2100"/>
              </a:lnSpc>
            </a:pPr>
            <a:r>
              <a:rPr lang="en-IN" sz="3600" b="0" i="0" u="none" dirty="0">
                <a:solidFill>
                  <a:srgbClr val="CBD5E1"/>
                </a:solidFill>
                <a:latin typeface="Inter"/>
              </a:rPr>
              <a:t>Thank You</a:t>
            </a:r>
            <a:endParaRPr sz="3600" b="0" i="0" u="none" dirty="0">
              <a:solidFill>
                <a:srgbClr val="CBD5E1"/>
              </a:solidFill>
              <a:latin typeface="Inter"/>
            </a:endParaRPr>
          </a:p>
        </p:txBody>
      </p:sp>
      <p:sp>
        <p:nvSpPr>
          <p:cNvPr id="13" name="TextBox 12"/>
          <p:cNvSpPr txBox="1"/>
          <p:nvPr/>
        </p:nvSpPr>
        <p:spPr>
          <a:xfrm>
            <a:off x="609600" y="6172200"/>
            <a:ext cx="3024187" cy="152400"/>
          </a:xfrm>
          <a:prstGeom prst="rect">
            <a:avLst/>
          </a:prstGeom>
          <a:noFill/>
        </p:spPr>
        <p:txBody>
          <a:bodyPr wrap="none" lIns="0" tIns="0" rIns="0" bIns="0" anchor="t">
            <a:spAutoFit/>
          </a:bodyPr>
          <a:lstStyle/>
          <a:p>
            <a:pPr algn="l"/>
            <a:r>
              <a:rPr sz="975" b="0" i="0" u="none">
                <a:solidFill>
                  <a:srgbClr val="94A3B8"/>
                </a:solidFill>
                <a:latin typeface="Inter"/>
              </a:rPr>
              <a:t>TU Dublin • School of Computer Science</a:t>
            </a:r>
          </a:p>
        </p:txBody>
      </p:sp>
      <p:sp>
        <p:nvSpPr>
          <p:cNvPr id="15" name="TextBox 14"/>
          <p:cNvSpPr txBox="1"/>
          <p:nvPr/>
        </p:nvSpPr>
        <p:spPr>
          <a:xfrm>
            <a:off x="1971675" y="3622327"/>
            <a:ext cx="2976562" cy="152400"/>
          </a:xfrm>
          <a:prstGeom prst="rect">
            <a:avLst/>
          </a:prstGeom>
          <a:noFill/>
        </p:spPr>
        <p:txBody>
          <a:bodyPr wrap="none" lIns="0" tIns="0" rIns="0" bIns="0" anchor="t">
            <a:spAutoFit/>
          </a:bodyPr>
          <a:lstStyle/>
          <a:p>
            <a:pPr algn="l"/>
            <a:r>
              <a:rPr sz="975" b="1" i="0" u="none">
                <a:solidFill>
                  <a:srgbClr val="60A5FA"/>
                </a:solidFill>
                <a:latin typeface="Inter"/>
              </a:rPr>
              <a:t>PM &amp; Legal Lead</a:t>
            </a:r>
          </a:p>
        </p:txBody>
      </p:sp>
      <p:sp>
        <p:nvSpPr>
          <p:cNvPr id="16" name="TextBox 15"/>
          <p:cNvSpPr txBox="1"/>
          <p:nvPr/>
        </p:nvSpPr>
        <p:spPr>
          <a:xfrm>
            <a:off x="1971675" y="3774727"/>
            <a:ext cx="2976562" cy="161925"/>
          </a:xfrm>
          <a:prstGeom prst="rect">
            <a:avLst/>
          </a:prstGeom>
          <a:noFill/>
        </p:spPr>
        <p:txBody>
          <a:bodyPr wrap="none" lIns="0" tIns="0" rIns="0" bIns="0" anchor="t">
            <a:spAutoFit/>
          </a:bodyPr>
          <a:lstStyle/>
          <a:p>
            <a:pPr algn="l"/>
            <a:r>
              <a:rPr sz="1050" b="1" i="0" u="none">
                <a:solidFill>
                  <a:srgbClr val="F8FAFC"/>
                </a:solidFill>
                <a:latin typeface="Inter"/>
              </a:rPr>
              <a:t>Siddharth Varma Raja</a:t>
            </a:r>
          </a:p>
        </p:txBody>
      </p:sp>
      <p:sp>
        <p:nvSpPr>
          <p:cNvPr id="17" name="TextBox 16"/>
          <p:cNvSpPr txBox="1"/>
          <p:nvPr/>
        </p:nvSpPr>
        <p:spPr>
          <a:xfrm>
            <a:off x="4905375" y="3622327"/>
            <a:ext cx="2976562" cy="152400"/>
          </a:xfrm>
          <a:prstGeom prst="rect">
            <a:avLst/>
          </a:prstGeom>
          <a:noFill/>
        </p:spPr>
        <p:txBody>
          <a:bodyPr wrap="none" lIns="0" tIns="0" rIns="0" bIns="0" anchor="t">
            <a:spAutoFit/>
          </a:bodyPr>
          <a:lstStyle/>
          <a:p>
            <a:pPr algn="l"/>
            <a:r>
              <a:rPr sz="975" b="1" i="0" u="none">
                <a:solidFill>
                  <a:srgbClr val="60A5FA"/>
                </a:solidFill>
                <a:latin typeface="Inter"/>
              </a:rPr>
              <a:t>NLP / AI Engineer</a:t>
            </a:r>
          </a:p>
        </p:txBody>
      </p:sp>
      <p:sp>
        <p:nvSpPr>
          <p:cNvPr id="18" name="TextBox 17"/>
          <p:cNvSpPr txBox="1"/>
          <p:nvPr/>
        </p:nvSpPr>
        <p:spPr>
          <a:xfrm>
            <a:off x="4905375" y="3774727"/>
            <a:ext cx="2976562" cy="161925"/>
          </a:xfrm>
          <a:prstGeom prst="rect">
            <a:avLst/>
          </a:prstGeom>
          <a:noFill/>
        </p:spPr>
        <p:txBody>
          <a:bodyPr wrap="none" lIns="0" tIns="0" rIns="0" bIns="0" anchor="t">
            <a:spAutoFit/>
          </a:bodyPr>
          <a:lstStyle/>
          <a:p>
            <a:pPr algn="l"/>
            <a:r>
              <a:rPr sz="1050" b="1" i="0" u="none">
                <a:solidFill>
                  <a:srgbClr val="F8FAFC"/>
                </a:solidFill>
                <a:latin typeface="Inter"/>
              </a:rPr>
              <a:t>Shubham Patil</a:t>
            </a:r>
          </a:p>
        </p:txBody>
      </p:sp>
      <p:sp>
        <p:nvSpPr>
          <p:cNvPr id="19" name="TextBox 18"/>
          <p:cNvSpPr txBox="1"/>
          <p:nvPr/>
        </p:nvSpPr>
        <p:spPr>
          <a:xfrm>
            <a:off x="7839075" y="3622327"/>
            <a:ext cx="2976562" cy="152400"/>
          </a:xfrm>
          <a:prstGeom prst="rect">
            <a:avLst/>
          </a:prstGeom>
          <a:noFill/>
        </p:spPr>
        <p:txBody>
          <a:bodyPr wrap="none" lIns="0" tIns="0" rIns="0" bIns="0" anchor="t">
            <a:spAutoFit/>
          </a:bodyPr>
          <a:lstStyle/>
          <a:p>
            <a:pPr algn="l"/>
            <a:r>
              <a:rPr sz="975" b="1" i="0" u="none">
                <a:solidFill>
                  <a:srgbClr val="60A5FA"/>
                </a:solidFill>
                <a:latin typeface="Inter"/>
              </a:rPr>
              <a:t>Backend &amp; KB Engineer</a:t>
            </a:r>
          </a:p>
        </p:txBody>
      </p:sp>
      <p:sp>
        <p:nvSpPr>
          <p:cNvPr id="20" name="TextBox 19"/>
          <p:cNvSpPr txBox="1"/>
          <p:nvPr/>
        </p:nvSpPr>
        <p:spPr>
          <a:xfrm>
            <a:off x="7839075" y="3774727"/>
            <a:ext cx="2976562" cy="161925"/>
          </a:xfrm>
          <a:prstGeom prst="rect">
            <a:avLst/>
          </a:prstGeom>
          <a:noFill/>
        </p:spPr>
        <p:txBody>
          <a:bodyPr wrap="none" lIns="0" tIns="0" rIns="0" bIns="0" anchor="t">
            <a:spAutoFit/>
          </a:bodyPr>
          <a:lstStyle/>
          <a:p>
            <a:pPr algn="l"/>
            <a:r>
              <a:rPr sz="1050" b="1" i="0" u="none">
                <a:solidFill>
                  <a:srgbClr val="F8FAFC"/>
                </a:solidFill>
                <a:latin typeface="Inter"/>
              </a:rPr>
              <a:t>Prasad Nitin Pansare</a:t>
            </a:r>
          </a:p>
        </p:txBody>
      </p:sp>
      <p:sp>
        <p:nvSpPr>
          <p:cNvPr id="21" name="TextBox 20"/>
          <p:cNvSpPr txBox="1"/>
          <p:nvPr/>
        </p:nvSpPr>
        <p:spPr>
          <a:xfrm>
            <a:off x="1971675" y="4374802"/>
            <a:ext cx="2976562" cy="152400"/>
          </a:xfrm>
          <a:prstGeom prst="rect">
            <a:avLst/>
          </a:prstGeom>
          <a:noFill/>
        </p:spPr>
        <p:txBody>
          <a:bodyPr wrap="none" lIns="0" tIns="0" rIns="0" bIns="0" anchor="t">
            <a:spAutoFit/>
          </a:bodyPr>
          <a:lstStyle/>
          <a:p>
            <a:pPr algn="l"/>
            <a:r>
              <a:rPr sz="975" b="1" i="0" u="none">
                <a:solidFill>
                  <a:srgbClr val="60A5FA"/>
                </a:solidFill>
                <a:latin typeface="Inter"/>
              </a:rPr>
              <a:t>Frontend / UX Dev</a:t>
            </a:r>
          </a:p>
        </p:txBody>
      </p:sp>
      <p:sp>
        <p:nvSpPr>
          <p:cNvPr id="22" name="TextBox 21"/>
          <p:cNvSpPr txBox="1"/>
          <p:nvPr/>
        </p:nvSpPr>
        <p:spPr>
          <a:xfrm>
            <a:off x="1971675" y="4527202"/>
            <a:ext cx="2976562" cy="161925"/>
          </a:xfrm>
          <a:prstGeom prst="rect">
            <a:avLst/>
          </a:prstGeom>
          <a:noFill/>
        </p:spPr>
        <p:txBody>
          <a:bodyPr wrap="none" lIns="0" tIns="0" rIns="0" bIns="0" anchor="t">
            <a:spAutoFit/>
          </a:bodyPr>
          <a:lstStyle/>
          <a:p>
            <a:pPr algn="l"/>
            <a:r>
              <a:rPr sz="1050" b="1" i="0" u="none">
                <a:solidFill>
                  <a:srgbClr val="F8FAFC"/>
                </a:solidFill>
                <a:latin typeface="Inter"/>
              </a:rPr>
              <a:t>A K Karthik</a:t>
            </a:r>
          </a:p>
        </p:txBody>
      </p:sp>
      <p:sp>
        <p:nvSpPr>
          <p:cNvPr id="23" name="TextBox 22"/>
          <p:cNvSpPr txBox="1"/>
          <p:nvPr/>
        </p:nvSpPr>
        <p:spPr>
          <a:xfrm>
            <a:off x="4905375" y="4374802"/>
            <a:ext cx="2976562" cy="152400"/>
          </a:xfrm>
          <a:prstGeom prst="rect">
            <a:avLst/>
          </a:prstGeom>
          <a:noFill/>
        </p:spPr>
        <p:txBody>
          <a:bodyPr wrap="none" lIns="0" tIns="0" rIns="0" bIns="0" anchor="t">
            <a:spAutoFit/>
          </a:bodyPr>
          <a:lstStyle/>
          <a:p>
            <a:pPr algn="l"/>
            <a:r>
              <a:rPr sz="975" b="1" i="0" u="none">
                <a:solidFill>
                  <a:srgbClr val="60A5FA"/>
                </a:solidFill>
                <a:latin typeface="Inter"/>
              </a:rPr>
              <a:t>QA &amp; Data Lead</a:t>
            </a:r>
          </a:p>
        </p:txBody>
      </p:sp>
      <p:sp>
        <p:nvSpPr>
          <p:cNvPr id="24" name="TextBox 23"/>
          <p:cNvSpPr txBox="1"/>
          <p:nvPr/>
        </p:nvSpPr>
        <p:spPr>
          <a:xfrm>
            <a:off x="4905375" y="4527202"/>
            <a:ext cx="2976562" cy="161925"/>
          </a:xfrm>
          <a:prstGeom prst="rect">
            <a:avLst/>
          </a:prstGeom>
          <a:noFill/>
        </p:spPr>
        <p:txBody>
          <a:bodyPr wrap="none" lIns="0" tIns="0" rIns="0" bIns="0" anchor="t">
            <a:spAutoFit/>
          </a:bodyPr>
          <a:lstStyle/>
          <a:p>
            <a:pPr algn="l"/>
            <a:r>
              <a:rPr sz="1050" b="1" i="0" u="none">
                <a:solidFill>
                  <a:srgbClr val="F8FAFC"/>
                </a:solidFill>
                <a:latin typeface="Inter"/>
              </a:rPr>
              <a:t>Jude Fernandes</a:t>
            </a:r>
          </a:p>
        </p:txBody>
      </p:sp>
      <p:sp>
        <p:nvSpPr>
          <p:cNvPr id="25" name="TextBox 24"/>
          <p:cNvSpPr txBox="1"/>
          <p:nvPr/>
        </p:nvSpPr>
        <p:spPr>
          <a:xfrm>
            <a:off x="7839075" y="4374802"/>
            <a:ext cx="2976562" cy="152400"/>
          </a:xfrm>
          <a:prstGeom prst="rect">
            <a:avLst/>
          </a:prstGeom>
          <a:noFill/>
        </p:spPr>
        <p:txBody>
          <a:bodyPr wrap="none" lIns="0" tIns="0" rIns="0" bIns="0" anchor="t">
            <a:spAutoFit/>
          </a:bodyPr>
          <a:lstStyle/>
          <a:p>
            <a:pPr algn="l"/>
            <a:r>
              <a:rPr sz="975" b="1" i="0" u="none">
                <a:solidFill>
                  <a:srgbClr val="60A5FA"/>
                </a:solidFill>
                <a:latin typeface="Inter"/>
              </a:rPr>
              <a:t>Security Engineer</a:t>
            </a:r>
          </a:p>
        </p:txBody>
      </p:sp>
      <p:sp>
        <p:nvSpPr>
          <p:cNvPr id="26" name="TextBox 25"/>
          <p:cNvSpPr txBox="1"/>
          <p:nvPr/>
        </p:nvSpPr>
        <p:spPr>
          <a:xfrm>
            <a:off x="7839075" y="4527202"/>
            <a:ext cx="2976562" cy="161925"/>
          </a:xfrm>
          <a:prstGeom prst="rect">
            <a:avLst/>
          </a:prstGeom>
          <a:noFill/>
        </p:spPr>
        <p:txBody>
          <a:bodyPr wrap="none" lIns="0" tIns="0" rIns="0" bIns="0" anchor="t">
            <a:spAutoFit/>
          </a:bodyPr>
          <a:lstStyle/>
          <a:p>
            <a:pPr algn="l"/>
            <a:r>
              <a:rPr sz="1050" b="1" i="0" u="none">
                <a:solidFill>
                  <a:srgbClr val="F8FAFC"/>
                </a:solidFill>
                <a:latin typeface="Inter"/>
              </a:rPr>
              <a:t>Swapnil Prachande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1020</Words>
  <Application>Microsoft Office PowerPoint</Application>
  <PresentationFormat>Widescreen</PresentationFormat>
  <Paragraphs>126</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Plus Jakarta Sans</vt:lpstr>
      <vt:lpstr>Arial</vt:lpstr>
      <vt:lpstr>Aptos</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A00046404 Kameshwara Karthik Ayyalasomayajula</cp:lastModifiedBy>
  <cp:revision>2</cp:revision>
  <dcterms:created xsi:type="dcterms:W3CDTF">2013-01-27T09:14:16Z</dcterms:created>
  <dcterms:modified xsi:type="dcterms:W3CDTF">2026-09-23T22:52:44Z</dcterms:modified>
  <cp:category/>
</cp:coreProperties>
</file>